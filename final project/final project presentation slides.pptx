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b18ec4ea10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b18ec4ea10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TW">
                <a:solidFill>
                  <a:schemeClr val="dk1"/>
                </a:solidFill>
              </a:rPr>
              <a:t>Today I'm going to present our work on </a:t>
            </a:r>
            <a:r>
              <a:rPr b="1" lang="zh-TW">
                <a:solidFill>
                  <a:schemeClr val="dk1"/>
                </a:solidFill>
              </a:rPr>
              <a:t>accelerating rejection sampling for speculative decoding</a:t>
            </a:r>
            <a:r>
              <a:rPr lang="zh-TW">
                <a:solidFill>
                  <a:schemeClr val="dk1"/>
                </a:solidFill>
              </a:rPr>
              <a:t>.</a:t>
            </a:r>
            <a:endParaRPr/>
          </a:p>
        </p:txBody>
      </p:sp>
      <p:sp>
        <p:nvSpPr>
          <p:cNvPr id="55" name="Google Shape;55;g3b18ec4ea10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18ec4ea10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18ec4ea10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Before defining the problem, let's briefly look at </a:t>
            </a:r>
            <a:r>
              <a:rPr b="1" lang="zh-TW">
                <a:solidFill>
                  <a:schemeClr val="dk1"/>
                </a:solidFill>
              </a:rPr>
              <a:t>Speculative Decoding</a:t>
            </a:r>
            <a:r>
              <a:rPr lang="zh-TW">
                <a:solidFill>
                  <a:schemeClr val="dk1"/>
                </a:solidFill>
              </a:rPr>
              <a:t>. This is an inference acceleration technique that employs a </a:t>
            </a:r>
            <a:r>
              <a:rPr b="1" lang="zh-TW">
                <a:solidFill>
                  <a:schemeClr val="dk1"/>
                </a:solidFill>
              </a:rPr>
              <a:t>"small model predicts, large model verifies"</a:t>
            </a:r>
            <a:r>
              <a:rPr lang="zh-TW">
                <a:solidFill>
                  <a:schemeClr val="dk1"/>
                </a:solidFill>
              </a:rPr>
              <a:t> strategy. Instead of generating tokens one by one with a massive model, we use a lightweight Draft Model to rapidly generate a sequence of candidate tokens. These are then verified in parallel by the main Target Model. By converting sequential bottlenecks into parallel computation, we significantly reduce memory access overhead and boost speed—all while guaranteeing the output is identical to the target model.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18ec4ea10_2_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b18ec4ea10_2_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So, where is the bottleneck we are solving?</a:t>
            </a:r>
            <a:r>
              <a:rPr lang="zh-TW">
                <a:solidFill>
                  <a:schemeClr val="dk1"/>
                </a:solidFill>
              </a:rPr>
              <a:t> Even though speculative decoding is fast, the </a:t>
            </a:r>
            <a:r>
              <a:rPr b="1" lang="zh-TW">
                <a:solidFill>
                  <a:schemeClr val="dk1"/>
                </a:solidFill>
              </a:rPr>
              <a:t>Rejection Sampling</a:t>
            </a:r>
            <a:r>
              <a:rPr lang="zh-TW">
                <a:solidFill>
                  <a:schemeClr val="dk1"/>
                </a:solidFill>
              </a:rPr>
              <a:t> step—based on previous paper—can become a drag. The algorithm requires us to accept or reject tokens based on probability ratios. If rejected, we must sample from a recovery distribution. Here lies the issue: finding the </a:t>
            </a:r>
            <a:r>
              <a:rPr lang="zh-TW">
                <a:solidFill>
                  <a:srgbClr val="188038"/>
                </a:solidFill>
              </a:rPr>
              <a:t>argmax</a:t>
            </a:r>
            <a:r>
              <a:rPr lang="zh-TW">
                <a:solidFill>
                  <a:schemeClr val="dk1"/>
                </a:solidFill>
              </a:rPr>
              <a:t> over the entire vocabulary during recovery was traditionally done sequentially. With modern vocabularies of 150K tokens, this O(V) operation consumes significant time, sometimes over 16% of the forward pass.</a:t>
            </a:r>
            <a:endParaRPr>
              <a:solidFill>
                <a:schemeClr val="dk1"/>
              </a:solidFill>
            </a:endParaRPr>
          </a:p>
          <a:p>
            <a:pPr indent="0" lvl="0" marL="0" rtl="0" algn="l">
              <a:spcBef>
                <a:spcPts val="1200"/>
              </a:spcBef>
              <a:spcAft>
                <a:spcPts val="0"/>
              </a:spcAft>
              <a:buNone/>
            </a:pPr>
            <a:r>
              <a:t/>
            </a:r>
            <a:endParaRPr/>
          </a:p>
        </p:txBody>
      </p:sp>
      <p:sp>
        <p:nvSpPr>
          <p:cNvPr id="75" name="Google Shape;75;g3b18ec4ea10_2_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18ec4ea10_2_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b18ec4ea10_2_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t>Why does this matter? Speculative decoding can accelerate LLM inference by 2 to 3x, and rejection sampling is the critical verification step. The V1 kernel had serious limitations: sequential argmax meant latency grew linearly with vocabulary size. In some cases, it was actually slower than pure Python! Our optimization goals were clear:</a:t>
            </a:r>
            <a:endParaRPr/>
          </a:p>
          <a:p>
            <a:pPr indent="-298450" lvl="0" marL="457200" rtl="0" algn="l">
              <a:lnSpc>
                <a:spcPct val="115000"/>
              </a:lnSpc>
              <a:spcBef>
                <a:spcPts val="1200"/>
              </a:spcBef>
              <a:spcAft>
                <a:spcPts val="0"/>
              </a:spcAft>
              <a:buClr>
                <a:schemeClr val="dk1"/>
              </a:buClr>
              <a:buSzPts val="1100"/>
              <a:buAutoNum type="arabicPeriod"/>
            </a:pPr>
            <a:r>
              <a:rPr lang="zh-TW"/>
              <a:t>Target latency under 0.1 milliseconds</a:t>
            </a:r>
            <a:endParaRPr/>
          </a:p>
          <a:p>
            <a:pPr indent="-298450" lvl="0" marL="457200" rtl="0" algn="l">
              <a:lnSpc>
                <a:spcPct val="115000"/>
              </a:lnSpc>
              <a:spcBef>
                <a:spcPts val="0"/>
              </a:spcBef>
              <a:spcAft>
                <a:spcPts val="0"/>
              </a:spcAft>
              <a:buClr>
                <a:schemeClr val="dk1"/>
              </a:buClr>
              <a:buSzPts val="1100"/>
              <a:buAutoNum type="arabicPeriod"/>
            </a:pPr>
            <a:r>
              <a:rPr lang="zh-TW"/>
              <a:t>Achieve O of vocab divided by threads complexity</a:t>
            </a:r>
            <a:endParaRPr/>
          </a:p>
          <a:p>
            <a:pPr indent="-298450" lvl="0" marL="457200" rtl="0" algn="l">
              <a:lnSpc>
                <a:spcPct val="115000"/>
              </a:lnSpc>
              <a:spcBef>
                <a:spcPts val="0"/>
              </a:spcBef>
              <a:spcAft>
                <a:spcPts val="0"/>
              </a:spcAft>
              <a:buClr>
                <a:schemeClr val="dk1"/>
              </a:buClr>
              <a:buSzPts val="1100"/>
              <a:buAutoNum type="arabicPeriod"/>
            </a:pPr>
            <a:r>
              <a:rPr lang="zh-TW"/>
              <a:t>And of course, maintain correctness. The good news? We achieved all three—with stable 0.03ms latency.</a:t>
            </a:r>
            <a:endParaRPr/>
          </a:p>
          <a:p>
            <a:pPr indent="0" lvl="0" marL="0" rtl="0" algn="l">
              <a:spcBef>
                <a:spcPts val="1200"/>
              </a:spcBef>
              <a:spcAft>
                <a:spcPts val="0"/>
              </a:spcAft>
              <a:buNone/>
            </a:pPr>
            <a:r>
              <a:t/>
            </a:r>
            <a:endParaRPr/>
          </a:p>
        </p:txBody>
      </p:sp>
      <p:sp>
        <p:nvSpPr>
          <p:cNvPr id="106" name="Google Shape;106;g3b18ec4ea10_2_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18ec4ea10_2_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b18ec4ea10_2_7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zh-TW">
                <a:solidFill>
                  <a:schemeClr val="dk1"/>
                </a:solidFill>
              </a:rPr>
              <a:t>Let's look at the implementation details. As mentioned, the process involves drafting and verifying. Our focus is purely on the </a:t>
            </a:r>
            <a:r>
              <a:rPr b="1" lang="zh-TW">
                <a:solidFill>
                  <a:schemeClr val="dk1"/>
                </a:solidFill>
              </a:rPr>
              <a:t>Sampling and Recovery</a:t>
            </a:r>
            <a:r>
              <a:rPr lang="zh-TW">
                <a:solidFill>
                  <a:schemeClr val="dk1"/>
                </a:solidFill>
              </a:rPr>
              <a:t> phase. For CUDA optimization, we leverage warp-level primitives to avoid expensive shared memory access. We designed a specific memory hierarchy: global memory for tensors, limited shared memory for inter-warp reduction, and registers for per-thread local state. The key insight is using 256 threads to parallelize the search.</a:t>
            </a:r>
            <a:endParaRPr/>
          </a:p>
        </p:txBody>
      </p:sp>
      <p:sp>
        <p:nvSpPr>
          <p:cNvPr id="135" name="Google Shape;135;g3b18ec4ea10_2_7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18ec4ea10_2_1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b18ec4ea10_2_1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Now let's compare V1 and V2.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V1 used a simple sequential approach: a for loop scanning through all vocabulary elements one by one. Complexity: O of vocab_size.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V2 uses </a:t>
            </a:r>
            <a:r>
              <a:rPr b="1" lang="zh-TW">
                <a:solidFill>
                  <a:schemeClr val="dk1"/>
                </a:solidFill>
              </a:rPr>
              <a:t>parallel reduction</a:t>
            </a:r>
            <a:r>
              <a:rPr lang="zh-TW">
                <a:solidFill>
                  <a:schemeClr val="dk1"/>
                </a:solidFill>
              </a:rPr>
              <a:t> in two phases. First, each of the 256 threads finds its local maximum over its assigned chunk. Then, we use warp-level shuffle operations combined with shared memory to reduce these 256 local maxima down to a single global maximum.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The visualization shows this clearly: 256 threads reduce to 8 warp maxima, then to the final result.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The impact is dramatic. V1 took </a:t>
            </a:r>
            <a:r>
              <a:rPr b="1" lang="zh-TW">
                <a:solidFill>
                  <a:schemeClr val="dk1"/>
                </a:solidFill>
              </a:rPr>
              <a:t>3.4 milliseconds</a:t>
            </a:r>
            <a:r>
              <a:rPr lang="zh-TW">
                <a:solidFill>
                  <a:schemeClr val="dk1"/>
                </a:solidFill>
              </a:rPr>
              <a:t>. V2 takes just </a:t>
            </a:r>
            <a:r>
              <a:rPr b="1" lang="zh-TW">
                <a:solidFill>
                  <a:schemeClr val="dk1"/>
                </a:solidFill>
              </a:rPr>
              <a:t>0.03 milliseconds</a:t>
            </a:r>
            <a:r>
              <a:rPr lang="zh-TW">
                <a:solidFill>
                  <a:schemeClr val="dk1"/>
                </a:solidFill>
              </a:rPr>
              <a:t>. That's a </a:t>
            </a:r>
            <a:r>
              <a:rPr b="1" lang="zh-TW">
                <a:solidFill>
                  <a:schemeClr val="dk1"/>
                </a:solidFill>
              </a:rPr>
              <a:t>113x speedup</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And importantly, complexity drops from O of vocab_size to O of vocab divided by 256.</a:t>
            </a:r>
            <a:endParaRPr>
              <a:solidFill>
                <a:schemeClr val="dk1"/>
              </a:solidFill>
            </a:endParaRPr>
          </a:p>
          <a:p>
            <a:pPr indent="0" lvl="0" marL="0" rtl="0" algn="l">
              <a:spcBef>
                <a:spcPts val="1200"/>
              </a:spcBef>
              <a:spcAft>
                <a:spcPts val="0"/>
              </a:spcAft>
              <a:buNone/>
            </a:pPr>
            <a:r>
              <a:t/>
            </a:r>
            <a:endParaRPr/>
          </a:p>
        </p:txBody>
      </p:sp>
      <p:sp>
        <p:nvSpPr>
          <p:cNvPr id="168" name="Google Shape;168;g3b18ec4ea10_2_1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b18ec4ea10_2_1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3b18ec4ea10_2_1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t>For our experiments, we tested three vocabulary sizes: 32K for TinyLlama, 128K for Llama-3, and 151K for Qwen2.5. Batch sizes ranged from 1 to 64, with 8 speculative tokens per step.</a:t>
            </a:r>
            <a:endParaRPr/>
          </a:p>
          <a:p>
            <a:pPr indent="0" lvl="0" marL="0" rtl="0" algn="l">
              <a:lnSpc>
                <a:spcPct val="115000"/>
              </a:lnSpc>
              <a:spcBef>
                <a:spcPts val="1200"/>
              </a:spcBef>
              <a:spcAft>
                <a:spcPts val="0"/>
              </a:spcAft>
              <a:buClr>
                <a:schemeClr val="dk1"/>
              </a:buClr>
              <a:buSzPts val="1100"/>
              <a:buFont typeface="Arial"/>
              <a:buNone/>
            </a:pPr>
            <a:r>
              <a:rPr lang="zh-TW"/>
              <a:t>We used an RTX 4090 GPU with CUDA 12 and PyTorch 2.8.</a:t>
            </a:r>
            <a:endParaRPr/>
          </a:p>
          <a:p>
            <a:pPr indent="0" lvl="0" marL="0" rtl="0" algn="l">
              <a:lnSpc>
                <a:spcPct val="115000"/>
              </a:lnSpc>
              <a:spcBef>
                <a:spcPts val="1200"/>
              </a:spcBef>
              <a:spcAft>
                <a:spcPts val="0"/>
              </a:spcAft>
              <a:buClr>
                <a:schemeClr val="dk1"/>
              </a:buClr>
              <a:buSzPts val="1100"/>
              <a:buFont typeface="Arial"/>
              <a:buNone/>
            </a:pPr>
            <a:r>
              <a:rPr lang="zh-TW"/>
              <a:t>Our benchmark protocol: 10 warmup iterations, 100 measured iterations, with GPU synchronization.</a:t>
            </a:r>
            <a:endParaRPr/>
          </a:p>
          <a:p>
            <a:pPr indent="0" lvl="0" marL="0" rtl="0" algn="l">
              <a:lnSpc>
                <a:spcPct val="115000"/>
              </a:lnSpc>
              <a:spcBef>
                <a:spcPts val="1200"/>
              </a:spcBef>
              <a:spcAft>
                <a:spcPts val="0"/>
              </a:spcAft>
              <a:buClr>
                <a:schemeClr val="dk1"/>
              </a:buClr>
              <a:buSzPts val="1100"/>
              <a:buFont typeface="Arial"/>
              <a:buNone/>
            </a:pPr>
            <a:r>
              <a:rPr lang="zh-TW"/>
              <a:t>We compared three algorithm variants: Python baseline, V1 CUDA with sequential argmax, and V2 CUDA with parallel reduction.</a:t>
            </a:r>
            <a:endParaRPr/>
          </a:p>
          <a:p>
            <a:pPr indent="0" lvl="0" marL="0" rtl="0" algn="l">
              <a:lnSpc>
                <a:spcPct val="115000"/>
              </a:lnSpc>
              <a:spcBef>
                <a:spcPts val="1200"/>
              </a:spcBef>
              <a:spcAft>
                <a:spcPts val="0"/>
              </a:spcAft>
              <a:buClr>
                <a:schemeClr val="dk1"/>
              </a:buClr>
              <a:buSzPts val="1100"/>
              <a:buFont typeface="Arial"/>
              <a:buNone/>
            </a:pPr>
            <a:r>
              <a:rPr lang="zh-TW"/>
              <a:t>All implementations were verified for correctness with over 1,000 test cases.</a:t>
            </a:r>
            <a:endParaRPr/>
          </a:p>
          <a:p>
            <a:pPr indent="0" lvl="0" marL="0" rtl="0" algn="l">
              <a:spcBef>
                <a:spcPts val="1200"/>
              </a:spcBef>
              <a:spcAft>
                <a:spcPts val="0"/>
              </a:spcAft>
              <a:buNone/>
            </a:pPr>
            <a:r>
              <a:t/>
            </a:r>
            <a:endParaRPr/>
          </a:p>
        </p:txBody>
      </p:sp>
      <p:sp>
        <p:nvSpPr>
          <p:cNvPr id="222" name="Google Shape;222;g3b18ec4ea10_2_1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18ec4ea10_2_2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b18ec4ea10_2_20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Here are the pure rejection sampling results using Qwen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Looking at the table, </a:t>
            </a:r>
            <a:r>
              <a:rPr b="1" lang="zh-TW">
                <a:solidFill>
                  <a:schemeClr val="dk1"/>
                </a:solidFill>
              </a:rPr>
              <a:t>CUDA V2 dominates across all batch sizes</a:t>
            </a:r>
            <a:r>
              <a:rPr lang="zh-TW">
                <a:solidFill>
                  <a:schemeClr val="dk1"/>
                </a:solidFill>
              </a:rPr>
              <a:t>. At batch size 1, V2 achieves 4.77 milliseconds — 1.83x faster than baseline. But the real story is at batch size 8: baseline takes nearly </a:t>
            </a:r>
            <a:r>
              <a:rPr b="1" lang="zh-TW">
                <a:solidFill>
                  <a:schemeClr val="dk1"/>
                </a:solidFill>
              </a:rPr>
              <a:t>60 milliseconds</a:t>
            </a:r>
            <a:r>
              <a:rPr lang="zh-TW">
                <a:solidFill>
                  <a:schemeClr val="dk1"/>
                </a:solidFill>
              </a:rPr>
              <a:t>, while V2 takes just </a:t>
            </a:r>
            <a:r>
              <a:rPr b="1" lang="zh-TW">
                <a:solidFill>
                  <a:schemeClr val="dk1"/>
                </a:solidFill>
              </a:rPr>
              <a:t>6.35 milliseconds</a:t>
            </a:r>
            <a:r>
              <a:rPr lang="zh-TW">
                <a:solidFill>
                  <a:schemeClr val="dk1"/>
                </a:solidFill>
              </a:rPr>
              <a:t> — that's a </a:t>
            </a:r>
            <a:r>
              <a:rPr b="1" lang="zh-TW">
                <a:solidFill>
                  <a:schemeClr val="dk1"/>
                </a:solidFill>
              </a:rPr>
              <a:t>9.39x speedup</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Three key findings: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First, CUDA V2 maintains excellent performance — 4.7 to 6.4 milliseconds across all configurations.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Second, scalability is outstanding. When batch size increases 8x, V2 time only increases 1.33x.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Third, baseline scales linearly and poorly — from 8.75 to 59.67 milliseconds, a 6.8x increase.</a:t>
            </a:r>
            <a:endParaRPr>
              <a:solidFill>
                <a:schemeClr val="dk1"/>
              </a:solidFill>
            </a:endParaRPr>
          </a:p>
          <a:p>
            <a:pPr indent="0" lvl="0" marL="0" rtl="0" algn="l">
              <a:spcBef>
                <a:spcPts val="1200"/>
              </a:spcBef>
              <a:spcAft>
                <a:spcPts val="0"/>
              </a:spcAft>
              <a:buNone/>
            </a:pPr>
            <a:r>
              <a:t/>
            </a:r>
            <a:endParaRPr/>
          </a:p>
        </p:txBody>
      </p:sp>
      <p:sp>
        <p:nvSpPr>
          <p:cNvPr id="264" name="Google Shape;264;g3b18ec4ea10_2_20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18ec4ea10_2_2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b18ec4ea10_2_2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But here's the critical finding when we look at </a:t>
            </a:r>
            <a:r>
              <a:rPr b="1" lang="zh-TW">
                <a:solidFill>
                  <a:schemeClr val="dk1"/>
                </a:solidFill>
              </a:rPr>
              <a:t>end-to-end throughput</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Despite V2 being 9.39x faster for sampling, overall throughput only improves by about </a:t>
            </a:r>
            <a:r>
              <a:rPr b="1" lang="zh-TW">
                <a:solidFill>
                  <a:schemeClr val="dk1"/>
                </a:solidFill>
              </a:rPr>
              <a:t>3%</a:t>
            </a:r>
            <a:r>
              <a:rPr lang="zh-TW">
                <a:solidFill>
                  <a:schemeClr val="dk1"/>
                </a:solidFill>
              </a:rPr>
              <a:t>. All three methods achieve roughly 77 to 80 tokens per second at batch size 8.</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Why? Let's look at the time breakdown. At batch size 8, sampling takes 59.67ms for baseline versus 6.35ms for V2. But total inference time is around 2,500 milliseconds. That means sampling is only </a:t>
            </a:r>
            <a:r>
              <a:rPr b="1" lang="zh-TW">
                <a:solidFill>
                  <a:schemeClr val="dk1"/>
                </a:solidFill>
              </a:rPr>
              <a:t>2.3%</a:t>
            </a:r>
            <a:r>
              <a:rPr lang="zh-TW">
                <a:solidFill>
                  <a:schemeClr val="dk1"/>
                </a:solidFill>
              </a:rPr>
              <a:t> of total time for baseline, and just </a:t>
            </a:r>
            <a:r>
              <a:rPr b="1" lang="zh-TW">
                <a:solidFill>
                  <a:schemeClr val="dk1"/>
                </a:solidFill>
              </a:rPr>
              <a:t>0.25%</a:t>
            </a:r>
            <a:r>
              <a:rPr lang="zh-TW">
                <a:solidFill>
                  <a:schemeClr val="dk1"/>
                </a:solidFill>
              </a:rPr>
              <a:t> for V2.</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The LLM forward pass consumes </a:t>
            </a:r>
            <a:r>
              <a:rPr b="1" lang="zh-TW">
                <a:solidFill>
                  <a:schemeClr val="dk1"/>
                </a:solidFill>
              </a:rPr>
              <a:t>97 to 99%</a:t>
            </a:r>
            <a:r>
              <a:rPr lang="zh-TW">
                <a:solidFill>
                  <a:schemeClr val="dk1"/>
                </a:solidFill>
              </a:rPr>
              <a:t> of total time. Rejection sampling is simply </a:t>
            </a:r>
            <a:r>
              <a:rPr b="1" lang="zh-TW">
                <a:solidFill>
                  <a:schemeClr val="dk1"/>
                </a:solidFill>
              </a:rPr>
              <a:t>not the bottleneck</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However, batching is extremely valuable. Going from batch 1 to batch 8, throughput increases </a:t>
            </a:r>
            <a:r>
              <a:rPr b="1" lang="zh-TW">
                <a:solidFill>
                  <a:schemeClr val="dk1"/>
                </a:solidFill>
              </a:rPr>
              <a:t>5.7x</a:t>
            </a:r>
            <a:r>
              <a:rPr lang="zh-TW">
                <a:solidFill>
                  <a:schemeClr val="dk1"/>
                </a:solidFill>
              </a:rPr>
              <a:t>, and average latency drops from 2.39 seconds to just 0.31 seconds per request — an </a:t>
            </a:r>
            <a:r>
              <a:rPr b="1" lang="zh-TW">
                <a:solidFill>
                  <a:schemeClr val="dk1"/>
                </a:solidFill>
              </a:rPr>
              <a:t>87% reduction</a:t>
            </a:r>
            <a:r>
              <a:rPr lang="zh-TW">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Interestingly, acceptance rate also improves from 46% to 65% at larger batch sizes.</a:t>
            </a:r>
            <a:endParaRPr>
              <a:solidFill>
                <a:schemeClr val="dk1"/>
              </a:solidFill>
            </a:endParaRPr>
          </a:p>
          <a:p>
            <a:pPr indent="0" lvl="0" marL="0" rtl="0" algn="l">
              <a:spcBef>
                <a:spcPts val="1200"/>
              </a:spcBef>
              <a:spcAft>
                <a:spcPts val="0"/>
              </a:spcAft>
              <a:buNone/>
            </a:pPr>
            <a:r>
              <a:t/>
            </a:r>
            <a:endParaRPr/>
          </a:p>
        </p:txBody>
      </p:sp>
      <p:sp>
        <p:nvSpPr>
          <p:cNvPr id="318" name="Google Shape;318;g3b18ec4ea10_2_2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b18ec4ea10_2_30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g3b18ec4ea10_2_30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Let me summarize the scalability comparison.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Baseline shows </a:t>
            </a:r>
            <a:r>
              <a:rPr b="1" lang="zh-TW">
                <a:solidFill>
                  <a:schemeClr val="dk1"/>
                </a:solidFill>
              </a:rPr>
              <a:t>linear growth</a:t>
            </a:r>
            <a:r>
              <a:rPr lang="zh-TW">
                <a:solidFill>
                  <a:schemeClr val="dk1"/>
                </a:solidFill>
              </a:rPr>
              <a:t> — 6.8x time increase for 8x batch increase. No parallelism benefit.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Fused PyTorch actually shows </a:t>
            </a:r>
            <a:r>
              <a:rPr b="1" lang="zh-TW">
                <a:solidFill>
                  <a:schemeClr val="dk1"/>
                </a:solidFill>
              </a:rPr>
              <a:t>negative growth</a:t>
            </a:r>
            <a:r>
              <a:rPr lang="zh-TW">
                <a:solidFill>
                  <a:schemeClr val="dk1"/>
                </a:solidFill>
              </a:rPr>
              <a:t> — from 23ms down to 16ms. This is due to batch amortization of overhead.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CUDA V2 shows </a:t>
            </a:r>
            <a:r>
              <a:rPr b="1" lang="zh-TW">
                <a:solidFill>
                  <a:schemeClr val="dk1"/>
                </a:solidFill>
              </a:rPr>
              <a:t>near-constant scaling</a:t>
            </a:r>
            <a:r>
              <a:rPr lang="zh-TW">
                <a:solidFill>
                  <a:schemeClr val="dk1"/>
                </a:solidFill>
              </a:rPr>
              <a:t> — only 1.33x increase. This is the power of parallel reduction.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The bar chart makes this visually clear. At batch size 8, baseline is at 60ms, Fused at 16ms, and V2 at just 6ms.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CUDA V2 is the clear winner</a:t>
            </a:r>
            <a:r>
              <a:rPr lang="zh-TW">
                <a:solidFill>
                  <a:schemeClr val="dk1"/>
                </a:solidFill>
              </a:rPr>
              <a:t> — best absolute latency AND best scalability, with consistent 4.7 to 6.4 milliseconds across all batch sizes.</a:t>
            </a:r>
            <a:endParaRPr>
              <a:solidFill>
                <a:schemeClr val="dk1"/>
              </a:solidFill>
            </a:endParaRPr>
          </a:p>
          <a:p>
            <a:pPr indent="0" lvl="0" marL="0" rtl="0" algn="l">
              <a:spcBef>
                <a:spcPts val="1200"/>
              </a:spcBef>
              <a:spcAft>
                <a:spcPts val="0"/>
              </a:spcAft>
              <a:buNone/>
            </a:pPr>
            <a:r>
              <a:t/>
            </a:r>
            <a:endParaRPr/>
          </a:p>
        </p:txBody>
      </p:sp>
      <p:sp>
        <p:nvSpPr>
          <p:cNvPr id="371" name="Google Shape;371;g3b18ec4ea10_2_30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aad7b8b945_1_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aad7b8b945_1_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To summarize our contributions: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zh-TW">
                <a:solidFill>
                  <a:schemeClr val="dk1"/>
                </a:solidFill>
              </a:rPr>
              <a:t>Algorithmic Improvement:</a:t>
            </a:r>
            <a:r>
              <a:rPr lang="zh-TW">
                <a:solidFill>
                  <a:schemeClr val="dk1"/>
                </a:solidFill>
              </a:rPr>
              <a:t> We successfully reduced the rejection sampling complexity from linear time </a:t>
            </a:r>
            <a:r>
              <a:rPr b="1" lang="zh-TW">
                <a:solidFill>
                  <a:schemeClr val="dk1"/>
                </a:solidFill>
              </a:rPr>
              <a:t>O(vocab size)</a:t>
            </a:r>
            <a:r>
              <a:rPr lang="zh-TW">
                <a:solidFill>
                  <a:schemeClr val="dk1"/>
                </a:solidFill>
              </a:rPr>
              <a:t> to effectively constant time </a:t>
            </a:r>
            <a:r>
              <a:rPr b="1" lang="zh-TW">
                <a:solidFill>
                  <a:schemeClr val="dk1"/>
                </a:solidFill>
              </a:rPr>
              <a:t>O(1)</a:t>
            </a:r>
            <a:r>
              <a:rPr lang="zh-TW">
                <a:solidFill>
                  <a:schemeClr val="dk1"/>
                </a:solidFill>
              </a:rPr>
              <a:t> through parallel reduction.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chemeClr val="dk1"/>
                </a:solidFill>
              </a:rPr>
              <a:t>Speedup:</a:t>
            </a:r>
            <a:r>
              <a:rPr lang="zh-TW">
                <a:solidFill>
                  <a:schemeClr val="dk1"/>
                </a:solidFill>
              </a:rPr>
              <a:t> Our implementation achieves a </a:t>
            </a:r>
            <a:r>
              <a:rPr b="1" lang="zh-TW">
                <a:solidFill>
                  <a:schemeClr val="dk1"/>
                </a:solidFill>
              </a:rPr>
              <a:t>10x speedup</a:t>
            </a:r>
            <a:r>
              <a:rPr lang="zh-TW">
                <a:solidFill>
                  <a:schemeClr val="dk1"/>
                </a:solidFill>
              </a:rPr>
              <a:t> in the rejection sampling kernel compared to the baseline.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zh-TW">
                <a:solidFill>
                  <a:schemeClr val="dk1"/>
                </a:solidFill>
              </a:rPr>
              <a:t>Overall Impact:</a:t>
            </a:r>
            <a:r>
              <a:rPr lang="zh-TW">
                <a:solidFill>
                  <a:schemeClr val="dk1"/>
                </a:solidFill>
              </a:rPr>
              <a:t> While the sampling is now instant, the total end-to-end inference time is reduced by </a:t>
            </a:r>
            <a:r>
              <a:rPr b="1" lang="zh-TW">
                <a:solidFill>
                  <a:schemeClr val="dk1"/>
                </a:solidFill>
              </a:rPr>
              <a:t>3–5%</a:t>
            </a:r>
            <a:r>
              <a:rPr lang="zh-TW">
                <a:solidFill>
                  <a:schemeClr val="dk1"/>
                </a:solidFill>
              </a:rPr>
              <a:t>. This confirms that while we solved the sampling bottleneck, the LLM forward pass remains the dominant factor.</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TW">
                <a:solidFill>
                  <a:schemeClr val="dk1"/>
                </a:solidFill>
              </a:rPr>
              <a:t>And this is our future work. Thank you. I'm happy to take questions.</a:t>
            </a:r>
            <a:endParaRPr>
              <a:solidFill>
                <a:schemeClr val="dk1"/>
              </a:solidFill>
            </a:endParaRPr>
          </a:p>
          <a:p>
            <a:pPr indent="0" lvl="0" marL="0" rtl="0" algn="l">
              <a:spcBef>
                <a:spcPts val="1200"/>
              </a:spcBef>
              <a:spcAft>
                <a:spcPts val="0"/>
              </a:spcAft>
              <a:buNone/>
            </a:pPr>
            <a:r>
              <a:t/>
            </a:r>
            <a:endParaRPr/>
          </a:p>
        </p:txBody>
      </p:sp>
      <p:sp>
        <p:nvSpPr>
          <p:cNvPr id="432" name="Google Shape;432;g3aad7b8b945_1_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pic>
        <p:nvPicPr>
          <p:cNvPr descr="/tmp/rasterized-gradient-0afc3c66.png" id="57" name="Google Shape;57;p15"/>
          <p:cNvPicPr preferRelativeResize="0"/>
          <p:nvPr/>
        </p:nvPicPr>
        <p:blipFill rotWithShape="1">
          <a:blip r:embed="rId3">
            <a:alphaModFix/>
          </a:blip>
          <a:srcRect b="0" l="0" r="0" t="0"/>
          <a:stretch/>
        </p:blipFill>
        <p:spPr>
          <a:xfrm>
            <a:off x="0" y="0"/>
            <a:ext cx="76200" cy="5143500"/>
          </a:xfrm>
          <a:prstGeom prst="rect">
            <a:avLst/>
          </a:prstGeom>
          <a:noFill/>
          <a:ln>
            <a:noFill/>
          </a:ln>
        </p:spPr>
      </p:pic>
      <p:sp>
        <p:nvSpPr>
          <p:cNvPr id="58" name="Google Shape;58;p15"/>
          <p:cNvSpPr/>
          <p:nvPr/>
        </p:nvSpPr>
        <p:spPr>
          <a:xfrm>
            <a:off x="666750" y="872728"/>
            <a:ext cx="8063865" cy="18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050"/>
              <a:buFont typeface="Arial"/>
              <a:buNone/>
            </a:pPr>
            <a:r>
              <a:rPr b="1" i="0" lang="zh-TW" sz="1050" u="none" cap="none" strike="noStrike">
                <a:solidFill>
                  <a:srgbClr val="2563EB"/>
                </a:solidFill>
                <a:latin typeface="Arial"/>
                <a:ea typeface="Arial"/>
                <a:cs typeface="Arial"/>
                <a:sym typeface="Arial"/>
              </a:rPr>
              <a:t>CUDA KERNEL OPTIMIZATION</a:t>
            </a:r>
            <a:endParaRPr b="0" i="0" sz="1050" u="none" cap="none" strike="noStrike">
              <a:solidFill>
                <a:schemeClr val="dk1"/>
              </a:solidFill>
              <a:latin typeface="Calibri"/>
              <a:ea typeface="Calibri"/>
              <a:cs typeface="Calibri"/>
              <a:sym typeface="Calibri"/>
            </a:endParaRPr>
          </a:p>
        </p:txBody>
      </p:sp>
      <p:sp>
        <p:nvSpPr>
          <p:cNvPr id="59" name="Google Shape;59;p15"/>
          <p:cNvSpPr/>
          <p:nvPr/>
        </p:nvSpPr>
        <p:spPr>
          <a:xfrm>
            <a:off x="666750" y="1364159"/>
            <a:ext cx="6353937" cy="95994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A1A2E"/>
              </a:buClr>
              <a:buSzPts val="3150"/>
              <a:buFont typeface="Arial"/>
              <a:buNone/>
            </a:pPr>
            <a:r>
              <a:rPr b="0" i="0" lang="zh-TW" sz="3150" u="none" cap="none" strike="noStrike">
                <a:solidFill>
                  <a:srgbClr val="1A1A2E"/>
                </a:solidFill>
                <a:latin typeface="Arial"/>
                <a:ea typeface="Arial"/>
                <a:cs typeface="Arial"/>
                <a:sym typeface="Arial"/>
              </a:rPr>
              <a:t>Accelerating Rejection Sampling</a:t>
            </a:r>
            <a:endParaRPr b="0" i="0" sz="3150" u="none" cap="none" strike="noStrike">
              <a:solidFill>
                <a:schemeClr val="dk1"/>
              </a:solidFill>
              <a:latin typeface="Calibri"/>
              <a:ea typeface="Calibri"/>
              <a:cs typeface="Calibri"/>
              <a:sym typeface="Calibri"/>
            </a:endParaRPr>
          </a:p>
          <a:p>
            <a:pPr indent="0" lvl="0" marL="0" marR="0" rtl="0" algn="l">
              <a:lnSpc>
                <a:spcPct val="120000"/>
              </a:lnSpc>
              <a:spcBef>
                <a:spcPts val="1500"/>
              </a:spcBef>
              <a:spcAft>
                <a:spcPts val="0"/>
              </a:spcAft>
              <a:buClr>
                <a:srgbClr val="1A1A2E"/>
              </a:buClr>
              <a:buSzPts val="3150"/>
              <a:buFont typeface="Arial"/>
              <a:buNone/>
            </a:pPr>
            <a:r>
              <a:rPr b="0" i="0" lang="zh-TW" sz="3150" u="none" cap="none" strike="noStrike">
                <a:solidFill>
                  <a:srgbClr val="1A1A2E"/>
                </a:solidFill>
                <a:latin typeface="Arial"/>
                <a:ea typeface="Arial"/>
                <a:cs typeface="Arial"/>
                <a:sym typeface="Arial"/>
              </a:rPr>
              <a:t>for Speculative Decoding</a:t>
            </a:r>
            <a:endParaRPr b="0" i="0" sz="3150" u="none" cap="none" strike="noStrike">
              <a:solidFill>
                <a:schemeClr val="dk1"/>
              </a:solidFill>
              <a:latin typeface="Calibri"/>
              <a:ea typeface="Calibri"/>
              <a:cs typeface="Calibri"/>
              <a:sym typeface="Calibri"/>
            </a:endParaRPr>
          </a:p>
        </p:txBody>
      </p:sp>
      <p:sp>
        <p:nvSpPr>
          <p:cNvPr id="60" name="Google Shape;60;p15"/>
          <p:cNvSpPr/>
          <p:nvPr/>
        </p:nvSpPr>
        <p:spPr>
          <a:xfrm>
            <a:off x="666750" y="2705100"/>
            <a:ext cx="8063865" cy="2399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350"/>
              <a:buFont typeface="Arial"/>
              <a:buNone/>
            </a:pPr>
            <a:r>
              <a:rPr b="0" i="0" lang="zh-TW" sz="1350" u="none" cap="none" strike="noStrike">
                <a:solidFill>
                  <a:srgbClr val="64748B"/>
                </a:solidFill>
                <a:latin typeface="Arial"/>
                <a:ea typeface="Arial"/>
                <a:cs typeface="Arial"/>
                <a:sym typeface="Arial"/>
              </a:rPr>
              <a:t>From O(vocab_size) to O(</a:t>
            </a:r>
            <a:r>
              <a:rPr lang="zh-TW" sz="1350">
                <a:solidFill>
                  <a:srgbClr val="64748B"/>
                </a:solidFill>
              </a:rPr>
              <a:t>1</a:t>
            </a:r>
            <a:r>
              <a:rPr b="0" i="0" lang="zh-TW" sz="1350" u="none" cap="none" strike="noStrike">
                <a:solidFill>
                  <a:srgbClr val="64748B"/>
                </a:solidFill>
                <a:latin typeface="Arial"/>
                <a:ea typeface="Arial"/>
                <a:cs typeface="Arial"/>
                <a:sym typeface="Arial"/>
              </a:rPr>
              <a:t>) with Parallel Reduction</a:t>
            </a:r>
            <a:endParaRPr b="0" i="0" sz="1350" u="none" cap="none" strike="noStrike">
              <a:solidFill>
                <a:srgbClr val="64748B"/>
              </a:solidFill>
              <a:latin typeface="Arial"/>
              <a:ea typeface="Arial"/>
              <a:cs typeface="Arial"/>
              <a:sym typeface="Arial"/>
            </a:endParaRPr>
          </a:p>
          <a:p>
            <a:pPr indent="0" lvl="0" marL="0" marR="0" rtl="0" algn="l">
              <a:lnSpc>
                <a:spcPct val="140000"/>
              </a:lnSpc>
              <a:spcBef>
                <a:spcPts val="0"/>
              </a:spcBef>
              <a:spcAft>
                <a:spcPts val="0"/>
              </a:spcAft>
              <a:buClr>
                <a:srgbClr val="64748B"/>
              </a:buClr>
              <a:buSzPts val="1350"/>
              <a:buFont typeface="Arial"/>
              <a:buNone/>
            </a:pPr>
            <a:r>
              <a:t/>
            </a:r>
            <a:endParaRPr sz="1350">
              <a:solidFill>
                <a:srgbClr val="64748B"/>
              </a:solidFill>
            </a:endParaRPr>
          </a:p>
          <a:p>
            <a:pPr indent="0" lvl="0" marL="0" marR="0" rtl="0" algn="l">
              <a:lnSpc>
                <a:spcPct val="140000"/>
              </a:lnSpc>
              <a:spcBef>
                <a:spcPts val="0"/>
              </a:spcBef>
              <a:spcAft>
                <a:spcPts val="0"/>
              </a:spcAft>
              <a:buClr>
                <a:srgbClr val="64748B"/>
              </a:buClr>
              <a:buSzPts val="1350"/>
              <a:buFont typeface="Arial"/>
              <a:buNone/>
            </a:pPr>
            <a:r>
              <a:rPr lang="zh-TW" sz="1350">
                <a:solidFill>
                  <a:srgbClr val="64748B"/>
                </a:solidFill>
              </a:rPr>
              <a:t>R14922156 Hong-Yan Huang 黃泓諺</a:t>
            </a:r>
            <a:endParaRPr sz="1350">
              <a:solidFill>
                <a:srgbClr val="64748B"/>
              </a:solidFill>
            </a:endParaRPr>
          </a:p>
          <a:p>
            <a:pPr indent="0" lvl="0" marL="0" marR="0" rtl="0" algn="l">
              <a:lnSpc>
                <a:spcPct val="140000"/>
              </a:lnSpc>
              <a:spcBef>
                <a:spcPts val="0"/>
              </a:spcBef>
              <a:spcAft>
                <a:spcPts val="0"/>
              </a:spcAft>
              <a:buClr>
                <a:srgbClr val="64748B"/>
              </a:buClr>
              <a:buSzPts val="1350"/>
              <a:buFont typeface="Arial"/>
              <a:buNone/>
            </a:pPr>
            <a:r>
              <a:rPr lang="zh-TW" sz="1350">
                <a:solidFill>
                  <a:srgbClr val="64748B"/>
                </a:solidFill>
              </a:rPr>
              <a:t>R14922158 Bo-Ru Chen 陳柏儒</a:t>
            </a:r>
            <a:endParaRPr sz="1350">
              <a:solidFill>
                <a:srgbClr val="64748B"/>
              </a:solidFill>
            </a:endParaRPr>
          </a:p>
          <a:p>
            <a:pPr indent="0" lvl="0" marL="0" marR="0" rtl="0" algn="l">
              <a:lnSpc>
                <a:spcPct val="140000"/>
              </a:lnSpc>
              <a:spcBef>
                <a:spcPts val="0"/>
              </a:spcBef>
              <a:spcAft>
                <a:spcPts val="0"/>
              </a:spcAft>
              <a:buClr>
                <a:srgbClr val="64748B"/>
              </a:buClr>
              <a:buSzPts val="1350"/>
              <a:buFont typeface="Arial"/>
              <a:buNone/>
            </a:pPr>
            <a:r>
              <a:rPr lang="zh-TW" sz="1350">
                <a:solidFill>
                  <a:srgbClr val="64748B"/>
                </a:solidFill>
              </a:rPr>
              <a:t>R14922172 Guan-Cheng Chang 張光澄</a:t>
            </a:r>
            <a:endParaRPr sz="1350">
              <a:solidFill>
                <a:srgbClr val="64748B"/>
              </a:solidFill>
            </a:endParaRPr>
          </a:p>
          <a:p>
            <a:pPr indent="0" lvl="0" marL="0" marR="0" rtl="0" algn="l">
              <a:lnSpc>
                <a:spcPct val="140000"/>
              </a:lnSpc>
              <a:spcBef>
                <a:spcPts val="0"/>
              </a:spcBef>
              <a:spcAft>
                <a:spcPts val="0"/>
              </a:spcAft>
              <a:buClr>
                <a:srgbClr val="64748B"/>
              </a:buClr>
              <a:buSzPts val="1350"/>
              <a:buFont typeface="Arial"/>
              <a:buNone/>
            </a:pPr>
            <a:r>
              <a:t/>
            </a:r>
            <a:endParaRPr sz="1350">
              <a:solidFill>
                <a:srgbClr val="64748B"/>
              </a:solidFill>
            </a:endParaRPr>
          </a:p>
        </p:txBody>
      </p:sp>
      <p:sp>
        <p:nvSpPr>
          <p:cNvPr id="61" name="Google Shape;61;p15"/>
          <p:cNvSpPr/>
          <p:nvPr/>
        </p:nvSpPr>
        <p:spPr>
          <a:xfrm>
            <a:off x="476250" y="4768304"/>
            <a:ext cx="825817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025" u="none" cap="none" strike="noStrike">
                <a:solidFill>
                  <a:srgbClr val="64748B"/>
                </a:solidFill>
                <a:latin typeface="Arial"/>
                <a:ea typeface="Arial"/>
                <a:cs typeface="Arial"/>
                <a:sym typeface="Arial"/>
              </a:rPr>
              <a:t>PP25 Final Project • December 2025</a:t>
            </a:r>
            <a:endParaRPr b="0" i="0" sz="1025"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6"/>
          <p:cNvPicPr preferRelativeResize="0"/>
          <p:nvPr/>
        </p:nvPicPr>
        <p:blipFill>
          <a:blip r:embed="rId3">
            <a:alphaModFix/>
          </a:blip>
          <a:stretch>
            <a:fillRect/>
          </a:stretch>
        </p:blipFill>
        <p:spPr>
          <a:xfrm>
            <a:off x="207850" y="2592975"/>
            <a:ext cx="4639199" cy="1721575"/>
          </a:xfrm>
          <a:prstGeom prst="rect">
            <a:avLst/>
          </a:prstGeom>
          <a:noFill/>
          <a:ln>
            <a:noFill/>
          </a:ln>
        </p:spPr>
      </p:pic>
      <p:pic>
        <p:nvPicPr>
          <p:cNvPr id="67" name="Google Shape;67;p16"/>
          <p:cNvPicPr preferRelativeResize="0"/>
          <p:nvPr/>
        </p:nvPicPr>
        <p:blipFill>
          <a:blip r:embed="rId4">
            <a:alphaModFix/>
          </a:blip>
          <a:stretch>
            <a:fillRect/>
          </a:stretch>
        </p:blipFill>
        <p:spPr>
          <a:xfrm>
            <a:off x="4847050" y="2749775"/>
            <a:ext cx="4296949" cy="1564764"/>
          </a:xfrm>
          <a:prstGeom prst="rect">
            <a:avLst/>
          </a:prstGeom>
          <a:noFill/>
          <a:ln>
            <a:noFill/>
          </a:ln>
        </p:spPr>
      </p:pic>
      <p:sp>
        <p:nvSpPr>
          <p:cNvPr id="68" name="Google Shape;68;p16"/>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9" name="Google Shape;69;p16"/>
          <p:cNvSpPr/>
          <p:nvPr/>
        </p:nvSpPr>
        <p:spPr>
          <a:xfrm>
            <a:off x="306424" y="228600"/>
            <a:ext cx="53727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lang="zh-TW" sz="2400">
                <a:solidFill>
                  <a:srgbClr val="1A1A2E"/>
                </a:solidFill>
              </a:rPr>
              <a:t>Speculative Decode</a:t>
            </a:r>
            <a:endParaRPr b="0" i="0" sz="2400" u="none" cap="none" strike="noStrike">
              <a:solidFill>
                <a:schemeClr val="dk1"/>
              </a:solidFill>
              <a:latin typeface="Calibri"/>
              <a:ea typeface="Calibri"/>
              <a:cs typeface="Calibri"/>
              <a:sym typeface="Calibri"/>
            </a:endParaRPr>
          </a:p>
        </p:txBody>
      </p:sp>
      <p:sp>
        <p:nvSpPr>
          <p:cNvPr id="70" name="Google Shape;70;p16"/>
          <p:cNvSpPr txBox="1"/>
          <p:nvPr/>
        </p:nvSpPr>
        <p:spPr>
          <a:xfrm>
            <a:off x="306425" y="958325"/>
            <a:ext cx="73200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zh-TW" sz="1100">
                <a:solidFill>
                  <a:srgbClr val="2563EB"/>
                </a:solidFill>
              </a:rPr>
              <a:t>Speculative Decoding</a:t>
            </a:r>
            <a:r>
              <a:rPr lang="zh-TW" sz="1100">
                <a:solidFill>
                  <a:srgbClr val="1F1F1F"/>
                </a:solidFill>
              </a:rPr>
              <a:t> is an inference acceleration technique that employs a </a:t>
            </a:r>
            <a:r>
              <a:rPr lang="zh-TW" sz="1100">
                <a:solidFill>
                  <a:srgbClr val="2563EB"/>
                </a:solidFill>
              </a:rPr>
              <a:t>"</a:t>
            </a:r>
            <a:r>
              <a:rPr b="1" lang="zh-TW" sz="1100">
                <a:solidFill>
                  <a:srgbClr val="2563EB"/>
                </a:solidFill>
              </a:rPr>
              <a:t>small model predicts, large model verifies</a:t>
            </a:r>
            <a:r>
              <a:rPr lang="zh-TW" sz="1100">
                <a:solidFill>
                  <a:srgbClr val="2563EB"/>
                </a:solidFill>
              </a:rPr>
              <a:t>"</a:t>
            </a:r>
            <a:r>
              <a:rPr lang="zh-TW" sz="1100">
                <a:solidFill>
                  <a:srgbClr val="1F1F1F"/>
                </a:solidFill>
              </a:rPr>
              <a:t> strategy.</a:t>
            </a:r>
            <a:endParaRPr sz="1100">
              <a:solidFill>
                <a:srgbClr val="1F1F1F"/>
              </a:solidFill>
            </a:endParaRPr>
          </a:p>
          <a:p>
            <a:pPr indent="0" lvl="0" marL="0" rtl="0" algn="l">
              <a:lnSpc>
                <a:spcPct val="115000"/>
              </a:lnSpc>
              <a:spcBef>
                <a:spcPts val="1200"/>
              </a:spcBef>
              <a:spcAft>
                <a:spcPts val="1200"/>
              </a:spcAft>
              <a:buNone/>
            </a:pPr>
            <a:r>
              <a:rPr lang="zh-TW" sz="1100">
                <a:solidFill>
                  <a:srgbClr val="1F1F1F"/>
                </a:solidFill>
              </a:rPr>
              <a:t>It uses a lightweight </a:t>
            </a:r>
            <a:r>
              <a:rPr b="1" lang="zh-TW" sz="1100">
                <a:solidFill>
                  <a:srgbClr val="2563EB"/>
                </a:solidFill>
              </a:rPr>
              <a:t>Draft Model</a:t>
            </a:r>
            <a:r>
              <a:rPr lang="zh-TW" sz="1100">
                <a:solidFill>
                  <a:srgbClr val="2563EB"/>
                </a:solidFill>
              </a:rPr>
              <a:t> </a:t>
            </a:r>
            <a:r>
              <a:rPr lang="zh-TW" sz="1100">
                <a:solidFill>
                  <a:srgbClr val="1F1F1F"/>
                </a:solidFill>
              </a:rPr>
              <a:t>to rapidly generate a sequence of candidate tokens, which are then verified in parallel by the main </a:t>
            </a:r>
            <a:r>
              <a:rPr b="1" lang="zh-TW" sz="1100">
                <a:solidFill>
                  <a:srgbClr val="2563EB"/>
                </a:solidFill>
              </a:rPr>
              <a:t>Target Model</a:t>
            </a:r>
            <a:r>
              <a:rPr lang="zh-TW" sz="1100">
                <a:solidFill>
                  <a:srgbClr val="1F1F1F"/>
                </a:solidFill>
              </a:rPr>
              <a:t>. By converting sequential generation bottlenecks into parallel computation advantages, this method significantly reduces memory access overhead and boosts inference speed while </a:t>
            </a:r>
            <a:r>
              <a:rPr b="1" lang="zh-TW" sz="1100">
                <a:solidFill>
                  <a:srgbClr val="2563EB"/>
                </a:solidFill>
              </a:rPr>
              <a:t>guaranteeing the output remains identical</a:t>
            </a:r>
            <a:r>
              <a:rPr lang="zh-TW" sz="1100">
                <a:solidFill>
                  <a:srgbClr val="2563EB"/>
                </a:solidFill>
              </a:rPr>
              <a:t> </a:t>
            </a:r>
            <a:r>
              <a:rPr lang="zh-TW" sz="1100">
                <a:solidFill>
                  <a:srgbClr val="1F1F1F"/>
                </a:solidFill>
              </a:rPr>
              <a:t>to the target model's standard generation.</a:t>
            </a:r>
            <a:endParaRPr sz="1100">
              <a:solidFill>
                <a:srgbClr val="1F1F1F"/>
              </a:solidFill>
            </a:endParaRPr>
          </a:p>
        </p:txBody>
      </p:sp>
      <p:sp>
        <p:nvSpPr>
          <p:cNvPr id="71" name="Google Shape;71;p16"/>
          <p:cNvSpPr txBox="1"/>
          <p:nvPr/>
        </p:nvSpPr>
        <p:spPr>
          <a:xfrm>
            <a:off x="5089500" y="4835700"/>
            <a:ext cx="4054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800">
                <a:solidFill>
                  <a:schemeClr val="accent3"/>
                </a:solidFill>
              </a:rPr>
              <a:t>Source: Fast Inference from Transformers via Speculative Decoding (ICML 2023 Oral)</a:t>
            </a:r>
            <a:endParaRPr sz="800">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17"/>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8" name="Google Shape;78;p17"/>
          <p:cNvSpPr/>
          <p:nvPr/>
        </p:nvSpPr>
        <p:spPr>
          <a:xfrm>
            <a:off x="476250" y="228600"/>
            <a:ext cx="5372672"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Problem: Rejection Sampling Kernel</a:t>
            </a:r>
            <a:endParaRPr b="0" i="0" sz="2400" u="none" cap="none" strike="noStrike">
              <a:solidFill>
                <a:schemeClr val="dk1"/>
              </a:solidFill>
              <a:latin typeface="Calibri"/>
              <a:ea typeface="Calibri"/>
              <a:cs typeface="Calibri"/>
              <a:sym typeface="Calibri"/>
            </a:endParaRPr>
          </a:p>
        </p:txBody>
      </p:sp>
      <p:sp>
        <p:nvSpPr>
          <p:cNvPr id="79" name="Google Shape;79;p17"/>
          <p:cNvSpPr/>
          <p:nvPr/>
        </p:nvSpPr>
        <p:spPr>
          <a:xfrm>
            <a:off x="476250" y="954137"/>
            <a:ext cx="3952875" cy="2217837"/>
          </a:xfrm>
          <a:prstGeom prst="roundRect">
            <a:avLst>
              <a:gd fmla="val 3436"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80" name="Google Shape;80;p17"/>
          <p:cNvCxnSpPr/>
          <p:nvPr/>
        </p:nvCxnSpPr>
        <p:spPr>
          <a:xfrm>
            <a:off x="495300" y="954137"/>
            <a:ext cx="0" cy="2217837"/>
          </a:xfrm>
          <a:prstGeom prst="straightConnector1">
            <a:avLst/>
          </a:prstGeom>
          <a:noFill/>
          <a:ln cap="flat" cmpd="sng" w="38100">
            <a:solidFill>
              <a:srgbClr val="2563EB"/>
            </a:solidFill>
            <a:prstDash val="solid"/>
            <a:round/>
            <a:headEnd len="sm" w="sm" type="none"/>
            <a:tailEnd len="sm" w="sm" type="none"/>
          </a:ln>
        </p:spPr>
      </p:cxnSp>
      <p:sp>
        <p:nvSpPr>
          <p:cNvPr id="81" name="Google Shape;81;p17"/>
          <p:cNvSpPr/>
          <p:nvPr/>
        </p:nvSpPr>
        <p:spPr>
          <a:xfrm>
            <a:off x="685800" y="1163687"/>
            <a:ext cx="3643313"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75"/>
              <a:buFont typeface="Arial"/>
              <a:buNone/>
            </a:pPr>
            <a:r>
              <a:rPr b="1" i="0" lang="zh-TW" sz="1175" u="none" cap="none" strike="noStrike">
                <a:solidFill>
                  <a:srgbClr val="2563EB"/>
                </a:solidFill>
                <a:latin typeface="Arial"/>
                <a:ea typeface="Arial"/>
                <a:cs typeface="Arial"/>
                <a:sym typeface="Arial"/>
              </a:rPr>
              <a:t>ALGORITHM (Leviathan et al. 2022)</a:t>
            </a:r>
            <a:endParaRPr b="0" i="0" sz="1175" u="none" cap="none" strike="noStrike">
              <a:solidFill>
                <a:schemeClr val="dk1"/>
              </a:solidFill>
              <a:latin typeface="Calibri"/>
              <a:ea typeface="Calibri"/>
              <a:cs typeface="Calibri"/>
              <a:sym typeface="Calibri"/>
            </a:endParaRPr>
          </a:p>
        </p:txBody>
      </p:sp>
      <p:sp>
        <p:nvSpPr>
          <p:cNvPr id="82" name="Google Shape;82;p17"/>
          <p:cNvSpPr/>
          <p:nvPr/>
        </p:nvSpPr>
        <p:spPr>
          <a:xfrm>
            <a:off x="685800" y="1432173"/>
            <a:ext cx="3643313" cy="5746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500"/>
              <a:buFont typeface="Arial"/>
              <a:buNone/>
            </a:pPr>
            <a:r>
              <a:rPr b="1" i="0" lang="zh-TW" sz="1500" u="none" cap="none" strike="noStrike">
                <a:solidFill>
                  <a:srgbClr val="DC2626"/>
                </a:solidFill>
                <a:latin typeface="Arial"/>
                <a:ea typeface="Arial"/>
                <a:cs typeface="Arial"/>
                <a:sym typeface="Arial"/>
              </a:rPr>
              <a:t>1.</a:t>
            </a:r>
            <a:r>
              <a:rPr b="0" i="0" lang="zh-TW" sz="1500" u="none" cap="none" strike="noStrike">
                <a:solidFill>
                  <a:srgbClr val="1A1A2E"/>
                </a:solidFill>
                <a:latin typeface="Arial"/>
                <a:ea typeface="Arial"/>
                <a:cs typeface="Arial"/>
                <a:sym typeface="Arial"/>
              </a:rPr>
              <a:t> Accept draft token with prob =   </a:t>
            </a:r>
            <a:endParaRPr b="0" i="0" sz="1500" u="none" cap="none" strike="noStrike">
              <a:solidFill>
                <a:srgbClr val="1A1A2E"/>
              </a:solidFill>
              <a:latin typeface="Arial"/>
              <a:ea typeface="Arial"/>
              <a:cs typeface="Arial"/>
              <a:sym typeface="Arial"/>
            </a:endParaRPr>
          </a:p>
          <a:p>
            <a:pPr indent="0" lvl="0" marL="0" marR="0" rtl="0" algn="l">
              <a:lnSpc>
                <a:spcPct val="140000"/>
              </a:lnSpc>
              <a:spcBef>
                <a:spcPts val="0"/>
              </a:spcBef>
              <a:spcAft>
                <a:spcPts val="0"/>
              </a:spcAft>
              <a:buClr>
                <a:srgbClr val="DC2626"/>
              </a:buClr>
              <a:buSzPts val="1500"/>
              <a:buFont typeface="Arial"/>
              <a:buNone/>
            </a:pPr>
            <a:r>
              <a:rPr lang="zh-TW" sz="1500">
                <a:solidFill>
                  <a:srgbClr val="1A1A2E"/>
                </a:solidFill>
              </a:rPr>
              <a:t>    </a:t>
            </a:r>
            <a:r>
              <a:rPr b="0" i="0" lang="zh-TW" sz="1500" u="none" cap="none" strike="noStrike">
                <a:solidFill>
                  <a:srgbClr val="1A1A2E"/>
                </a:solidFill>
                <a:latin typeface="Arial"/>
                <a:ea typeface="Arial"/>
                <a:cs typeface="Arial"/>
                <a:sym typeface="Arial"/>
              </a:rPr>
              <a:t>min(1, p(x) / </a:t>
            </a:r>
            <a:r>
              <a:rPr lang="zh-TW" sz="1500">
                <a:solidFill>
                  <a:srgbClr val="1A1A2E"/>
                </a:solidFill>
              </a:rPr>
              <a:t>q(x)</a:t>
            </a:r>
            <a:r>
              <a:rPr b="0" i="0" lang="zh-TW" sz="1500" u="none" cap="none" strike="noStrike">
                <a:solidFill>
                  <a:srgbClr val="1A1A2E"/>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83" name="Google Shape;83;p17"/>
          <p:cNvSpPr/>
          <p:nvPr/>
        </p:nvSpPr>
        <p:spPr>
          <a:xfrm>
            <a:off x="685800" y="2063948"/>
            <a:ext cx="3643313" cy="57462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500"/>
              <a:buFont typeface="Arial"/>
              <a:buNone/>
            </a:pPr>
            <a:r>
              <a:rPr b="1" i="0" lang="zh-TW" sz="1500" u="none" cap="none" strike="noStrike">
                <a:solidFill>
                  <a:srgbClr val="DC2626"/>
                </a:solidFill>
                <a:latin typeface="Arial"/>
                <a:ea typeface="Arial"/>
                <a:cs typeface="Arial"/>
                <a:sym typeface="Arial"/>
              </a:rPr>
              <a:t>2.</a:t>
            </a:r>
            <a:r>
              <a:rPr b="0" i="0" lang="zh-TW" sz="1500" u="none" cap="none" strike="noStrike">
                <a:solidFill>
                  <a:srgbClr val="1A1A2E"/>
                </a:solidFill>
                <a:latin typeface="Arial"/>
                <a:ea typeface="Arial"/>
                <a:cs typeface="Arial"/>
                <a:sym typeface="Arial"/>
              </a:rPr>
              <a:t> If rejected → sample from </a:t>
            </a:r>
            <a:endParaRPr b="0" i="0" sz="1500" u="none" cap="none" strike="noStrike">
              <a:solidFill>
                <a:srgbClr val="1A1A2E"/>
              </a:solidFill>
              <a:latin typeface="Arial"/>
              <a:ea typeface="Arial"/>
              <a:cs typeface="Arial"/>
              <a:sym typeface="Arial"/>
            </a:endParaRPr>
          </a:p>
          <a:p>
            <a:pPr indent="0" lvl="0" marL="0" marR="0" rtl="0" algn="l">
              <a:lnSpc>
                <a:spcPct val="140000"/>
              </a:lnSpc>
              <a:spcBef>
                <a:spcPts val="0"/>
              </a:spcBef>
              <a:spcAft>
                <a:spcPts val="0"/>
              </a:spcAft>
              <a:buClr>
                <a:srgbClr val="DC2626"/>
              </a:buClr>
              <a:buSzPts val="1500"/>
              <a:buFont typeface="Arial"/>
              <a:buNone/>
            </a:pPr>
            <a:r>
              <a:rPr lang="zh-TW" sz="1500">
                <a:solidFill>
                  <a:srgbClr val="1A1A2E"/>
                </a:solidFill>
              </a:rPr>
              <a:t>    </a:t>
            </a:r>
            <a:r>
              <a:rPr b="0" i="0" lang="zh-TW" sz="1500" u="none" cap="none" strike="noStrike">
                <a:solidFill>
                  <a:srgbClr val="1A1A2E"/>
                </a:solidFill>
                <a:latin typeface="Arial"/>
                <a:ea typeface="Arial"/>
                <a:cs typeface="Arial"/>
                <a:sym typeface="Arial"/>
              </a:rPr>
              <a:t>max(0, p(x) - </a:t>
            </a:r>
            <a:r>
              <a:rPr lang="zh-TW" sz="1500">
                <a:solidFill>
                  <a:srgbClr val="1A1A2E"/>
                </a:solidFill>
              </a:rPr>
              <a:t>q(x</a:t>
            </a:r>
            <a:r>
              <a:rPr b="0" i="0" lang="zh-TW" sz="1500" u="none" cap="none" strike="noStrike">
                <a:solidFill>
                  <a:srgbClr val="1A1A2E"/>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84" name="Google Shape;84;p17"/>
          <p:cNvSpPr/>
          <p:nvPr/>
        </p:nvSpPr>
        <p:spPr>
          <a:xfrm>
            <a:off x="685800" y="2695724"/>
            <a:ext cx="3643313"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500"/>
              <a:buFont typeface="Arial"/>
              <a:buNone/>
            </a:pPr>
            <a:r>
              <a:rPr b="1" i="0" lang="zh-TW" sz="1500" u="none" cap="none" strike="noStrike">
                <a:solidFill>
                  <a:srgbClr val="DC2626"/>
                </a:solidFill>
                <a:latin typeface="Arial"/>
                <a:ea typeface="Arial"/>
                <a:cs typeface="Arial"/>
                <a:sym typeface="Arial"/>
              </a:rPr>
              <a:t>3.</a:t>
            </a:r>
            <a:r>
              <a:rPr b="0" i="0" lang="zh-TW" sz="1500" u="none" cap="none" strike="noStrike">
                <a:solidFill>
                  <a:srgbClr val="1A1A2E"/>
                </a:solidFill>
                <a:latin typeface="Arial"/>
                <a:ea typeface="Arial"/>
                <a:cs typeface="Arial"/>
                <a:sym typeface="Arial"/>
              </a:rPr>
              <a:t> If all accepted → append bonus token</a:t>
            </a:r>
            <a:endParaRPr b="0" i="0" sz="1500" u="none" cap="none" strike="noStrike">
              <a:solidFill>
                <a:schemeClr val="dk1"/>
              </a:solidFill>
              <a:latin typeface="Calibri"/>
              <a:ea typeface="Calibri"/>
              <a:cs typeface="Calibri"/>
              <a:sym typeface="Calibri"/>
            </a:endParaRPr>
          </a:p>
        </p:txBody>
      </p:sp>
      <p:sp>
        <p:nvSpPr>
          <p:cNvPr id="85" name="Google Shape;85;p17"/>
          <p:cNvSpPr/>
          <p:nvPr/>
        </p:nvSpPr>
        <p:spPr>
          <a:xfrm>
            <a:off x="476250" y="3324374"/>
            <a:ext cx="3952875" cy="1512540"/>
          </a:xfrm>
          <a:prstGeom prst="roundRect">
            <a:avLst>
              <a:gd fmla="val 5038"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6" name="Google Shape;86;p17"/>
          <p:cNvSpPr/>
          <p:nvPr/>
        </p:nvSpPr>
        <p:spPr>
          <a:xfrm>
            <a:off x="628650" y="3514874"/>
            <a:ext cx="3721037"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1" i="0" lang="zh-TW" sz="1100" u="none" cap="none" strike="noStrike">
                <a:solidFill>
                  <a:srgbClr val="64748B"/>
                </a:solidFill>
                <a:latin typeface="Arial"/>
                <a:ea typeface="Arial"/>
                <a:cs typeface="Arial"/>
                <a:sym typeface="Arial"/>
              </a:rPr>
              <a:t>KEY INPUTS</a:t>
            </a:r>
            <a:endParaRPr b="0" i="0" sz="1100" u="none" cap="none" strike="noStrike">
              <a:solidFill>
                <a:schemeClr val="dk1"/>
              </a:solidFill>
              <a:latin typeface="Calibri"/>
              <a:ea typeface="Calibri"/>
              <a:cs typeface="Calibri"/>
              <a:sym typeface="Calibri"/>
            </a:endParaRPr>
          </a:p>
        </p:txBody>
      </p:sp>
      <p:sp>
        <p:nvSpPr>
          <p:cNvPr id="87" name="Google Shape;87;p17"/>
          <p:cNvSpPr/>
          <p:nvPr/>
        </p:nvSpPr>
        <p:spPr>
          <a:xfrm>
            <a:off x="628650" y="3770114"/>
            <a:ext cx="372103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draft_probs:   [num_tokens, vocab_size]</a:t>
            </a:r>
            <a:endParaRPr b="0" i="0" sz="1500" u="none" cap="none" strike="noStrike">
              <a:solidFill>
                <a:schemeClr val="dk1"/>
              </a:solidFill>
              <a:latin typeface="Calibri"/>
              <a:ea typeface="Calibri"/>
              <a:cs typeface="Calibri"/>
              <a:sym typeface="Calibri"/>
            </a:endParaRPr>
          </a:p>
        </p:txBody>
      </p:sp>
      <p:sp>
        <p:nvSpPr>
          <p:cNvPr id="88" name="Google Shape;88;p17"/>
          <p:cNvSpPr/>
          <p:nvPr/>
        </p:nvSpPr>
        <p:spPr>
          <a:xfrm>
            <a:off x="628650" y="4074914"/>
            <a:ext cx="372103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target_probs:  [num_tokens, vocab_size]</a:t>
            </a:r>
            <a:endParaRPr b="0" i="0" sz="1500" u="none" cap="none" strike="noStrike">
              <a:solidFill>
                <a:schemeClr val="dk1"/>
              </a:solidFill>
              <a:latin typeface="Calibri"/>
              <a:ea typeface="Calibri"/>
              <a:cs typeface="Calibri"/>
              <a:sym typeface="Calibri"/>
            </a:endParaRPr>
          </a:p>
        </p:txBody>
      </p:sp>
      <p:sp>
        <p:nvSpPr>
          <p:cNvPr id="89" name="Google Shape;89;p17"/>
          <p:cNvSpPr/>
          <p:nvPr/>
        </p:nvSpPr>
        <p:spPr>
          <a:xfrm>
            <a:off x="628650" y="4379714"/>
            <a:ext cx="372103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uniform_samples: [num_tokens]</a:t>
            </a:r>
            <a:endParaRPr b="0" i="0" sz="1500" u="none" cap="none" strike="noStrike">
              <a:solidFill>
                <a:schemeClr val="dk1"/>
              </a:solidFill>
              <a:latin typeface="Calibri"/>
              <a:ea typeface="Calibri"/>
              <a:cs typeface="Calibri"/>
              <a:sym typeface="Calibri"/>
            </a:endParaRPr>
          </a:p>
        </p:txBody>
      </p:sp>
      <p:sp>
        <p:nvSpPr>
          <p:cNvPr id="90" name="Google Shape;90;p17"/>
          <p:cNvSpPr/>
          <p:nvPr/>
        </p:nvSpPr>
        <p:spPr>
          <a:xfrm>
            <a:off x="4714875" y="1274564"/>
            <a:ext cx="3952875" cy="1834307"/>
          </a:xfrm>
          <a:prstGeom prst="roundRect">
            <a:avLst>
              <a:gd fmla="val 4154" name="adj"/>
            </a:avLst>
          </a:prstGeom>
          <a:solidFill>
            <a:srgbClr val="FEF2F2"/>
          </a:solidFill>
          <a:ln cap="flat" cmpd="sng" w="9525">
            <a:solidFill>
              <a:srgbClr val="DC26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1" name="Google Shape;91;p17"/>
          <p:cNvSpPr/>
          <p:nvPr/>
        </p:nvSpPr>
        <p:spPr>
          <a:xfrm>
            <a:off x="4895850" y="1493639"/>
            <a:ext cx="3662744"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75"/>
              <a:buFont typeface="Arial"/>
              <a:buNone/>
            </a:pPr>
            <a:r>
              <a:rPr b="1" i="0" lang="zh-TW" sz="1175" u="none" cap="none" strike="noStrike">
                <a:solidFill>
                  <a:srgbClr val="DC2626"/>
                </a:solidFill>
                <a:latin typeface="Arial"/>
                <a:ea typeface="Arial"/>
                <a:cs typeface="Arial"/>
                <a:sym typeface="Arial"/>
              </a:rPr>
              <a:t>⚠ PERFORMANCE BOTTLENECK</a:t>
            </a:r>
            <a:endParaRPr b="0" i="0" sz="1175" u="none" cap="none" strike="noStrike">
              <a:solidFill>
                <a:schemeClr val="dk1"/>
              </a:solidFill>
              <a:latin typeface="Calibri"/>
              <a:ea typeface="Calibri"/>
              <a:cs typeface="Calibri"/>
              <a:sym typeface="Calibri"/>
            </a:endParaRPr>
          </a:p>
        </p:txBody>
      </p:sp>
      <p:sp>
        <p:nvSpPr>
          <p:cNvPr id="92" name="Google Shape;92;p17"/>
          <p:cNvSpPr/>
          <p:nvPr/>
        </p:nvSpPr>
        <p:spPr>
          <a:xfrm>
            <a:off x="4895850" y="1781175"/>
            <a:ext cx="3662744" cy="18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050"/>
              <a:buFont typeface="Arial"/>
              <a:buNone/>
            </a:pPr>
            <a:r>
              <a:rPr b="0" i="0" lang="zh-TW" sz="1050" u="none" cap="none" strike="noStrike">
                <a:solidFill>
                  <a:srgbClr val="1A1A2E"/>
                </a:solidFill>
                <a:latin typeface="Arial"/>
                <a:ea typeface="Arial"/>
                <a:cs typeface="Arial"/>
                <a:sym typeface="Arial"/>
              </a:rPr>
              <a:t>Sequential argmax over vocabulary during recovery phase</a:t>
            </a:r>
            <a:endParaRPr b="0" i="0" sz="1050" u="none" cap="none" strike="noStrike">
              <a:solidFill>
                <a:schemeClr val="dk1"/>
              </a:solidFill>
              <a:latin typeface="Calibri"/>
              <a:ea typeface="Calibri"/>
              <a:cs typeface="Calibri"/>
              <a:sym typeface="Calibri"/>
            </a:endParaRPr>
          </a:p>
        </p:txBody>
      </p:sp>
      <p:sp>
        <p:nvSpPr>
          <p:cNvPr id="93" name="Google Shape;93;p17"/>
          <p:cNvSpPr/>
          <p:nvPr/>
        </p:nvSpPr>
        <p:spPr>
          <a:xfrm>
            <a:off x="4895850" y="2101155"/>
            <a:ext cx="3590925" cy="826740"/>
          </a:xfrm>
          <a:prstGeom prst="roundRect">
            <a:avLst>
              <a:gd fmla="val 691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4" name="Google Shape;94;p17"/>
          <p:cNvSpPr/>
          <p:nvPr/>
        </p:nvSpPr>
        <p:spPr>
          <a:xfrm>
            <a:off x="5019675" y="2263080"/>
            <a:ext cx="3410141"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100" u="none" cap="none" strike="noStrike">
                <a:solidFill>
                  <a:srgbClr val="64748B"/>
                </a:solidFill>
                <a:latin typeface="Arial"/>
                <a:ea typeface="Arial"/>
                <a:cs typeface="Arial"/>
                <a:sym typeface="Arial"/>
              </a:rPr>
              <a:t>Complexity per batch element:</a:t>
            </a:r>
            <a:endParaRPr b="0" i="0" sz="1100" u="none" cap="none" strike="noStrike">
              <a:solidFill>
                <a:schemeClr val="dk1"/>
              </a:solidFill>
              <a:latin typeface="Calibri"/>
              <a:ea typeface="Calibri"/>
              <a:cs typeface="Calibri"/>
              <a:sym typeface="Calibri"/>
            </a:endParaRPr>
          </a:p>
        </p:txBody>
      </p:sp>
      <p:sp>
        <p:nvSpPr>
          <p:cNvPr id="95" name="Google Shape;95;p17"/>
          <p:cNvSpPr/>
          <p:nvPr/>
        </p:nvSpPr>
        <p:spPr>
          <a:xfrm>
            <a:off x="5019675" y="2499271"/>
            <a:ext cx="3410141"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500"/>
              <a:buFont typeface="Courier New"/>
              <a:buNone/>
            </a:pPr>
            <a:r>
              <a:rPr b="1" i="0" lang="zh-TW" sz="1500" u="none" cap="none" strike="noStrike">
                <a:solidFill>
                  <a:srgbClr val="DC2626"/>
                </a:solidFill>
                <a:latin typeface="Courier New"/>
                <a:ea typeface="Courier New"/>
                <a:cs typeface="Courier New"/>
                <a:sym typeface="Courier New"/>
              </a:rPr>
              <a:t>O(vocab_size) → O(</a:t>
            </a:r>
            <a:r>
              <a:rPr b="1" lang="zh-TW" sz="1500">
                <a:solidFill>
                  <a:srgbClr val="DC2626"/>
                </a:solidFill>
                <a:latin typeface="Courier New"/>
                <a:ea typeface="Courier New"/>
                <a:cs typeface="Courier New"/>
                <a:sym typeface="Courier New"/>
              </a:rPr>
              <a:t>1</a:t>
            </a:r>
            <a:r>
              <a:rPr b="1" i="0" lang="zh-TW" sz="1500" u="none" cap="none" strike="noStrike">
                <a:solidFill>
                  <a:srgbClr val="DC2626"/>
                </a:solidFill>
                <a:latin typeface="Courier New"/>
                <a:ea typeface="Courier New"/>
                <a:cs typeface="Courier New"/>
                <a:sym typeface="Courier New"/>
              </a:rPr>
              <a:t>)</a:t>
            </a:r>
            <a:endParaRPr b="0" i="0" sz="1500" u="none" cap="none" strike="noStrike">
              <a:solidFill>
                <a:schemeClr val="dk1"/>
              </a:solidFill>
              <a:latin typeface="Calibri"/>
              <a:ea typeface="Calibri"/>
              <a:cs typeface="Calibri"/>
              <a:sym typeface="Calibri"/>
            </a:endParaRPr>
          </a:p>
        </p:txBody>
      </p:sp>
      <p:sp>
        <p:nvSpPr>
          <p:cNvPr id="96" name="Google Shape;96;p17"/>
          <p:cNvSpPr/>
          <p:nvPr/>
        </p:nvSpPr>
        <p:spPr>
          <a:xfrm>
            <a:off x="4714875" y="3261271"/>
            <a:ext cx="3952875" cy="1255216"/>
          </a:xfrm>
          <a:prstGeom prst="roundRect">
            <a:avLst>
              <a:gd fmla="val 6071"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97" name="Google Shape;97;p17"/>
          <p:cNvSpPr/>
          <p:nvPr/>
        </p:nvSpPr>
        <p:spPr>
          <a:xfrm>
            <a:off x="4867275" y="3451771"/>
            <a:ext cx="3721037"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1" i="0" lang="zh-TW" sz="900" u="none" cap="none" strike="noStrike">
                <a:solidFill>
                  <a:srgbClr val="64748B"/>
                </a:solidFill>
                <a:latin typeface="Arial"/>
                <a:ea typeface="Arial"/>
                <a:cs typeface="Arial"/>
                <a:sym typeface="Arial"/>
              </a:rPr>
              <a:t>REAL-WORLD IMPACT</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4867275" y="3745111"/>
            <a:ext cx="1763363"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800"/>
              <a:buFont typeface="Arial"/>
              <a:buNone/>
            </a:pPr>
            <a:r>
              <a:rPr b="1" i="0" lang="zh-TW" sz="1800" u="none" cap="none" strike="noStrike">
                <a:solidFill>
                  <a:srgbClr val="1A1A2E"/>
                </a:solidFill>
                <a:latin typeface="Arial"/>
                <a:ea typeface="Arial"/>
                <a:cs typeface="Arial"/>
                <a:sym typeface="Arial"/>
              </a:rPr>
              <a:t>128K-151K</a:t>
            </a:r>
            <a:endParaRPr b="0" i="0" sz="1800" u="none" cap="none" strike="noStrike">
              <a:solidFill>
                <a:schemeClr val="dk1"/>
              </a:solidFill>
              <a:latin typeface="Calibri"/>
              <a:ea typeface="Calibri"/>
              <a:cs typeface="Calibri"/>
              <a:sym typeface="Calibri"/>
            </a:endParaRPr>
          </a:p>
        </p:txBody>
      </p:sp>
      <p:sp>
        <p:nvSpPr>
          <p:cNvPr id="99" name="Google Shape;99;p17"/>
          <p:cNvSpPr/>
          <p:nvPr/>
        </p:nvSpPr>
        <p:spPr>
          <a:xfrm>
            <a:off x="4867275" y="4179391"/>
            <a:ext cx="1763363"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025" u="none" cap="none" strike="noStrike">
                <a:solidFill>
                  <a:srgbClr val="64748B"/>
                </a:solidFill>
                <a:latin typeface="Arial"/>
                <a:ea typeface="Arial"/>
                <a:cs typeface="Arial"/>
                <a:sym typeface="Arial"/>
              </a:rPr>
              <a:t>Modern LLM vocab sizes</a:t>
            </a:r>
            <a:endParaRPr b="0" i="0" sz="1025" u="none" cap="none" strike="noStrike">
              <a:solidFill>
                <a:schemeClr val="dk1"/>
              </a:solidFill>
              <a:latin typeface="Calibri"/>
              <a:ea typeface="Calibri"/>
              <a:cs typeface="Calibri"/>
              <a:sym typeface="Calibri"/>
            </a:endParaRPr>
          </a:p>
        </p:txBody>
      </p:sp>
      <p:sp>
        <p:nvSpPr>
          <p:cNvPr id="100" name="Google Shape;100;p17"/>
          <p:cNvSpPr/>
          <p:nvPr/>
        </p:nvSpPr>
        <p:spPr>
          <a:xfrm>
            <a:off x="6786563" y="3745111"/>
            <a:ext cx="1763363" cy="3199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800"/>
              <a:buFont typeface="Arial"/>
              <a:buNone/>
            </a:pPr>
            <a:r>
              <a:rPr b="1" i="0" lang="zh-TW" sz="1800" u="none" cap="none" strike="noStrike">
                <a:solidFill>
                  <a:srgbClr val="DC2626"/>
                </a:solidFill>
                <a:latin typeface="Arial"/>
                <a:ea typeface="Arial"/>
                <a:cs typeface="Arial"/>
                <a:sym typeface="Arial"/>
              </a:rPr>
              <a:t>16%+</a:t>
            </a:r>
            <a:endParaRPr b="0" i="0" sz="1800" u="none" cap="none" strike="noStrike">
              <a:solidFill>
                <a:schemeClr val="dk1"/>
              </a:solidFill>
              <a:latin typeface="Calibri"/>
              <a:ea typeface="Calibri"/>
              <a:cs typeface="Calibri"/>
              <a:sym typeface="Calibri"/>
            </a:endParaRPr>
          </a:p>
        </p:txBody>
      </p:sp>
      <p:sp>
        <p:nvSpPr>
          <p:cNvPr id="101" name="Google Shape;101;p17"/>
          <p:cNvSpPr/>
          <p:nvPr/>
        </p:nvSpPr>
        <p:spPr>
          <a:xfrm>
            <a:off x="6786563" y="4179391"/>
            <a:ext cx="1763363"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025" u="none" cap="none" strike="noStrike">
                <a:solidFill>
                  <a:srgbClr val="64748B"/>
                </a:solidFill>
                <a:latin typeface="Arial"/>
                <a:ea typeface="Arial"/>
                <a:cs typeface="Arial"/>
                <a:sym typeface="Arial"/>
              </a:rPr>
              <a:t>Forward pass overhead</a:t>
            </a:r>
            <a:endParaRPr b="0" i="0" sz="1025" u="none" cap="none" strike="noStrike">
              <a:solidFill>
                <a:schemeClr val="dk1"/>
              </a:solidFill>
              <a:latin typeface="Calibri"/>
              <a:ea typeface="Calibri"/>
              <a:cs typeface="Calibri"/>
              <a:sym typeface="Calibri"/>
            </a:endParaRPr>
          </a:p>
        </p:txBody>
      </p:sp>
      <p:sp>
        <p:nvSpPr>
          <p:cNvPr id="102" name="Google Shape;102;p17"/>
          <p:cNvSpPr/>
          <p:nvPr/>
        </p:nvSpPr>
        <p:spPr>
          <a:xfrm>
            <a:off x="476250" y="4781550"/>
            <a:ext cx="50955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Based on "Fast Inference from Transformers via Speculative Decoding" (arXiv:2211.17192)</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8"/>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9" name="Google Shape;109;p18"/>
          <p:cNvSpPr/>
          <p:nvPr/>
        </p:nvSpPr>
        <p:spPr>
          <a:xfrm>
            <a:off x="476250" y="228600"/>
            <a:ext cx="4721733"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Motivation: Why Optimize This?</a:t>
            </a:r>
            <a:endParaRPr b="0" i="0" sz="2400" u="none" cap="none" strike="noStrike">
              <a:solidFill>
                <a:schemeClr val="dk1"/>
              </a:solidFill>
              <a:latin typeface="Calibri"/>
              <a:ea typeface="Calibri"/>
              <a:cs typeface="Calibri"/>
              <a:sym typeface="Calibri"/>
            </a:endParaRPr>
          </a:p>
        </p:txBody>
      </p:sp>
      <p:sp>
        <p:nvSpPr>
          <p:cNvPr id="110" name="Google Shape;110;p18"/>
          <p:cNvSpPr/>
          <p:nvPr/>
        </p:nvSpPr>
        <p:spPr>
          <a:xfrm>
            <a:off x="476250" y="1132731"/>
            <a:ext cx="2603450" cy="2857202"/>
          </a:xfrm>
          <a:prstGeom prst="roundRect">
            <a:avLst>
              <a:gd fmla="val 3659"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11" name="Google Shape;111;p18"/>
          <p:cNvCxnSpPr/>
          <p:nvPr/>
        </p:nvCxnSpPr>
        <p:spPr>
          <a:xfrm>
            <a:off x="476250" y="1151781"/>
            <a:ext cx="2603450" cy="0"/>
          </a:xfrm>
          <a:prstGeom prst="straightConnector1">
            <a:avLst/>
          </a:prstGeom>
          <a:noFill/>
          <a:ln cap="flat" cmpd="sng" w="38100">
            <a:solidFill>
              <a:srgbClr val="2563EB"/>
            </a:solidFill>
            <a:prstDash val="solid"/>
            <a:round/>
            <a:headEnd len="sm" w="sm" type="none"/>
            <a:tailEnd len="sm" w="sm" type="none"/>
          </a:ln>
        </p:spPr>
      </p:cxnSp>
      <p:sp>
        <p:nvSpPr>
          <p:cNvPr id="112" name="Google Shape;112;p18"/>
          <p:cNvSpPr/>
          <p:nvPr/>
        </p:nvSpPr>
        <p:spPr>
          <a:xfrm>
            <a:off x="666750" y="2066181"/>
            <a:ext cx="2266899" cy="18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050"/>
              <a:buFont typeface="Arial"/>
              <a:buNone/>
            </a:pPr>
            <a:r>
              <a:rPr b="1" i="0" lang="zh-TW" sz="1250" u="none" cap="none" strike="noStrike">
                <a:solidFill>
                  <a:srgbClr val="2563EB"/>
                </a:solidFill>
                <a:latin typeface="Arial"/>
                <a:ea typeface="Arial"/>
                <a:cs typeface="Arial"/>
                <a:sym typeface="Arial"/>
              </a:rPr>
              <a:t>Speculative Decoding</a:t>
            </a:r>
            <a:endParaRPr b="0" i="0" sz="1250" u="none" cap="none" strike="noStrike">
              <a:solidFill>
                <a:schemeClr val="dk1"/>
              </a:solidFill>
              <a:latin typeface="Calibri"/>
              <a:ea typeface="Calibri"/>
              <a:cs typeface="Calibri"/>
              <a:sym typeface="Calibri"/>
            </a:endParaRPr>
          </a:p>
        </p:txBody>
      </p:sp>
      <p:sp>
        <p:nvSpPr>
          <p:cNvPr id="113" name="Google Shape;113;p18"/>
          <p:cNvSpPr/>
          <p:nvPr/>
        </p:nvSpPr>
        <p:spPr>
          <a:xfrm>
            <a:off x="644707" y="2410861"/>
            <a:ext cx="2266800" cy="396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Accelerates LLM inference by 2-3× using draft-then-verify approach</a:t>
            </a:r>
            <a:endParaRPr b="0" i="0" sz="1175" u="none" cap="none" strike="noStrike">
              <a:solidFill>
                <a:schemeClr val="dk1"/>
              </a:solidFill>
              <a:latin typeface="Calibri"/>
              <a:ea typeface="Calibri"/>
              <a:cs typeface="Calibri"/>
              <a:sym typeface="Calibri"/>
            </a:endParaRPr>
          </a:p>
        </p:txBody>
      </p:sp>
      <p:sp>
        <p:nvSpPr>
          <p:cNvPr id="114" name="Google Shape;114;p18"/>
          <p:cNvSpPr/>
          <p:nvPr/>
        </p:nvSpPr>
        <p:spPr>
          <a:xfrm>
            <a:off x="666750" y="3220492"/>
            <a:ext cx="2222450" cy="578941"/>
          </a:xfrm>
          <a:prstGeom prst="roundRect">
            <a:avLst>
              <a:gd fmla="val 9871"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5" name="Google Shape;115;p18"/>
          <p:cNvSpPr/>
          <p:nvPr/>
        </p:nvSpPr>
        <p:spPr>
          <a:xfrm>
            <a:off x="771525" y="3363367"/>
            <a:ext cx="2053158" cy="29319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225" u="none" cap="none" strike="noStrike">
                <a:solidFill>
                  <a:srgbClr val="64748B"/>
                </a:solidFill>
                <a:latin typeface="Arial"/>
                <a:ea typeface="Arial"/>
                <a:cs typeface="Arial"/>
                <a:sym typeface="Arial"/>
              </a:rPr>
              <a:t>Rejection sampling is the critical verification step</a:t>
            </a:r>
            <a:endParaRPr b="0" i="0" sz="1225" u="none" cap="none" strike="noStrike">
              <a:solidFill>
                <a:schemeClr val="dk1"/>
              </a:solidFill>
              <a:latin typeface="Calibri"/>
              <a:ea typeface="Calibri"/>
              <a:cs typeface="Calibri"/>
              <a:sym typeface="Calibri"/>
            </a:endParaRPr>
          </a:p>
        </p:txBody>
      </p:sp>
      <p:sp>
        <p:nvSpPr>
          <p:cNvPr id="116" name="Google Shape;116;p18"/>
          <p:cNvSpPr/>
          <p:nvPr/>
        </p:nvSpPr>
        <p:spPr>
          <a:xfrm>
            <a:off x="3270200" y="867817"/>
            <a:ext cx="2603450" cy="3387030"/>
          </a:xfrm>
          <a:prstGeom prst="roundRect">
            <a:avLst>
              <a:gd fmla="val 3659"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17" name="Google Shape;117;p18"/>
          <p:cNvCxnSpPr/>
          <p:nvPr/>
        </p:nvCxnSpPr>
        <p:spPr>
          <a:xfrm>
            <a:off x="3270200" y="886867"/>
            <a:ext cx="2603450" cy="0"/>
          </a:xfrm>
          <a:prstGeom prst="straightConnector1">
            <a:avLst/>
          </a:prstGeom>
          <a:noFill/>
          <a:ln cap="flat" cmpd="sng" w="38100">
            <a:solidFill>
              <a:srgbClr val="DC2626"/>
            </a:solidFill>
            <a:prstDash val="solid"/>
            <a:round/>
            <a:headEnd len="sm" w="sm" type="none"/>
            <a:tailEnd len="sm" w="sm" type="none"/>
          </a:ln>
        </p:spPr>
      </p:cxnSp>
      <p:sp>
        <p:nvSpPr>
          <p:cNvPr id="118" name="Google Shape;118;p18"/>
          <p:cNvSpPr/>
          <p:nvPr/>
        </p:nvSpPr>
        <p:spPr>
          <a:xfrm>
            <a:off x="3460700" y="1801267"/>
            <a:ext cx="2266899" cy="18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050"/>
              <a:buFont typeface="Arial"/>
              <a:buNone/>
            </a:pPr>
            <a:r>
              <a:rPr b="1" i="0" lang="zh-TW" sz="1250" u="none" cap="none" strike="noStrike">
                <a:solidFill>
                  <a:srgbClr val="DC2626"/>
                </a:solidFill>
                <a:latin typeface="Arial"/>
                <a:ea typeface="Arial"/>
                <a:cs typeface="Arial"/>
                <a:sym typeface="Arial"/>
              </a:rPr>
              <a:t>V1 Kernel Limitations</a:t>
            </a:r>
            <a:endParaRPr b="0" i="0" sz="1250" u="none" cap="none" strike="noStrike">
              <a:solidFill>
                <a:schemeClr val="dk1"/>
              </a:solidFill>
              <a:latin typeface="Calibri"/>
              <a:ea typeface="Calibri"/>
              <a:cs typeface="Calibri"/>
              <a:sym typeface="Calibri"/>
            </a:endParaRPr>
          </a:p>
        </p:txBody>
      </p:sp>
      <p:sp>
        <p:nvSpPr>
          <p:cNvPr id="119" name="Google Shape;119;p18"/>
          <p:cNvSpPr/>
          <p:nvPr/>
        </p:nvSpPr>
        <p:spPr>
          <a:xfrm>
            <a:off x="3460700" y="2273647"/>
            <a:ext cx="2266899"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Sequential argmax: O(vocab)</a:t>
            </a:r>
            <a:endParaRPr b="0" i="0" sz="1500" u="none" cap="none" strike="noStrike">
              <a:solidFill>
                <a:schemeClr val="dk1"/>
              </a:solidFill>
              <a:latin typeface="Calibri"/>
              <a:ea typeface="Calibri"/>
              <a:cs typeface="Calibri"/>
              <a:sym typeface="Calibri"/>
            </a:endParaRPr>
          </a:p>
        </p:txBody>
      </p:sp>
      <p:sp>
        <p:nvSpPr>
          <p:cNvPr id="120" name="Google Shape;120;p18"/>
          <p:cNvSpPr/>
          <p:nvPr/>
        </p:nvSpPr>
        <p:spPr>
          <a:xfrm>
            <a:off x="3460700" y="2883247"/>
            <a:ext cx="2266899"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Latency grows with vocab size</a:t>
            </a:r>
            <a:endParaRPr b="0" i="0" sz="1500" u="none" cap="none" strike="noStrike">
              <a:solidFill>
                <a:schemeClr val="dk1"/>
              </a:solidFill>
              <a:latin typeface="Calibri"/>
              <a:ea typeface="Calibri"/>
              <a:cs typeface="Calibri"/>
              <a:sym typeface="Calibri"/>
            </a:endParaRPr>
          </a:p>
        </p:txBody>
      </p:sp>
      <p:sp>
        <p:nvSpPr>
          <p:cNvPr id="121" name="Google Shape;121;p18"/>
          <p:cNvSpPr/>
          <p:nvPr/>
        </p:nvSpPr>
        <p:spPr>
          <a:xfrm>
            <a:off x="3460700" y="3492847"/>
            <a:ext cx="2266899"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Sometimes slower than Python!</a:t>
            </a:r>
            <a:endParaRPr b="0" i="0" sz="1500" u="none" cap="none" strike="noStrike">
              <a:solidFill>
                <a:schemeClr val="dk1"/>
              </a:solidFill>
              <a:latin typeface="Calibri"/>
              <a:ea typeface="Calibri"/>
              <a:cs typeface="Calibri"/>
              <a:sym typeface="Calibri"/>
            </a:endParaRPr>
          </a:p>
        </p:txBody>
      </p:sp>
      <p:sp>
        <p:nvSpPr>
          <p:cNvPr id="122" name="Google Shape;122;p18"/>
          <p:cNvSpPr/>
          <p:nvPr/>
        </p:nvSpPr>
        <p:spPr>
          <a:xfrm>
            <a:off x="6064151" y="1134517"/>
            <a:ext cx="2603450" cy="2853630"/>
          </a:xfrm>
          <a:prstGeom prst="roundRect">
            <a:avLst>
              <a:gd fmla="val 3659"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23" name="Google Shape;123;p18"/>
          <p:cNvCxnSpPr/>
          <p:nvPr/>
        </p:nvCxnSpPr>
        <p:spPr>
          <a:xfrm>
            <a:off x="6064151" y="1153567"/>
            <a:ext cx="2603450" cy="0"/>
          </a:xfrm>
          <a:prstGeom prst="straightConnector1">
            <a:avLst/>
          </a:prstGeom>
          <a:noFill/>
          <a:ln cap="flat" cmpd="sng" w="38100">
            <a:solidFill>
              <a:srgbClr val="16A34A"/>
            </a:solidFill>
            <a:prstDash val="solid"/>
            <a:round/>
            <a:headEnd len="sm" w="sm" type="none"/>
            <a:tailEnd len="sm" w="sm" type="none"/>
          </a:ln>
        </p:spPr>
      </p:cxnSp>
      <p:sp>
        <p:nvSpPr>
          <p:cNvPr id="124" name="Google Shape;124;p18"/>
          <p:cNvSpPr/>
          <p:nvPr/>
        </p:nvSpPr>
        <p:spPr>
          <a:xfrm>
            <a:off x="6254651" y="2067967"/>
            <a:ext cx="2266899" cy="1866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050"/>
              <a:buFont typeface="Arial"/>
              <a:buNone/>
            </a:pPr>
            <a:r>
              <a:rPr b="1" i="0" lang="zh-TW" sz="1250" u="none" cap="none" strike="noStrike">
                <a:solidFill>
                  <a:srgbClr val="16A34A"/>
                </a:solidFill>
                <a:latin typeface="Arial"/>
                <a:ea typeface="Arial"/>
                <a:cs typeface="Arial"/>
                <a:sym typeface="Arial"/>
              </a:rPr>
              <a:t>Optimization Goals</a:t>
            </a:r>
            <a:endParaRPr b="0" i="0" sz="1250" u="none" cap="none" strike="noStrike">
              <a:solidFill>
                <a:schemeClr val="dk1"/>
              </a:solidFill>
              <a:latin typeface="Calibri"/>
              <a:ea typeface="Calibri"/>
              <a:cs typeface="Calibri"/>
              <a:sym typeface="Calibri"/>
            </a:endParaRPr>
          </a:p>
        </p:txBody>
      </p:sp>
      <p:sp>
        <p:nvSpPr>
          <p:cNvPr id="125" name="Google Shape;125;p18"/>
          <p:cNvSpPr/>
          <p:nvPr/>
        </p:nvSpPr>
        <p:spPr>
          <a:xfrm>
            <a:off x="6254651" y="2540347"/>
            <a:ext cx="2266899"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Target: &lt;0.1ms latency</a:t>
            </a:r>
            <a:endParaRPr b="0" i="0" sz="1500" u="none" cap="none" strike="noStrike">
              <a:solidFill>
                <a:schemeClr val="dk1"/>
              </a:solidFill>
              <a:latin typeface="Calibri"/>
              <a:ea typeface="Calibri"/>
              <a:cs typeface="Calibri"/>
              <a:sym typeface="Calibri"/>
            </a:endParaRPr>
          </a:p>
        </p:txBody>
      </p:sp>
      <p:sp>
        <p:nvSpPr>
          <p:cNvPr id="126" name="Google Shape;126;p18"/>
          <p:cNvSpPr/>
          <p:nvPr/>
        </p:nvSpPr>
        <p:spPr>
          <a:xfrm>
            <a:off x="6254651" y="2883247"/>
            <a:ext cx="2266899"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Scale: O(vocab/threads)</a:t>
            </a:r>
            <a:endParaRPr b="0" i="0" sz="1500" u="none" cap="none" strike="noStrike">
              <a:solidFill>
                <a:schemeClr val="dk1"/>
              </a:solidFill>
              <a:latin typeface="Calibri"/>
              <a:ea typeface="Calibri"/>
              <a:cs typeface="Calibri"/>
              <a:sym typeface="Calibri"/>
            </a:endParaRPr>
          </a:p>
        </p:txBody>
      </p:sp>
      <p:sp>
        <p:nvSpPr>
          <p:cNvPr id="127" name="Google Shape;127;p18"/>
          <p:cNvSpPr/>
          <p:nvPr/>
        </p:nvSpPr>
        <p:spPr>
          <a:xfrm>
            <a:off x="6254651" y="3226147"/>
            <a:ext cx="2266899" cy="53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500" u="none" cap="none" strike="noStrike">
                <a:solidFill>
                  <a:srgbClr val="1A1A2E"/>
                </a:solidFill>
                <a:latin typeface="Arial"/>
                <a:ea typeface="Arial"/>
                <a:cs typeface="Arial"/>
                <a:sym typeface="Arial"/>
              </a:rPr>
              <a:t>Correctness: Match baseline</a:t>
            </a:r>
            <a:endParaRPr b="0" i="0" sz="1500" u="none" cap="none" strike="noStrike">
              <a:solidFill>
                <a:schemeClr val="dk1"/>
              </a:solidFill>
              <a:latin typeface="Calibri"/>
              <a:ea typeface="Calibri"/>
              <a:cs typeface="Calibri"/>
              <a:sym typeface="Calibri"/>
            </a:endParaRPr>
          </a:p>
        </p:txBody>
      </p:sp>
      <p:sp>
        <p:nvSpPr>
          <p:cNvPr id="128" name="Google Shape;128;p18"/>
          <p:cNvSpPr/>
          <p:nvPr/>
        </p:nvSpPr>
        <p:spPr>
          <a:xfrm>
            <a:off x="476250" y="4436864"/>
            <a:ext cx="8191500" cy="516136"/>
          </a:xfrm>
          <a:prstGeom prst="roundRect">
            <a:avLst>
              <a:gd fmla="val 14764" name="adj"/>
            </a:avLst>
          </a:prstGeom>
          <a:solidFill>
            <a:srgbClr val="F1F5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9" name="Google Shape;129;p18"/>
          <p:cNvSpPr/>
          <p:nvPr/>
        </p:nvSpPr>
        <p:spPr>
          <a:xfrm>
            <a:off x="771522" y="4608327"/>
            <a:ext cx="2482200" cy="186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Achieved: ~0.03ms stable latency</a:t>
            </a:r>
            <a:endParaRPr b="0" i="0" sz="1175" u="none" cap="none" strike="noStrike">
              <a:solidFill>
                <a:schemeClr val="dk1"/>
              </a:solidFill>
              <a:latin typeface="Calibri"/>
              <a:ea typeface="Calibri"/>
              <a:cs typeface="Calibri"/>
              <a:sym typeface="Calibri"/>
            </a:endParaRPr>
          </a:p>
        </p:txBody>
      </p:sp>
      <p:sp>
        <p:nvSpPr>
          <p:cNvPr id="130" name="Google Shape;130;p18"/>
          <p:cNvSpPr/>
          <p:nvPr/>
        </p:nvSpPr>
        <p:spPr>
          <a:xfrm>
            <a:off x="3523700" y="4608323"/>
            <a:ext cx="2482200" cy="396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Parallel reduction with 256 threads</a:t>
            </a:r>
            <a:endParaRPr b="0" i="0" sz="1175" u="none" cap="none" strike="noStrike">
              <a:solidFill>
                <a:schemeClr val="dk1"/>
              </a:solidFill>
              <a:latin typeface="Calibri"/>
              <a:ea typeface="Calibri"/>
              <a:cs typeface="Calibri"/>
              <a:sym typeface="Calibri"/>
            </a:endParaRPr>
          </a:p>
        </p:txBody>
      </p:sp>
      <p:sp>
        <p:nvSpPr>
          <p:cNvPr id="131" name="Google Shape;131;p18"/>
          <p:cNvSpPr/>
          <p:nvPr/>
        </p:nvSpPr>
        <p:spPr>
          <a:xfrm>
            <a:off x="6202775" y="4608322"/>
            <a:ext cx="2378100" cy="396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Verified with 1000+ test cases</a:t>
            </a:r>
            <a:endParaRPr b="0" i="0" sz="1175"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sp>
        <p:nvSpPr>
          <p:cNvPr id="137" name="Google Shape;137;p19"/>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8" name="Google Shape;138;p19"/>
          <p:cNvSpPr/>
          <p:nvPr/>
        </p:nvSpPr>
        <p:spPr>
          <a:xfrm>
            <a:off x="476250" y="228600"/>
            <a:ext cx="4333113"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Background: Key Concepts</a:t>
            </a:r>
            <a:endParaRPr b="0" i="0" sz="2400" u="none" cap="none" strike="noStrike">
              <a:solidFill>
                <a:schemeClr val="dk1"/>
              </a:solidFill>
              <a:latin typeface="Calibri"/>
              <a:ea typeface="Calibri"/>
              <a:cs typeface="Calibri"/>
              <a:sym typeface="Calibri"/>
            </a:endParaRPr>
          </a:p>
        </p:txBody>
      </p:sp>
      <p:sp>
        <p:nvSpPr>
          <p:cNvPr id="139" name="Google Shape;139;p19"/>
          <p:cNvSpPr/>
          <p:nvPr/>
        </p:nvSpPr>
        <p:spPr>
          <a:xfrm>
            <a:off x="476250" y="1361480"/>
            <a:ext cx="4254478"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75"/>
              <a:buFont typeface="Arial"/>
              <a:buNone/>
            </a:pPr>
            <a:r>
              <a:rPr b="1" i="0" lang="zh-TW" sz="1275" u="none" cap="none" strike="noStrike">
                <a:solidFill>
                  <a:srgbClr val="2563EB"/>
                </a:solidFill>
                <a:latin typeface="Arial"/>
                <a:ea typeface="Arial"/>
                <a:cs typeface="Arial"/>
                <a:sym typeface="Arial"/>
              </a:rPr>
              <a:t>SPECULATIVE DECODING FLOW</a:t>
            </a:r>
            <a:endParaRPr b="0" i="0" sz="1275" u="none" cap="none" strike="noStrike">
              <a:solidFill>
                <a:schemeClr val="dk1"/>
              </a:solidFill>
              <a:latin typeface="Calibri"/>
              <a:ea typeface="Calibri"/>
              <a:cs typeface="Calibri"/>
              <a:sym typeface="Calibri"/>
            </a:endParaRPr>
          </a:p>
        </p:txBody>
      </p:sp>
      <p:sp>
        <p:nvSpPr>
          <p:cNvPr id="140" name="Google Shape;140;p19"/>
          <p:cNvSpPr/>
          <p:nvPr/>
        </p:nvSpPr>
        <p:spPr>
          <a:xfrm>
            <a:off x="476250" y="1687116"/>
            <a:ext cx="3904357" cy="638026"/>
          </a:xfrm>
          <a:prstGeom prst="roundRect">
            <a:avLst>
              <a:gd fmla="val 8957"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1" name="Google Shape;141;p19"/>
          <p:cNvCxnSpPr/>
          <p:nvPr/>
        </p:nvCxnSpPr>
        <p:spPr>
          <a:xfrm>
            <a:off x="490538" y="1687116"/>
            <a:ext cx="0" cy="638026"/>
          </a:xfrm>
          <a:prstGeom prst="straightConnector1">
            <a:avLst/>
          </a:prstGeom>
          <a:noFill/>
          <a:ln cap="flat" cmpd="sng" w="28575">
            <a:solidFill>
              <a:srgbClr val="2563EB"/>
            </a:solidFill>
            <a:prstDash val="solid"/>
            <a:round/>
            <a:headEnd len="sm" w="sm" type="none"/>
            <a:tailEnd len="sm" w="sm" type="none"/>
          </a:ln>
        </p:spPr>
      </p:cxnSp>
      <p:sp>
        <p:nvSpPr>
          <p:cNvPr id="142" name="Google Shape;142;p19"/>
          <p:cNvSpPr/>
          <p:nvPr/>
        </p:nvSpPr>
        <p:spPr>
          <a:xfrm>
            <a:off x="638175" y="1820466"/>
            <a:ext cx="3681264"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100" u="none" cap="none" strike="noStrike">
                <a:solidFill>
                  <a:srgbClr val="64748B"/>
                </a:solidFill>
                <a:latin typeface="Arial"/>
                <a:ea typeface="Arial"/>
                <a:cs typeface="Arial"/>
                <a:sym typeface="Arial"/>
              </a:rPr>
              <a:t>Step 1</a:t>
            </a:r>
            <a:endParaRPr b="0" i="0" sz="1100" u="none" cap="none" strike="noStrike">
              <a:solidFill>
                <a:schemeClr val="dk1"/>
              </a:solidFill>
              <a:latin typeface="Calibri"/>
              <a:ea typeface="Calibri"/>
              <a:cs typeface="Calibri"/>
              <a:sym typeface="Calibri"/>
            </a:endParaRPr>
          </a:p>
        </p:txBody>
      </p:sp>
      <p:sp>
        <p:nvSpPr>
          <p:cNvPr id="143" name="Google Shape;143;p19"/>
          <p:cNvSpPr/>
          <p:nvPr/>
        </p:nvSpPr>
        <p:spPr>
          <a:xfrm>
            <a:off x="638175" y="2018556"/>
            <a:ext cx="3681264"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Draft model generates K tokens</a:t>
            </a:r>
            <a:endParaRPr b="0" i="0" sz="1175" u="none" cap="none" strike="noStrike">
              <a:solidFill>
                <a:schemeClr val="dk1"/>
              </a:solidFill>
              <a:latin typeface="Calibri"/>
              <a:ea typeface="Calibri"/>
              <a:cs typeface="Calibri"/>
              <a:sym typeface="Calibri"/>
            </a:endParaRPr>
          </a:p>
        </p:txBody>
      </p:sp>
      <p:sp>
        <p:nvSpPr>
          <p:cNvPr id="144" name="Google Shape;144;p19"/>
          <p:cNvSpPr/>
          <p:nvPr/>
        </p:nvSpPr>
        <p:spPr>
          <a:xfrm>
            <a:off x="476250" y="2401342"/>
            <a:ext cx="3904357" cy="638026"/>
          </a:xfrm>
          <a:prstGeom prst="roundRect">
            <a:avLst>
              <a:gd fmla="val 8957"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5" name="Google Shape;145;p19"/>
          <p:cNvCxnSpPr/>
          <p:nvPr/>
        </p:nvCxnSpPr>
        <p:spPr>
          <a:xfrm>
            <a:off x="490538" y="2401342"/>
            <a:ext cx="0" cy="638026"/>
          </a:xfrm>
          <a:prstGeom prst="straightConnector1">
            <a:avLst/>
          </a:prstGeom>
          <a:noFill/>
          <a:ln cap="flat" cmpd="sng" w="28575">
            <a:solidFill>
              <a:srgbClr val="2563EB"/>
            </a:solidFill>
            <a:prstDash val="solid"/>
            <a:round/>
            <a:headEnd len="sm" w="sm" type="none"/>
            <a:tailEnd len="sm" w="sm" type="none"/>
          </a:ln>
        </p:spPr>
      </p:cxnSp>
      <p:sp>
        <p:nvSpPr>
          <p:cNvPr id="146" name="Google Shape;146;p19"/>
          <p:cNvSpPr/>
          <p:nvPr/>
        </p:nvSpPr>
        <p:spPr>
          <a:xfrm>
            <a:off x="638175" y="2534692"/>
            <a:ext cx="3681264"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100" u="none" cap="none" strike="noStrike">
                <a:solidFill>
                  <a:srgbClr val="64748B"/>
                </a:solidFill>
                <a:latin typeface="Arial"/>
                <a:ea typeface="Arial"/>
                <a:cs typeface="Arial"/>
                <a:sym typeface="Arial"/>
              </a:rPr>
              <a:t>Step 2</a:t>
            </a:r>
            <a:endParaRPr b="0" i="0" sz="1100" u="none" cap="none" strike="noStrike">
              <a:solidFill>
                <a:schemeClr val="dk1"/>
              </a:solidFill>
              <a:latin typeface="Calibri"/>
              <a:ea typeface="Calibri"/>
              <a:cs typeface="Calibri"/>
              <a:sym typeface="Calibri"/>
            </a:endParaRPr>
          </a:p>
        </p:txBody>
      </p:sp>
      <p:sp>
        <p:nvSpPr>
          <p:cNvPr id="147" name="Google Shape;147;p19"/>
          <p:cNvSpPr/>
          <p:nvPr/>
        </p:nvSpPr>
        <p:spPr>
          <a:xfrm>
            <a:off x="638175" y="2732782"/>
            <a:ext cx="3681264"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Target model verifies in parallel</a:t>
            </a:r>
            <a:endParaRPr b="0" i="0" sz="1175" u="none" cap="none" strike="noStrike">
              <a:solidFill>
                <a:schemeClr val="dk1"/>
              </a:solidFill>
              <a:latin typeface="Calibri"/>
              <a:ea typeface="Calibri"/>
              <a:cs typeface="Calibri"/>
              <a:sym typeface="Calibri"/>
            </a:endParaRPr>
          </a:p>
        </p:txBody>
      </p:sp>
      <p:sp>
        <p:nvSpPr>
          <p:cNvPr id="148" name="Google Shape;148;p19"/>
          <p:cNvSpPr/>
          <p:nvPr/>
        </p:nvSpPr>
        <p:spPr>
          <a:xfrm>
            <a:off x="476250" y="3115568"/>
            <a:ext cx="3922068" cy="638026"/>
          </a:xfrm>
          <a:prstGeom prst="roundRect">
            <a:avLst>
              <a:gd fmla="val 8957" name="adj"/>
            </a:avLst>
          </a:prstGeom>
          <a:solidFill>
            <a:srgbClr val="FEF2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49" name="Google Shape;149;p19"/>
          <p:cNvCxnSpPr/>
          <p:nvPr/>
        </p:nvCxnSpPr>
        <p:spPr>
          <a:xfrm>
            <a:off x="490538" y="3115568"/>
            <a:ext cx="0" cy="638026"/>
          </a:xfrm>
          <a:prstGeom prst="straightConnector1">
            <a:avLst/>
          </a:prstGeom>
          <a:noFill/>
          <a:ln cap="flat" cmpd="sng" w="28575">
            <a:solidFill>
              <a:srgbClr val="DC2626"/>
            </a:solidFill>
            <a:prstDash val="solid"/>
            <a:round/>
            <a:headEnd len="sm" w="sm" type="none"/>
            <a:tailEnd len="sm" w="sm" type="none"/>
          </a:ln>
        </p:spPr>
      </p:cxnSp>
      <p:sp>
        <p:nvSpPr>
          <p:cNvPr id="150" name="Google Shape;150;p19"/>
          <p:cNvSpPr/>
          <p:nvPr/>
        </p:nvSpPr>
        <p:spPr>
          <a:xfrm>
            <a:off x="638175" y="3248918"/>
            <a:ext cx="3699328"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0" i="0" lang="zh-TW" sz="1100" u="none" cap="none" strike="noStrike">
                <a:solidFill>
                  <a:srgbClr val="DC2626"/>
                </a:solidFill>
                <a:latin typeface="Arial"/>
                <a:ea typeface="Arial"/>
                <a:cs typeface="Arial"/>
                <a:sym typeface="Arial"/>
              </a:rPr>
              <a:t>Step 3 — OUR FOCUS</a:t>
            </a:r>
            <a:endParaRPr b="0" i="0" sz="1100" u="none" cap="none" strike="noStrike">
              <a:solidFill>
                <a:schemeClr val="dk1"/>
              </a:solidFill>
              <a:latin typeface="Calibri"/>
              <a:ea typeface="Calibri"/>
              <a:cs typeface="Calibri"/>
              <a:sym typeface="Calibri"/>
            </a:endParaRPr>
          </a:p>
        </p:txBody>
      </p:sp>
      <p:sp>
        <p:nvSpPr>
          <p:cNvPr id="151" name="Google Shape;151;p19"/>
          <p:cNvSpPr/>
          <p:nvPr/>
        </p:nvSpPr>
        <p:spPr>
          <a:xfrm>
            <a:off x="638175" y="3447008"/>
            <a:ext cx="3699328"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Rejection sampling decides accept/reject</a:t>
            </a:r>
            <a:endParaRPr b="0" i="0" sz="1175" u="none" cap="none" strike="noStrike">
              <a:solidFill>
                <a:schemeClr val="dk1"/>
              </a:solidFill>
              <a:latin typeface="Calibri"/>
              <a:ea typeface="Calibri"/>
              <a:cs typeface="Calibri"/>
              <a:sym typeface="Calibri"/>
            </a:endParaRPr>
          </a:p>
        </p:txBody>
      </p:sp>
      <p:sp>
        <p:nvSpPr>
          <p:cNvPr id="152" name="Google Shape;152;p19"/>
          <p:cNvSpPr/>
          <p:nvPr/>
        </p:nvSpPr>
        <p:spPr>
          <a:xfrm>
            <a:off x="476250" y="3829794"/>
            <a:ext cx="4171057" cy="638026"/>
          </a:xfrm>
          <a:prstGeom prst="roundRect">
            <a:avLst>
              <a:gd fmla="val 8957"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53" name="Google Shape;153;p19"/>
          <p:cNvCxnSpPr/>
          <p:nvPr/>
        </p:nvCxnSpPr>
        <p:spPr>
          <a:xfrm>
            <a:off x="490538" y="3829794"/>
            <a:ext cx="0" cy="638026"/>
          </a:xfrm>
          <a:prstGeom prst="straightConnector1">
            <a:avLst/>
          </a:prstGeom>
          <a:noFill/>
          <a:ln cap="flat" cmpd="sng" w="28575">
            <a:solidFill>
              <a:srgbClr val="2563EB"/>
            </a:solidFill>
            <a:prstDash val="solid"/>
            <a:round/>
            <a:headEnd len="sm" w="sm" type="none"/>
            <a:tailEnd len="sm" w="sm" type="none"/>
          </a:ln>
        </p:spPr>
      </p:cxnSp>
      <p:sp>
        <p:nvSpPr>
          <p:cNvPr id="154" name="Google Shape;154;p19"/>
          <p:cNvSpPr/>
          <p:nvPr/>
        </p:nvSpPr>
        <p:spPr>
          <a:xfrm>
            <a:off x="638175" y="3963144"/>
            <a:ext cx="3953298"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100" u="none" cap="none" strike="noStrike">
                <a:solidFill>
                  <a:srgbClr val="64748B"/>
                </a:solidFill>
                <a:latin typeface="Arial"/>
                <a:ea typeface="Arial"/>
                <a:cs typeface="Arial"/>
                <a:sym typeface="Arial"/>
              </a:rPr>
              <a:t>Step 4</a:t>
            </a:r>
            <a:endParaRPr b="0" i="0" sz="1100" u="none" cap="none" strike="noStrike">
              <a:solidFill>
                <a:schemeClr val="dk1"/>
              </a:solidFill>
              <a:latin typeface="Calibri"/>
              <a:ea typeface="Calibri"/>
              <a:cs typeface="Calibri"/>
              <a:sym typeface="Calibri"/>
            </a:endParaRPr>
          </a:p>
        </p:txBody>
      </p:sp>
      <p:sp>
        <p:nvSpPr>
          <p:cNvPr id="155" name="Google Shape;155;p19"/>
          <p:cNvSpPr/>
          <p:nvPr/>
        </p:nvSpPr>
        <p:spPr>
          <a:xfrm>
            <a:off x="638175" y="4161234"/>
            <a:ext cx="3953298"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0" i="0" lang="zh-TW" sz="1175" u="none" cap="none" strike="noStrike">
                <a:solidFill>
                  <a:srgbClr val="1A1A2E"/>
                </a:solidFill>
                <a:latin typeface="Arial"/>
                <a:ea typeface="Arial"/>
                <a:cs typeface="Arial"/>
                <a:sym typeface="Arial"/>
              </a:rPr>
              <a:t>Recovery sample or bonus token</a:t>
            </a:r>
            <a:endParaRPr b="0" i="0" sz="1175" u="none" cap="none" strike="noStrike">
              <a:solidFill>
                <a:schemeClr val="dk1"/>
              </a:solidFill>
              <a:latin typeface="Calibri"/>
              <a:ea typeface="Calibri"/>
              <a:cs typeface="Calibri"/>
              <a:sym typeface="Calibri"/>
            </a:endParaRPr>
          </a:p>
        </p:txBody>
      </p:sp>
      <p:sp>
        <p:nvSpPr>
          <p:cNvPr id="156" name="Google Shape;156;p19"/>
          <p:cNvSpPr/>
          <p:nvPr/>
        </p:nvSpPr>
        <p:spPr>
          <a:xfrm>
            <a:off x="4875907" y="1025128"/>
            <a:ext cx="3867680" cy="17323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75"/>
              <a:buFont typeface="Arial"/>
              <a:buNone/>
            </a:pPr>
            <a:r>
              <a:rPr b="1" i="0" lang="zh-TW" sz="1275" u="none" cap="none" strike="noStrike">
                <a:solidFill>
                  <a:srgbClr val="2563EB"/>
                </a:solidFill>
                <a:latin typeface="Arial"/>
                <a:ea typeface="Arial"/>
                <a:cs typeface="Arial"/>
                <a:sym typeface="Arial"/>
              </a:rPr>
              <a:t>CUDA OPTIMIZATION APPROACH</a:t>
            </a:r>
            <a:endParaRPr b="0" i="0" sz="1275" u="none" cap="none" strike="noStrike">
              <a:solidFill>
                <a:schemeClr val="dk1"/>
              </a:solidFill>
              <a:latin typeface="Calibri"/>
              <a:ea typeface="Calibri"/>
              <a:cs typeface="Calibri"/>
              <a:sym typeface="Calibri"/>
            </a:endParaRPr>
          </a:p>
        </p:txBody>
      </p:sp>
      <p:sp>
        <p:nvSpPr>
          <p:cNvPr id="157" name="Google Shape;157;p19"/>
          <p:cNvSpPr/>
          <p:nvPr/>
        </p:nvSpPr>
        <p:spPr>
          <a:xfrm>
            <a:off x="4875907" y="1350764"/>
            <a:ext cx="3791843" cy="1481882"/>
          </a:xfrm>
          <a:prstGeom prst="roundRect">
            <a:avLst>
              <a:gd fmla="val 5142"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8" name="Google Shape;158;p19"/>
          <p:cNvSpPr/>
          <p:nvPr/>
        </p:nvSpPr>
        <p:spPr>
          <a:xfrm>
            <a:off x="5009257" y="1522214"/>
            <a:ext cx="3595646"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1" i="0" lang="zh-TW" sz="1200" u="none" cap="none" strike="noStrike">
                <a:solidFill>
                  <a:srgbClr val="DC2626"/>
                </a:solidFill>
                <a:latin typeface="Arial"/>
                <a:ea typeface="Arial"/>
                <a:cs typeface="Arial"/>
                <a:sym typeface="Arial"/>
              </a:rPr>
              <a:t>Warp-Level Primitives</a:t>
            </a:r>
            <a:endParaRPr b="0" i="0" sz="1200" u="none" cap="none" strike="noStrike">
              <a:solidFill>
                <a:schemeClr val="dk1"/>
              </a:solidFill>
              <a:latin typeface="Calibri"/>
              <a:ea typeface="Calibri"/>
              <a:cs typeface="Calibri"/>
              <a:sym typeface="Calibri"/>
            </a:endParaRPr>
          </a:p>
        </p:txBody>
      </p:sp>
      <p:sp>
        <p:nvSpPr>
          <p:cNvPr id="159" name="Google Shape;159;p19"/>
          <p:cNvSpPr/>
          <p:nvPr/>
        </p:nvSpPr>
        <p:spPr>
          <a:xfrm>
            <a:off x="5009257" y="1758404"/>
            <a:ext cx="3525143" cy="533400"/>
          </a:xfrm>
          <a:prstGeom prst="roundRect">
            <a:avLst>
              <a:gd fmla="val 7143" name="adj"/>
            </a:avLst>
          </a:prstGeom>
          <a:solidFill>
            <a:srgbClr val="1E293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0" name="Google Shape;160;p19"/>
          <p:cNvSpPr/>
          <p:nvPr/>
        </p:nvSpPr>
        <p:spPr>
          <a:xfrm>
            <a:off x="5104507" y="1891754"/>
            <a:ext cx="340133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2E8F0"/>
              </a:buClr>
              <a:buSzPts val="1500"/>
              <a:buFont typeface="Arial"/>
              <a:buNone/>
            </a:pPr>
            <a:r>
              <a:rPr b="0" i="0" lang="zh-TW" sz="1500" u="none" cap="none" strike="noStrike">
                <a:solidFill>
                  <a:srgbClr val="E2E8F0"/>
                </a:solidFill>
                <a:latin typeface="Arial"/>
                <a:ea typeface="Arial"/>
                <a:cs typeface="Arial"/>
                <a:sym typeface="Arial"/>
              </a:rPr>
              <a:t>__shfl_down_sync(mask, val, delta)</a:t>
            </a:r>
            <a:endParaRPr b="0" i="0" sz="1500" u="none" cap="none" strike="noStrike">
              <a:solidFill>
                <a:schemeClr val="dk1"/>
              </a:solidFill>
              <a:latin typeface="Calibri"/>
              <a:ea typeface="Calibri"/>
              <a:cs typeface="Calibri"/>
              <a:sym typeface="Calibri"/>
            </a:endParaRPr>
          </a:p>
        </p:txBody>
      </p:sp>
      <p:sp>
        <p:nvSpPr>
          <p:cNvPr id="161" name="Google Shape;161;p19"/>
          <p:cNvSpPr/>
          <p:nvPr/>
        </p:nvSpPr>
        <p:spPr>
          <a:xfrm>
            <a:off x="5009257" y="2368004"/>
            <a:ext cx="3595646" cy="29319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125" u="none" cap="none" strike="noStrike">
                <a:solidFill>
                  <a:srgbClr val="64748B"/>
                </a:solidFill>
                <a:latin typeface="Arial"/>
                <a:ea typeface="Arial"/>
                <a:cs typeface="Arial"/>
                <a:sym typeface="Arial"/>
              </a:rPr>
              <a:t>Register-level shuffle within warp</a:t>
            </a:r>
            <a:endParaRPr b="0" i="0" sz="1125" u="none" cap="none" strike="noStrike">
              <a:solidFill>
                <a:schemeClr val="dk1"/>
              </a:solidFill>
              <a:latin typeface="Calibri"/>
              <a:ea typeface="Calibri"/>
              <a:cs typeface="Calibri"/>
              <a:sym typeface="Calibri"/>
            </a:endParaRPr>
          </a:p>
          <a:p>
            <a:pPr indent="0" lvl="0" marL="0" marR="0" rtl="0" algn="l">
              <a:lnSpc>
                <a:spcPct val="140000"/>
              </a:lnSpc>
              <a:spcBef>
                <a:spcPts val="900"/>
              </a:spcBef>
              <a:spcAft>
                <a:spcPts val="0"/>
              </a:spcAft>
              <a:buClr>
                <a:srgbClr val="64748B"/>
              </a:buClr>
              <a:buSzPts val="825"/>
              <a:buFont typeface="Arial"/>
              <a:buNone/>
            </a:pPr>
            <a:r>
              <a:rPr b="0" i="0" lang="zh-TW" sz="1125" u="none" cap="none" strike="noStrike">
                <a:solidFill>
                  <a:srgbClr val="64748B"/>
                </a:solidFill>
                <a:latin typeface="Arial"/>
                <a:ea typeface="Arial"/>
                <a:cs typeface="Arial"/>
                <a:sym typeface="Arial"/>
              </a:rPr>
              <a:t>Avoids shared memory latency</a:t>
            </a:r>
            <a:endParaRPr b="0" i="0" sz="1125" u="none" cap="none" strike="noStrike">
              <a:solidFill>
                <a:schemeClr val="dk1"/>
              </a:solidFill>
              <a:latin typeface="Calibri"/>
              <a:ea typeface="Calibri"/>
              <a:cs typeface="Calibri"/>
              <a:sym typeface="Calibri"/>
            </a:endParaRPr>
          </a:p>
        </p:txBody>
      </p:sp>
      <p:sp>
        <p:nvSpPr>
          <p:cNvPr id="162" name="Google Shape;162;p19"/>
          <p:cNvSpPr/>
          <p:nvPr/>
        </p:nvSpPr>
        <p:spPr>
          <a:xfrm>
            <a:off x="4899475" y="3039365"/>
            <a:ext cx="3791700" cy="1295100"/>
          </a:xfrm>
          <a:prstGeom prst="roundRect">
            <a:avLst>
              <a:gd fmla="val 11398" name="adj"/>
            </a:avLst>
          </a:prstGeom>
          <a:solidFill>
            <a:srgbClr val="DCFCE7"/>
          </a:solidFill>
          <a:ln cap="flat" cmpd="sng" w="9525">
            <a:solidFill>
              <a:srgbClr val="16A3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3" name="Google Shape;163;p19"/>
          <p:cNvSpPr/>
          <p:nvPr/>
        </p:nvSpPr>
        <p:spPr>
          <a:xfrm>
            <a:off x="4964332" y="3453686"/>
            <a:ext cx="36150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 Key: 256 threads parallel argmax</a:t>
            </a:r>
            <a:endParaRPr b="0" i="0" sz="1300" u="none" cap="none" strike="noStrike">
              <a:solidFill>
                <a:schemeClr val="dk1"/>
              </a:solidFill>
              <a:latin typeface="Calibri"/>
              <a:ea typeface="Calibri"/>
              <a:cs typeface="Calibri"/>
              <a:sym typeface="Calibri"/>
            </a:endParaRPr>
          </a:p>
        </p:txBody>
      </p:sp>
      <p:sp>
        <p:nvSpPr>
          <p:cNvPr id="164" name="Google Shape;164;p19"/>
          <p:cNvSpPr/>
          <p:nvPr/>
        </p:nvSpPr>
        <p:spPr>
          <a:xfrm>
            <a:off x="5133580" y="3729851"/>
            <a:ext cx="3615000" cy="14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225" u="none" cap="none" strike="noStrike">
                <a:solidFill>
                  <a:srgbClr val="64748B"/>
                </a:solidFill>
                <a:latin typeface="Arial"/>
                <a:ea typeface="Arial"/>
                <a:cs typeface="Arial"/>
                <a:sym typeface="Arial"/>
              </a:rPr>
              <a:t>Each thread processes vocab_size/256 elements</a:t>
            </a:r>
            <a:endParaRPr b="0" i="0" sz="1225"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20"/>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1" name="Google Shape;171;p20"/>
          <p:cNvSpPr/>
          <p:nvPr/>
        </p:nvSpPr>
        <p:spPr>
          <a:xfrm>
            <a:off x="476250" y="228600"/>
            <a:ext cx="5314379" cy="2857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250"/>
              <a:buFont typeface="Arial"/>
              <a:buNone/>
            </a:pPr>
            <a:r>
              <a:rPr b="1" i="0" lang="zh-TW" sz="2250" u="none" cap="none" strike="noStrike">
                <a:solidFill>
                  <a:srgbClr val="1A1A2E"/>
                </a:solidFill>
                <a:latin typeface="Arial"/>
                <a:ea typeface="Arial"/>
                <a:cs typeface="Arial"/>
                <a:sym typeface="Arial"/>
              </a:rPr>
              <a:t>V2 Kernel: Parallel Reduction Strategy</a:t>
            </a:r>
            <a:endParaRPr b="0" i="0" sz="2250" u="none" cap="none" strike="noStrike">
              <a:solidFill>
                <a:schemeClr val="dk1"/>
              </a:solidFill>
              <a:latin typeface="Calibri"/>
              <a:ea typeface="Calibri"/>
              <a:cs typeface="Calibri"/>
              <a:sym typeface="Calibri"/>
            </a:endParaRPr>
          </a:p>
        </p:txBody>
      </p:sp>
      <p:sp>
        <p:nvSpPr>
          <p:cNvPr id="172" name="Google Shape;172;p20"/>
          <p:cNvSpPr/>
          <p:nvPr/>
        </p:nvSpPr>
        <p:spPr>
          <a:xfrm>
            <a:off x="476250" y="769739"/>
            <a:ext cx="4191000" cy="1621036"/>
          </a:xfrm>
          <a:prstGeom prst="roundRect">
            <a:avLst>
              <a:gd fmla="val 4701"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173" name="Google Shape;173;p20"/>
          <p:cNvCxnSpPr/>
          <p:nvPr/>
        </p:nvCxnSpPr>
        <p:spPr>
          <a:xfrm>
            <a:off x="495300" y="769739"/>
            <a:ext cx="0" cy="1621036"/>
          </a:xfrm>
          <a:prstGeom prst="straightConnector1">
            <a:avLst/>
          </a:prstGeom>
          <a:noFill/>
          <a:ln cap="flat" cmpd="sng" w="38100">
            <a:solidFill>
              <a:srgbClr val="DC2626"/>
            </a:solidFill>
            <a:prstDash val="solid"/>
            <a:round/>
            <a:headEnd len="sm" w="sm" type="none"/>
            <a:tailEnd len="sm" w="sm" type="none"/>
          </a:ln>
        </p:spPr>
      </p:cxnSp>
      <p:sp>
        <p:nvSpPr>
          <p:cNvPr id="174" name="Google Shape;174;p20"/>
          <p:cNvSpPr/>
          <p:nvPr/>
        </p:nvSpPr>
        <p:spPr>
          <a:xfrm>
            <a:off x="647700" y="941213"/>
            <a:ext cx="2018700" cy="401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75"/>
              <a:buFont typeface="Arial"/>
              <a:buNone/>
            </a:pPr>
            <a:r>
              <a:rPr b="1" i="0" lang="zh-TW" sz="1275" u="none" cap="none" strike="noStrike">
                <a:solidFill>
                  <a:srgbClr val="DC2626"/>
                </a:solidFill>
                <a:latin typeface="Arial"/>
                <a:ea typeface="Arial"/>
                <a:cs typeface="Arial"/>
                <a:sym typeface="Arial"/>
              </a:rPr>
              <a:t>V1: Sequential</a:t>
            </a:r>
            <a:endParaRPr b="0" i="0" sz="1275" u="none" cap="none" strike="noStrike">
              <a:solidFill>
                <a:schemeClr val="dk1"/>
              </a:solidFill>
              <a:latin typeface="Calibri"/>
              <a:ea typeface="Calibri"/>
              <a:cs typeface="Calibri"/>
              <a:sym typeface="Calibri"/>
            </a:endParaRPr>
          </a:p>
        </p:txBody>
      </p:sp>
      <p:sp>
        <p:nvSpPr>
          <p:cNvPr id="175" name="Google Shape;175;p20"/>
          <p:cNvSpPr/>
          <p:nvPr/>
        </p:nvSpPr>
        <p:spPr>
          <a:xfrm>
            <a:off x="647700" y="1228725"/>
            <a:ext cx="3886200" cy="800100"/>
          </a:xfrm>
          <a:prstGeom prst="roundRect">
            <a:avLst>
              <a:gd fmla="val 4762" name="adj"/>
            </a:avLst>
          </a:prstGeom>
          <a:solidFill>
            <a:srgbClr val="1E293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76" name="Google Shape;176;p20"/>
          <p:cNvSpPr/>
          <p:nvPr/>
        </p:nvSpPr>
        <p:spPr>
          <a:xfrm>
            <a:off x="723900" y="1343025"/>
            <a:ext cx="380847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2E8F0"/>
              </a:buClr>
              <a:buSzPts val="1500"/>
              <a:buFont typeface="Arial"/>
              <a:buNone/>
            </a:pPr>
            <a:r>
              <a:rPr b="0" i="0" lang="zh-TW" sz="1500" u="none" cap="none" strike="noStrike">
                <a:solidFill>
                  <a:srgbClr val="E2E8F0"/>
                </a:solidFill>
                <a:latin typeface="Arial"/>
                <a:ea typeface="Arial"/>
                <a:cs typeface="Arial"/>
                <a:sym typeface="Arial"/>
              </a:rPr>
              <a:t>for (i = 0; i &lt; vocab_size; i++)</a:t>
            </a:r>
            <a:endParaRPr b="0" i="0" sz="1500" u="none" cap="none" strike="noStrike">
              <a:solidFill>
                <a:schemeClr val="dk1"/>
              </a:solidFill>
              <a:latin typeface="Calibri"/>
              <a:ea typeface="Calibri"/>
              <a:cs typeface="Calibri"/>
              <a:sym typeface="Calibri"/>
            </a:endParaRPr>
          </a:p>
        </p:txBody>
      </p:sp>
      <p:sp>
        <p:nvSpPr>
          <p:cNvPr id="177" name="Google Shape;177;p20"/>
          <p:cNvSpPr/>
          <p:nvPr/>
        </p:nvSpPr>
        <p:spPr>
          <a:xfrm>
            <a:off x="723900" y="1647825"/>
            <a:ext cx="380847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2E8F0"/>
              </a:buClr>
              <a:buSzPts val="1500"/>
              <a:buFont typeface="Arial"/>
              <a:buNone/>
            </a:pPr>
            <a:r>
              <a:rPr b="0" i="0" lang="zh-TW" sz="1500" u="none" cap="none" strike="noStrike">
                <a:solidFill>
                  <a:srgbClr val="E2E8F0"/>
                </a:solidFill>
                <a:latin typeface="Arial"/>
                <a:ea typeface="Arial"/>
                <a:cs typeface="Arial"/>
                <a:sym typeface="Arial"/>
              </a:rPr>
              <a:t>if (diff[i] &gt; max) max = diff[i]</a:t>
            </a:r>
            <a:endParaRPr b="0" i="0" sz="1500" u="none" cap="none" strike="noStrike">
              <a:solidFill>
                <a:schemeClr val="dk1"/>
              </a:solidFill>
              <a:latin typeface="Calibri"/>
              <a:ea typeface="Calibri"/>
              <a:cs typeface="Calibri"/>
              <a:sym typeface="Calibri"/>
            </a:endParaRPr>
          </a:p>
        </p:txBody>
      </p:sp>
      <p:sp>
        <p:nvSpPr>
          <p:cNvPr id="178" name="Google Shape;178;p20"/>
          <p:cNvSpPr/>
          <p:nvPr/>
        </p:nvSpPr>
        <p:spPr>
          <a:xfrm>
            <a:off x="647700" y="2085975"/>
            <a:ext cx="3963924"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Complexity: </a:t>
            </a:r>
            <a:r>
              <a:rPr b="1" i="0" lang="zh-TW" sz="1050" u="none" cap="none" strike="noStrike">
                <a:solidFill>
                  <a:srgbClr val="DC2626"/>
                </a:solidFill>
                <a:latin typeface="Arial"/>
                <a:ea typeface="Arial"/>
                <a:cs typeface="Arial"/>
                <a:sym typeface="Arial"/>
              </a:rPr>
              <a:t>O(vocab_size)</a:t>
            </a:r>
            <a:endParaRPr b="0" i="0" sz="1050" u="none" cap="none" strike="noStrike">
              <a:solidFill>
                <a:schemeClr val="dk1"/>
              </a:solidFill>
              <a:latin typeface="Calibri"/>
              <a:ea typeface="Calibri"/>
              <a:cs typeface="Calibri"/>
              <a:sym typeface="Calibri"/>
            </a:endParaRPr>
          </a:p>
        </p:txBody>
      </p:sp>
      <p:sp>
        <p:nvSpPr>
          <p:cNvPr id="179" name="Google Shape;179;p20"/>
          <p:cNvSpPr/>
          <p:nvPr/>
        </p:nvSpPr>
        <p:spPr>
          <a:xfrm>
            <a:off x="476250" y="2505075"/>
            <a:ext cx="4191000" cy="2249686"/>
          </a:xfrm>
          <a:prstGeom prst="roundRect">
            <a:avLst>
              <a:gd fmla="val 3387" name="adj"/>
            </a:avLst>
          </a:prstGeom>
          <a:solidFill>
            <a:srgbClr val="F0FDF4"/>
          </a:solidFill>
          <a:ln cap="flat" cmpd="sng" w="9525">
            <a:solidFill>
              <a:srgbClr val="16A3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0" name="Google Shape;180;p20"/>
          <p:cNvSpPr/>
          <p:nvPr/>
        </p:nvSpPr>
        <p:spPr>
          <a:xfrm>
            <a:off x="619125" y="2686050"/>
            <a:ext cx="2199900" cy="28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75"/>
              <a:buFont typeface="Arial"/>
              <a:buNone/>
            </a:pPr>
            <a:r>
              <a:rPr b="1" i="0" lang="zh-TW" sz="1275" u="none" cap="none" strike="noStrike">
                <a:solidFill>
                  <a:srgbClr val="16A34A"/>
                </a:solidFill>
                <a:latin typeface="Arial"/>
                <a:ea typeface="Arial"/>
                <a:cs typeface="Arial"/>
                <a:sym typeface="Arial"/>
              </a:rPr>
              <a:t>V2: Parallel Reduction</a:t>
            </a:r>
            <a:endParaRPr b="0" i="0" sz="1275" u="none" cap="none" strike="noStrike">
              <a:solidFill>
                <a:schemeClr val="dk1"/>
              </a:solidFill>
              <a:latin typeface="Calibri"/>
              <a:ea typeface="Calibri"/>
              <a:cs typeface="Calibri"/>
              <a:sym typeface="Calibri"/>
            </a:endParaRPr>
          </a:p>
        </p:txBody>
      </p:sp>
      <p:sp>
        <p:nvSpPr>
          <p:cNvPr id="181" name="Google Shape;181;p20"/>
          <p:cNvSpPr/>
          <p:nvPr/>
        </p:nvSpPr>
        <p:spPr>
          <a:xfrm>
            <a:off x="619125" y="2973586"/>
            <a:ext cx="3905250" cy="1409700"/>
          </a:xfrm>
          <a:prstGeom prst="roundRect">
            <a:avLst>
              <a:gd fmla="val 2703" name="adj"/>
            </a:avLst>
          </a:prstGeom>
          <a:solidFill>
            <a:srgbClr val="1E293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2" name="Google Shape;182;p20"/>
          <p:cNvSpPr/>
          <p:nvPr/>
        </p:nvSpPr>
        <p:spPr>
          <a:xfrm>
            <a:off x="695325" y="3087886"/>
            <a:ext cx="382790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500"/>
              <a:buFont typeface="Arial"/>
              <a:buNone/>
            </a:pPr>
            <a:r>
              <a:rPr b="0" i="0" lang="zh-TW" sz="1500" u="none" cap="none" strike="noStrike">
                <a:solidFill>
                  <a:srgbClr val="94A3B8"/>
                </a:solidFill>
                <a:latin typeface="Arial"/>
                <a:ea typeface="Arial"/>
                <a:cs typeface="Arial"/>
                <a:sym typeface="Arial"/>
              </a:rPr>
              <a:t>// Phase 1: Thread-local max</a:t>
            </a:r>
            <a:endParaRPr b="0" i="0" sz="1500" u="none" cap="none" strike="noStrike">
              <a:solidFill>
                <a:schemeClr val="dk1"/>
              </a:solidFill>
              <a:latin typeface="Calibri"/>
              <a:ea typeface="Calibri"/>
              <a:cs typeface="Calibri"/>
              <a:sym typeface="Calibri"/>
            </a:endParaRPr>
          </a:p>
        </p:txBody>
      </p:sp>
      <p:sp>
        <p:nvSpPr>
          <p:cNvPr id="183" name="Google Shape;183;p20"/>
          <p:cNvSpPr/>
          <p:nvPr/>
        </p:nvSpPr>
        <p:spPr>
          <a:xfrm>
            <a:off x="695325" y="3392686"/>
            <a:ext cx="382790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2E8F0"/>
              </a:buClr>
              <a:buSzPts val="1500"/>
              <a:buFont typeface="Arial"/>
              <a:buNone/>
            </a:pPr>
            <a:r>
              <a:rPr b="0" i="0" lang="zh-TW" sz="1500" u="none" cap="none" strike="noStrike">
                <a:solidFill>
                  <a:srgbClr val="E2E8F0"/>
                </a:solidFill>
                <a:latin typeface="Arial"/>
                <a:ea typeface="Arial"/>
                <a:cs typeface="Arial"/>
                <a:sym typeface="Arial"/>
              </a:rPr>
              <a:t>local = max(chunk[tid*stride:(tid+1)*stride])</a:t>
            </a:r>
            <a:endParaRPr b="0" i="0" sz="1500" u="none" cap="none" strike="noStrike">
              <a:solidFill>
                <a:schemeClr val="dk1"/>
              </a:solidFill>
              <a:latin typeface="Calibri"/>
              <a:ea typeface="Calibri"/>
              <a:cs typeface="Calibri"/>
              <a:sym typeface="Calibri"/>
            </a:endParaRPr>
          </a:p>
        </p:txBody>
      </p:sp>
      <p:sp>
        <p:nvSpPr>
          <p:cNvPr id="184" name="Google Shape;184;p20"/>
          <p:cNvSpPr/>
          <p:nvPr/>
        </p:nvSpPr>
        <p:spPr>
          <a:xfrm>
            <a:off x="695325" y="3697486"/>
            <a:ext cx="382790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4A3B8"/>
              </a:buClr>
              <a:buSzPts val="1500"/>
              <a:buFont typeface="Arial"/>
              <a:buNone/>
            </a:pPr>
            <a:r>
              <a:rPr b="0" i="0" lang="zh-TW" sz="1500" u="none" cap="none" strike="noStrike">
                <a:solidFill>
                  <a:srgbClr val="94A3B8"/>
                </a:solidFill>
                <a:latin typeface="Arial"/>
                <a:ea typeface="Arial"/>
                <a:cs typeface="Arial"/>
                <a:sym typeface="Arial"/>
              </a:rPr>
              <a:t>// Phase 2: Warp + Block reduce</a:t>
            </a:r>
            <a:endParaRPr b="0" i="0" sz="1500" u="none" cap="none" strike="noStrike">
              <a:solidFill>
                <a:schemeClr val="dk1"/>
              </a:solidFill>
              <a:latin typeface="Calibri"/>
              <a:ea typeface="Calibri"/>
              <a:cs typeface="Calibri"/>
              <a:sym typeface="Calibri"/>
            </a:endParaRPr>
          </a:p>
        </p:txBody>
      </p:sp>
      <p:sp>
        <p:nvSpPr>
          <p:cNvPr id="185" name="Google Shape;185;p20"/>
          <p:cNvSpPr/>
          <p:nvPr/>
        </p:nvSpPr>
        <p:spPr>
          <a:xfrm>
            <a:off x="695325" y="4002286"/>
            <a:ext cx="3827907"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2E8F0"/>
              </a:buClr>
              <a:buSzPts val="1500"/>
              <a:buFont typeface="Arial"/>
              <a:buNone/>
            </a:pPr>
            <a:r>
              <a:rPr b="0" i="0" lang="zh-TW" sz="1500" u="none" cap="none" strike="noStrike">
                <a:solidFill>
                  <a:srgbClr val="E2E8F0"/>
                </a:solidFill>
                <a:latin typeface="Arial"/>
                <a:ea typeface="Arial"/>
                <a:cs typeface="Arial"/>
                <a:sym typeface="Arial"/>
              </a:rPr>
              <a:t>final = __shfl_down + shared_mem</a:t>
            </a:r>
            <a:endParaRPr b="0" i="0" sz="1500" u="none" cap="none" strike="noStrike">
              <a:solidFill>
                <a:schemeClr val="dk1"/>
              </a:solidFill>
              <a:latin typeface="Calibri"/>
              <a:ea typeface="Calibri"/>
              <a:cs typeface="Calibri"/>
              <a:sym typeface="Calibri"/>
            </a:endParaRPr>
          </a:p>
        </p:txBody>
      </p:sp>
      <p:sp>
        <p:nvSpPr>
          <p:cNvPr id="186" name="Google Shape;186;p20"/>
          <p:cNvSpPr/>
          <p:nvPr/>
        </p:nvSpPr>
        <p:spPr>
          <a:xfrm>
            <a:off x="619125" y="4440436"/>
            <a:ext cx="398335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Complexity: </a:t>
            </a:r>
            <a:r>
              <a:rPr b="1" i="0" lang="zh-TW" sz="1050" u="none" cap="none" strike="noStrike">
                <a:solidFill>
                  <a:srgbClr val="16A34A"/>
                </a:solidFill>
                <a:latin typeface="Arial"/>
                <a:ea typeface="Arial"/>
                <a:cs typeface="Arial"/>
                <a:sym typeface="Arial"/>
              </a:rPr>
              <a:t>O(vocab / 256)</a:t>
            </a:r>
            <a:endParaRPr b="0" i="0" sz="1050" u="none" cap="none" strike="noStrike">
              <a:solidFill>
                <a:schemeClr val="dk1"/>
              </a:solidFill>
              <a:latin typeface="Calibri"/>
              <a:ea typeface="Calibri"/>
              <a:cs typeface="Calibri"/>
              <a:sym typeface="Calibri"/>
            </a:endParaRPr>
          </a:p>
        </p:txBody>
      </p:sp>
      <p:sp>
        <p:nvSpPr>
          <p:cNvPr id="187" name="Google Shape;187;p20"/>
          <p:cNvSpPr/>
          <p:nvPr/>
        </p:nvSpPr>
        <p:spPr>
          <a:xfrm>
            <a:off x="4895850" y="1368921"/>
            <a:ext cx="3847338"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200" u="none" cap="none" strike="noStrike">
                <a:solidFill>
                  <a:srgbClr val="2563EB"/>
                </a:solidFill>
                <a:latin typeface="Arial"/>
                <a:ea typeface="Arial"/>
                <a:cs typeface="Arial"/>
                <a:sym typeface="Arial"/>
              </a:rPr>
              <a:t>REDUCTION VISUALIZATION</a:t>
            </a:r>
            <a:endParaRPr b="0" i="0" sz="1200" u="none" cap="none" strike="noStrike">
              <a:solidFill>
                <a:schemeClr val="dk1"/>
              </a:solidFill>
              <a:latin typeface="Calibri"/>
              <a:ea typeface="Calibri"/>
              <a:cs typeface="Calibri"/>
              <a:sym typeface="Calibri"/>
            </a:endParaRPr>
          </a:p>
        </p:txBody>
      </p:sp>
      <p:sp>
        <p:nvSpPr>
          <p:cNvPr id="188" name="Google Shape;188;p20"/>
          <p:cNvSpPr/>
          <p:nvPr/>
        </p:nvSpPr>
        <p:spPr>
          <a:xfrm>
            <a:off x="4895850" y="1681311"/>
            <a:ext cx="3771900" cy="1798141"/>
          </a:xfrm>
          <a:prstGeom prst="roundRect">
            <a:avLst>
              <a:gd fmla="val 4238"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9" name="Google Shape;189;p20"/>
          <p:cNvSpPr/>
          <p:nvPr/>
        </p:nvSpPr>
        <p:spPr>
          <a:xfrm>
            <a:off x="6132463" y="1814661"/>
            <a:ext cx="247650" cy="209550"/>
          </a:xfrm>
          <a:prstGeom prst="roundRect">
            <a:avLst>
              <a:gd fmla="val 13636" name="adj"/>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0" name="Google Shape;190;p20"/>
          <p:cNvSpPr/>
          <p:nvPr/>
        </p:nvSpPr>
        <p:spPr>
          <a:xfrm>
            <a:off x="6211788" y="1866156"/>
            <a:ext cx="90779"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T0</a:t>
            </a:r>
            <a:endParaRPr b="0" i="0" sz="600" u="none" cap="none" strike="noStrike">
              <a:solidFill>
                <a:schemeClr val="dk1"/>
              </a:solidFill>
              <a:latin typeface="Calibri"/>
              <a:ea typeface="Calibri"/>
              <a:cs typeface="Calibri"/>
              <a:sym typeface="Calibri"/>
            </a:endParaRPr>
          </a:p>
        </p:txBody>
      </p:sp>
      <p:sp>
        <p:nvSpPr>
          <p:cNvPr id="191" name="Google Shape;191;p20"/>
          <p:cNvSpPr/>
          <p:nvPr/>
        </p:nvSpPr>
        <p:spPr>
          <a:xfrm>
            <a:off x="6418213" y="1814661"/>
            <a:ext cx="247650" cy="209550"/>
          </a:xfrm>
          <a:prstGeom prst="roundRect">
            <a:avLst>
              <a:gd fmla="val 13636" name="adj"/>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2" name="Google Shape;192;p20"/>
          <p:cNvSpPr/>
          <p:nvPr/>
        </p:nvSpPr>
        <p:spPr>
          <a:xfrm>
            <a:off x="6497538" y="1866156"/>
            <a:ext cx="90779"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T1</a:t>
            </a:r>
            <a:endParaRPr b="0" i="0" sz="600" u="none" cap="none" strike="noStrike">
              <a:solidFill>
                <a:schemeClr val="dk1"/>
              </a:solidFill>
              <a:latin typeface="Calibri"/>
              <a:ea typeface="Calibri"/>
              <a:cs typeface="Calibri"/>
              <a:sym typeface="Calibri"/>
            </a:endParaRPr>
          </a:p>
        </p:txBody>
      </p:sp>
      <p:sp>
        <p:nvSpPr>
          <p:cNvPr id="193" name="Google Shape;193;p20"/>
          <p:cNvSpPr/>
          <p:nvPr/>
        </p:nvSpPr>
        <p:spPr>
          <a:xfrm>
            <a:off x="6703963" y="1814661"/>
            <a:ext cx="247650" cy="209550"/>
          </a:xfrm>
          <a:prstGeom prst="roundRect">
            <a:avLst>
              <a:gd fmla="val 13636" name="adj"/>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4" name="Google Shape;194;p20"/>
          <p:cNvSpPr/>
          <p:nvPr/>
        </p:nvSpPr>
        <p:spPr>
          <a:xfrm>
            <a:off x="6783288" y="1866156"/>
            <a:ext cx="90779"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T2</a:t>
            </a:r>
            <a:endParaRPr b="0" i="0" sz="600" u="none" cap="none" strike="noStrike">
              <a:solidFill>
                <a:schemeClr val="dk1"/>
              </a:solidFill>
              <a:latin typeface="Calibri"/>
              <a:ea typeface="Calibri"/>
              <a:cs typeface="Calibri"/>
              <a:sym typeface="Calibri"/>
            </a:endParaRPr>
          </a:p>
        </p:txBody>
      </p:sp>
      <p:sp>
        <p:nvSpPr>
          <p:cNvPr id="195" name="Google Shape;195;p20"/>
          <p:cNvSpPr/>
          <p:nvPr/>
        </p:nvSpPr>
        <p:spPr>
          <a:xfrm>
            <a:off x="7027813" y="1852761"/>
            <a:ext cx="81064"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750" u="none" cap="none" strike="noStrike">
                <a:solidFill>
                  <a:srgbClr val="64748B"/>
                </a:solidFill>
                <a:latin typeface="Arial"/>
                <a:ea typeface="Arial"/>
                <a:cs typeface="Arial"/>
                <a:sym typeface="Arial"/>
              </a:rPr>
              <a:t>...</a:t>
            </a:r>
            <a:endParaRPr b="0" i="0" sz="750" u="none" cap="none" strike="noStrike">
              <a:solidFill>
                <a:schemeClr val="dk1"/>
              </a:solidFill>
              <a:latin typeface="Calibri"/>
              <a:ea typeface="Calibri"/>
              <a:cs typeface="Calibri"/>
              <a:sym typeface="Calibri"/>
            </a:endParaRPr>
          </a:p>
        </p:txBody>
      </p:sp>
      <p:sp>
        <p:nvSpPr>
          <p:cNvPr id="196" name="Google Shape;196;p20"/>
          <p:cNvSpPr/>
          <p:nvPr/>
        </p:nvSpPr>
        <p:spPr>
          <a:xfrm>
            <a:off x="7183487" y="1814661"/>
            <a:ext cx="247650" cy="209550"/>
          </a:xfrm>
          <a:prstGeom prst="roundRect">
            <a:avLst>
              <a:gd fmla="val 13636" name="adj"/>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7" name="Google Shape;197;p20"/>
          <p:cNvSpPr/>
          <p:nvPr/>
        </p:nvSpPr>
        <p:spPr>
          <a:xfrm>
            <a:off x="7231261" y="1872704"/>
            <a:ext cx="155144" cy="9331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525"/>
              <a:buFont typeface="Arial"/>
              <a:buNone/>
            </a:pPr>
            <a:r>
              <a:rPr b="1" i="0" lang="zh-TW" sz="525" u="none" cap="none" strike="noStrike">
                <a:solidFill>
                  <a:srgbClr val="FFFFFF"/>
                </a:solidFill>
                <a:latin typeface="Arial"/>
                <a:ea typeface="Arial"/>
                <a:cs typeface="Arial"/>
                <a:sym typeface="Arial"/>
              </a:rPr>
              <a:t>T255</a:t>
            </a:r>
            <a:endParaRPr b="0" i="0" sz="525" u="none" cap="none" strike="noStrike">
              <a:solidFill>
                <a:schemeClr val="dk1"/>
              </a:solidFill>
              <a:latin typeface="Calibri"/>
              <a:ea typeface="Calibri"/>
              <a:cs typeface="Calibri"/>
              <a:sym typeface="Calibri"/>
            </a:endParaRPr>
          </a:p>
        </p:txBody>
      </p:sp>
      <p:sp>
        <p:nvSpPr>
          <p:cNvPr id="198" name="Google Shape;198;p20"/>
          <p:cNvSpPr/>
          <p:nvPr/>
        </p:nvSpPr>
        <p:spPr>
          <a:xfrm>
            <a:off x="4994148" y="2100411"/>
            <a:ext cx="3575304" cy="11995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675"/>
              <a:buFont typeface="Arial"/>
              <a:buNone/>
            </a:pPr>
            <a:r>
              <a:rPr b="0" i="0" lang="zh-TW" sz="875" u="none" cap="none" strike="noStrike">
                <a:solidFill>
                  <a:srgbClr val="64748B"/>
                </a:solidFill>
                <a:latin typeface="Arial"/>
                <a:ea typeface="Arial"/>
                <a:cs typeface="Arial"/>
                <a:sym typeface="Arial"/>
              </a:rPr>
              <a:t>256 threads × (vocab/256) elements each</a:t>
            </a:r>
            <a:endParaRPr b="0" i="0" sz="875" u="none" cap="none" strike="noStrike">
              <a:solidFill>
                <a:schemeClr val="dk1"/>
              </a:solidFill>
              <a:latin typeface="Calibri"/>
              <a:ea typeface="Calibri"/>
              <a:cs typeface="Calibri"/>
              <a:sym typeface="Calibri"/>
            </a:endParaRPr>
          </a:p>
        </p:txBody>
      </p:sp>
      <p:sp>
        <p:nvSpPr>
          <p:cNvPr id="199" name="Google Shape;199;p20"/>
          <p:cNvSpPr/>
          <p:nvPr/>
        </p:nvSpPr>
        <p:spPr>
          <a:xfrm>
            <a:off x="4994148" y="2277517"/>
            <a:ext cx="3575304"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563EB"/>
              </a:buClr>
              <a:buSzPts val="900"/>
              <a:buFont typeface="Arial"/>
              <a:buNone/>
            </a:pPr>
            <a:r>
              <a:rPr b="0" i="0" lang="zh-TW" sz="900" u="none" cap="none" strike="noStrike">
                <a:solidFill>
                  <a:srgbClr val="2563EB"/>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200" name="Google Shape;200;p20"/>
          <p:cNvSpPr/>
          <p:nvPr/>
        </p:nvSpPr>
        <p:spPr>
          <a:xfrm>
            <a:off x="6008638" y="2475607"/>
            <a:ext cx="419100" cy="190500"/>
          </a:xfrm>
          <a:prstGeom prst="roundRect">
            <a:avLst>
              <a:gd fmla="val 15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6161038" y="2517577"/>
            <a:ext cx="116586"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W0</a:t>
            </a:r>
            <a:endParaRPr b="0" i="0" sz="600" u="none" cap="none" strike="noStrike">
              <a:solidFill>
                <a:schemeClr val="dk1"/>
              </a:solidFill>
              <a:latin typeface="Calibri"/>
              <a:ea typeface="Calibri"/>
              <a:cs typeface="Calibri"/>
              <a:sym typeface="Calibri"/>
            </a:endParaRPr>
          </a:p>
        </p:txBody>
      </p:sp>
      <p:sp>
        <p:nvSpPr>
          <p:cNvPr id="202" name="Google Shape;202;p20"/>
          <p:cNvSpPr/>
          <p:nvPr/>
        </p:nvSpPr>
        <p:spPr>
          <a:xfrm>
            <a:off x="6484888" y="2475607"/>
            <a:ext cx="419100" cy="190500"/>
          </a:xfrm>
          <a:prstGeom prst="roundRect">
            <a:avLst>
              <a:gd fmla="val 15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p:nvPr/>
        </p:nvSpPr>
        <p:spPr>
          <a:xfrm>
            <a:off x="6637288" y="2517577"/>
            <a:ext cx="116586"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W1</a:t>
            </a:r>
            <a:endParaRPr b="0" i="0" sz="600" u="none" cap="none" strike="noStrike">
              <a:solidFill>
                <a:schemeClr val="dk1"/>
              </a:solidFill>
              <a:latin typeface="Calibri"/>
              <a:ea typeface="Calibri"/>
              <a:cs typeface="Calibri"/>
              <a:sym typeface="Calibri"/>
            </a:endParaRPr>
          </a:p>
        </p:txBody>
      </p:sp>
      <p:sp>
        <p:nvSpPr>
          <p:cNvPr id="204" name="Google Shape;204;p20"/>
          <p:cNvSpPr/>
          <p:nvPr/>
        </p:nvSpPr>
        <p:spPr>
          <a:xfrm>
            <a:off x="6980188" y="2504182"/>
            <a:ext cx="81064"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750" u="none" cap="none" strike="noStrike">
                <a:solidFill>
                  <a:srgbClr val="64748B"/>
                </a:solidFill>
                <a:latin typeface="Arial"/>
                <a:ea typeface="Arial"/>
                <a:cs typeface="Arial"/>
                <a:sym typeface="Arial"/>
              </a:rPr>
              <a:t>...</a:t>
            </a:r>
            <a:endParaRPr b="0" i="0" sz="750" u="none" cap="none" strike="noStrike">
              <a:solidFill>
                <a:schemeClr val="dk1"/>
              </a:solidFill>
              <a:latin typeface="Calibri"/>
              <a:ea typeface="Calibri"/>
              <a:cs typeface="Calibri"/>
              <a:sym typeface="Calibri"/>
            </a:endParaRPr>
          </a:p>
        </p:txBody>
      </p:sp>
      <p:sp>
        <p:nvSpPr>
          <p:cNvPr id="205" name="Google Shape;205;p20"/>
          <p:cNvSpPr/>
          <p:nvPr/>
        </p:nvSpPr>
        <p:spPr>
          <a:xfrm>
            <a:off x="7135862" y="2475607"/>
            <a:ext cx="419100" cy="190500"/>
          </a:xfrm>
          <a:prstGeom prst="roundRect">
            <a:avLst>
              <a:gd fmla="val 15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7288262" y="2517577"/>
            <a:ext cx="116586" cy="1065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600"/>
              <a:buFont typeface="Arial"/>
              <a:buNone/>
            </a:pPr>
            <a:r>
              <a:rPr b="1" i="0" lang="zh-TW" sz="600" u="none" cap="none" strike="noStrike">
                <a:solidFill>
                  <a:srgbClr val="FFFFFF"/>
                </a:solidFill>
                <a:latin typeface="Arial"/>
                <a:ea typeface="Arial"/>
                <a:cs typeface="Arial"/>
                <a:sym typeface="Arial"/>
              </a:rPr>
              <a:t>W7</a:t>
            </a:r>
            <a:endParaRPr b="0" i="0" sz="600" u="none" cap="none" strike="noStrike">
              <a:solidFill>
                <a:schemeClr val="dk1"/>
              </a:solidFill>
              <a:latin typeface="Calibri"/>
              <a:ea typeface="Calibri"/>
              <a:cs typeface="Calibri"/>
              <a:sym typeface="Calibri"/>
            </a:endParaRPr>
          </a:p>
        </p:txBody>
      </p:sp>
      <p:sp>
        <p:nvSpPr>
          <p:cNvPr id="207" name="Google Shape;207;p20"/>
          <p:cNvSpPr/>
          <p:nvPr/>
        </p:nvSpPr>
        <p:spPr>
          <a:xfrm>
            <a:off x="4994148" y="2723257"/>
            <a:ext cx="3575304" cy="11995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675"/>
              <a:buFont typeface="Arial"/>
              <a:buNone/>
            </a:pPr>
            <a:r>
              <a:rPr b="0" i="0" lang="zh-TW" sz="875" u="none" cap="none" strike="noStrike">
                <a:solidFill>
                  <a:srgbClr val="64748B"/>
                </a:solidFill>
                <a:latin typeface="Arial"/>
                <a:ea typeface="Arial"/>
                <a:cs typeface="Arial"/>
                <a:sym typeface="Arial"/>
              </a:rPr>
              <a:t>8 warps (32 threads each)</a:t>
            </a:r>
            <a:endParaRPr b="0" i="0" sz="875" u="none" cap="none" strike="noStrike">
              <a:solidFill>
                <a:schemeClr val="dk1"/>
              </a:solidFill>
              <a:latin typeface="Calibri"/>
              <a:ea typeface="Calibri"/>
              <a:cs typeface="Calibri"/>
              <a:sym typeface="Calibri"/>
            </a:endParaRPr>
          </a:p>
        </p:txBody>
      </p:sp>
      <p:sp>
        <p:nvSpPr>
          <p:cNvPr id="208" name="Google Shape;208;p20"/>
          <p:cNvSpPr/>
          <p:nvPr/>
        </p:nvSpPr>
        <p:spPr>
          <a:xfrm>
            <a:off x="4994148" y="2900363"/>
            <a:ext cx="3575304"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C2626"/>
              </a:buClr>
              <a:buSzPts val="900"/>
              <a:buFont typeface="Arial"/>
              <a:buNone/>
            </a:pPr>
            <a:r>
              <a:rPr b="0" i="0" lang="zh-TW" sz="900" u="none" cap="none" strike="noStrike">
                <a:solidFill>
                  <a:srgbClr val="DC2626"/>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209" name="Google Shape;209;p20"/>
          <p:cNvSpPr/>
          <p:nvPr/>
        </p:nvSpPr>
        <p:spPr>
          <a:xfrm>
            <a:off x="6305550" y="3098453"/>
            <a:ext cx="952500" cy="247650"/>
          </a:xfrm>
          <a:prstGeom prst="roundRect">
            <a:avLst>
              <a:gd fmla="val 15385" name="adj"/>
            </a:avLst>
          </a:prstGeom>
          <a:solidFill>
            <a:srgbClr val="16A34A"/>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p:nvPr/>
        </p:nvSpPr>
        <p:spPr>
          <a:xfrm>
            <a:off x="6462415" y="3155603"/>
            <a:ext cx="651394"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750"/>
              <a:buFont typeface="Arial"/>
              <a:buNone/>
            </a:pPr>
            <a:r>
              <a:rPr b="1" i="0" lang="zh-TW" sz="750" u="none" cap="none" strike="noStrike">
                <a:solidFill>
                  <a:srgbClr val="FFFFFF"/>
                </a:solidFill>
                <a:latin typeface="Arial"/>
                <a:ea typeface="Arial"/>
                <a:cs typeface="Arial"/>
                <a:sym typeface="Arial"/>
              </a:rPr>
              <a:t>GLOBAL MAX</a:t>
            </a:r>
            <a:endParaRPr b="0" i="0" sz="750" u="none" cap="none" strike="noStrike">
              <a:solidFill>
                <a:schemeClr val="dk1"/>
              </a:solidFill>
              <a:latin typeface="Calibri"/>
              <a:ea typeface="Calibri"/>
              <a:cs typeface="Calibri"/>
              <a:sym typeface="Calibri"/>
            </a:endParaRPr>
          </a:p>
        </p:txBody>
      </p:sp>
      <p:sp>
        <p:nvSpPr>
          <p:cNvPr id="211" name="Google Shape;211;p20"/>
          <p:cNvSpPr/>
          <p:nvPr/>
        </p:nvSpPr>
        <p:spPr>
          <a:xfrm>
            <a:off x="4895850" y="3593753"/>
            <a:ext cx="3771900" cy="599926"/>
          </a:xfrm>
          <a:prstGeom prst="roundRect">
            <a:avLst>
              <a:gd fmla="val 12702" name="adj"/>
            </a:avLst>
          </a:prstGeom>
          <a:solidFill>
            <a:srgbClr val="F1F5F9"/>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p:nvPr/>
        </p:nvSpPr>
        <p:spPr>
          <a:xfrm>
            <a:off x="5183202" y="3717569"/>
            <a:ext cx="341700" cy="38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675"/>
              <a:buFont typeface="Arial"/>
              <a:buNone/>
            </a:pPr>
            <a:r>
              <a:rPr b="0" i="0" lang="zh-TW" sz="875" u="none" cap="none" strike="noStrike">
                <a:solidFill>
                  <a:srgbClr val="64748B"/>
                </a:solidFill>
                <a:latin typeface="Arial"/>
                <a:ea typeface="Arial"/>
                <a:cs typeface="Arial"/>
                <a:sym typeface="Arial"/>
              </a:rPr>
              <a:t>V1</a:t>
            </a:r>
            <a:endParaRPr b="0" i="0" sz="875" u="none" cap="none" strike="noStrike">
              <a:solidFill>
                <a:schemeClr val="dk1"/>
              </a:solidFill>
              <a:latin typeface="Calibri"/>
              <a:ea typeface="Calibri"/>
              <a:cs typeface="Calibri"/>
              <a:sym typeface="Calibri"/>
            </a:endParaRPr>
          </a:p>
        </p:txBody>
      </p:sp>
      <p:sp>
        <p:nvSpPr>
          <p:cNvPr id="213" name="Google Shape;213;p20"/>
          <p:cNvSpPr/>
          <p:nvPr/>
        </p:nvSpPr>
        <p:spPr>
          <a:xfrm>
            <a:off x="5019675" y="3856583"/>
            <a:ext cx="440841"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200"/>
              <a:buFont typeface="Arial"/>
              <a:buNone/>
            </a:pPr>
            <a:r>
              <a:rPr b="1" i="0" lang="zh-TW" sz="1200" u="none" cap="none" strike="noStrike">
                <a:solidFill>
                  <a:srgbClr val="DC2626"/>
                </a:solidFill>
                <a:latin typeface="Arial"/>
                <a:ea typeface="Arial"/>
                <a:cs typeface="Arial"/>
                <a:sym typeface="Arial"/>
              </a:rPr>
              <a:t>3.4ms</a:t>
            </a:r>
            <a:endParaRPr b="0" i="0" sz="1200" u="none" cap="none" strike="noStrike">
              <a:solidFill>
                <a:schemeClr val="dk1"/>
              </a:solidFill>
              <a:latin typeface="Calibri"/>
              <a:ea typeface="Calibri"/>
              <a:cs typeface="Calibri"/>
              <a:sym typeface="Calibri"/>
            </a:endParaRPr>
          </a:p>
        </p:txBody>
      </p:sp>
      <p:sp>
        <p:nvSpPr>
          <p:cNvPr id="214" name="Google Shape;214;p20"/>
          <p:cNvSpPr/>
          <p:nvPr/>
        </p:nvSpPr>
        <p:spPr>
          <a:xfrm>
            <a:off x="6132314" y="3760291"/>
            <a:ext cx="19431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500"/>
              <a:buFont typeface="Arial"/>
              <a:buNone/>
            </a:pPr>
            <a:r>
              <a:rPr b="0" i="0" lang="zh-TW" sz="1500" u="none" cap="none" strike="noStrike">
                <a:solidFill>
                  <a:srgbClr val="2563EB"/>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215" name="Google Shape;215;p20"/>
          <p:cNvSpPr/>
          <p:nvPr/>
        </p:nvSpPr>
        <p:spPr>
          <a:xfrm>
            <a:off x="7121322" y="3717573"/>
            <a:ext cx="350100" cy="190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675"/>
              <a:buFont typeface="Arial"/>
              <a:buNone/>
            </a:pPr>
            <a:r>
              <a:rPr b="0" i="0" lang="zh-TW" sz="975" u="none" cap="none" strike="noStrike">
                <a:solidFill>
                  <a:srgbClr val="64748B"/>
                </a:solidFill>
                <a:latin typeface="Arial"/>
                <a:ea typeface="Arial"/>
                <a:cs typeface="Arial"/>
                <a:sym typeface="Arial"/>
              </a:rPr>
              <a:t>V2</a:t>
            </a:r>
            <a:endParaRPr b="0" i="0" sz="975" u="none" cap="none" strike="noStrike">
              <a:solidFill>
                <a:schemeClr val="dk1"/>
              </a:solidFill>
              <a:latin typeface="Calibri"/>
              <a:ea typeface="Calibri"/>
              <a:cs typeface="Calibri"/>
              <a:sym typeface="Calibri"/>
            </a:endParaRPr>
          </a:p>
        </p:txBody>
      </p:sp>
      <p:sp>
        <p:nvSpPr>
          <p:cNvPr id="216" name="Google Shape;216;p20"/>
          <p:cNvSpPr/>
          <p:nvPr/>
        </p:nvSpPr>
        <p:spPr>
          <a:xfrm>
            <a:off x="7003256" y="3856583"/>
            <a:ext cx="527218"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200"/>
              <a:buFont typeface="Arial"/>
              <a:buNone/>
            </a:pPr>
            <a:r>
              <a:rPr b="1" i="0" lang="zh-TW" sz="1200" u="none" cap="none" strike="noStrike">
                <a:solidFill>
                  <a:srgbClr val="16A34A"/>
                </a:solidFill>
                <a:latin typeface="Arial"/>
                <a:ea typeface="Arial"/>
                <a:cs typeface="Arial"/>
                <a:sym typeface="Arial"/>
              </a:rPr>
              <a:t>0.03ms</a:t>
            </a:r>
            <a:endParaRPr b="0" i="0" sz="1200" u="none" cap="none" strike="noStrike">
              <a:solidFill>
                <a:schemeClr val="dk1"/>
              </a:solidFill>
              <a:latin typeface="Calibri"/>
              <a:ea typeface="Calibri"/>
              <a:cs typeface="Calibri"/>
              <a:sym typeface="Calibri"/>
            </a:endParaRPr>
          </a:p>
        </p:txBody>
      </p:sp>
      <p:sp>
        <p:nvSpPr>
          <p:cNvPr id="217" name="Google Shape;217;p20"/>
          <p:cNvSpPr/>
          <p:nvPr/>
        </p:nvSpPr>
        <p:spPr>
          <a:xfrm>
            <a:off x="8098418" y="3690081"/>
            <a:ext cx="651300" cy="28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675"/>
              <a:buFont typeface="Arial"/>
              <a:buNone/>
            </a:pPr>
            <a:r>
              <a:rPr b="0" i="0" lang="zh-TW" sz="975" u="none" cap="none" strike="noStrike">
                <a:solidFill>
                  <a:srgbClr val="64748B"/>
                </a:solidFill>
                <a:latin typeface="Arial"/>
                <a:ea typeface="Arial"/>
                <a:cs typeface="Arial"/>
                <a:sym typeface="Arial"/>
              </a:rPr>
              <a:t>Speedup</a:t>
            </a:r>
            <a:endParaRPr b="0" i="0" sz="975" u="none" cap="none" strike="noStrike">
              <a:solidFill>
                <a:schemeClr val="dk1"/>
              </a:solidFill>
              <a:latin typeface="Calibri"/>
              <a:ea typeface="Calibri"/>
              <a:cs typeface="Calibri"/>
              <a:sym typeface="Calibri"/>
            </a:endParaRPr>
          </a:p>
        </p:txBody>
      </p:sp>
      <p:sp>
        <p:nvSpPr>
          <p:cNvPr id="218" name="Google Shape;218;p20"/>
          <p:cNvSpPr/>
          <p:nvPr/>
        </p:nvSpPr>
        <p:spPr>
          <a:xfrm>
            <a:off x="8204746" y="3856583"/>
            <a:ext cx="341561"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200"/>
              <a:buFont typeface="Arial"/>
              <a:buNone/>
            </a:pPr>
            <a:r>
              <a:rPr b="1" i="0" lang="zh-TW" sz="1200" u="none" cap="none" strike="noStrike">
                <a:solidFill>
                  <a:srgbClr val="2563EB"/>
                </a:solidFill>
                <a:latin typeface="Arial"/>
                <a:ea typeface="Arial"/>
                <a:cs typeface="Arial"/>
                <a:sym typeface="Arial"/>
              </a:rPr>
              <a:t>113×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21"/>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25" name="Google Shape;225;p21"/>
          <p:cNvSpPr/>
          <p:nvPr/>
        </p:nvSpPr>
        <p:spPr>
          <a:xfrm>
            <a:off x="476250" y="228600"/>
            <a:ext cx="4333113"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700" u="none" cap="none" strike="noStrike">
                <a:solidFill>
                  <a:srgbClr val="1A1A2E"/>
                </a:solidFill>
                <a:latin typeface="Arial"/>
                <a:ea typeface="Arial"/>
                <a:cs typeface="Arial"/>
                <a:sym typeface="Arial"/>
              </a:rPr>
              <a:t>Experiment Design</a:t>
            </a:r>
            <a:endParaRPr b="0" i="0" sz="2700" u="none" cap="none" strike="noStrike">
              <a:solidFill>
                <a:schemeClr val="dk1"/>
              </a:solidFill>
              <a:latin typeface="Calibri"/>
              <a:ea typeface="Calibri"/>
              <a:cs typeface="Calibri"/>
              <a:sym typeface="Calibri"/>
            </a:endParaRPr>
          </a:p>
        </p:txBody>
      </p:sp>
      <p:sp>
        <p:nvSpPr>
          <p:cNvPr id="226" name="Google Shape;226;p21"/>
          <p:cNvSpPr/>
          <p:nvPr/>
        </p:nvSpPr>
        <p:spPr>
          <a:xfrm>
            <a:off x="476250" y="947886"/>
            <a:ext cx="4000500" cy="1689646"/>
          </a:xfrm>
          <a:prstGeom prst="roundRect">
            <a:avLst>
              <a:gd fmla="val 4510"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27" name="Google Shape;227;p21"/>
          <p:cNvSpPr/>
          <p:nvPr/>
        </p:nvSpPr>
        <p:spPr>
          <a:xfrm>
            <a:off x="590550" y="1100286"/>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825"/>
              <a:buFont typeface="Arial"/>
              <a:buNone/>
            </a:pPr>
            <a:r>
              <a:rPr b="1" i="0" lang="zh-TW" sz="1125" u="none" cap="none" strike="noStrike">
                <a:solidFill>
                  <a:srgbClr val="2563EB"/>
                </a:solidFill>
                <a:latin typeface="Arial"/>
                <a:ea typeface="Arial"/>
                <a:cs typeface="Arial"/>
                <a:sym typeface="Arial"/>
              </a:rPr>
              <a:t>TEST CONFIGURATIONS</a:t>
            </a:r>
            <a:endParaRPr b="0" i="0" sz="1125" u="none" cap="none" strike="noStrike">
              <a:solidFill>
                <a:schemeClr val="dk1"/>
              </a:solidFill>
              <a:latin typeface="Calibri"/>
              <a:ea typeface="Calibri"/>
              <a:cs typeface="Calibri"/>
              <a:sym typeface="Calibri"/>
            </a:endParaRPr>
          </a:p>
        </p:txBody>
      </p:sp>
      <p:sp>
        <p:nvSpPr>
          <p:cNvPr id="228" name="Google Shape;228;p21"/>
          <p:cNvSpPr/>
          <p:nvPr/>
        </p:nvSpPr>
        <p:spPr>
          <a:xfrm>
            <a:off x="590550" y="1361182"/>
            <a:ext cx="184594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Vocab Sizes</a:t>
            </a:r>
            <a:endParaRPr b="0" i="0" sz="1050" u="none" cap="none" strike="noStrike">
              <a:solidFill>
                <a:schemeClr val="dk1"/>
              </a:solidFill>
              <a:latin typeface="Calibri"/>
              <a:ea typeface="Calibri"/>
              <a:cs typeface="Calibri"/>
              <a:sym typeface="Calibri"/>
            </a:endParaRPr>
          </a:p>
        </p:txBody>
      </p:sp>
      <p:sp>
        <p:nvSpPr>
          <p:cNvPr id="229" name="Google Shape;229;p21"/>
          <p:cNvSpPr/>
          <p:nvPr/>
        </p:nvSpPr>
        <p:spPr>
          <a:xfrm>
            <a:off x="590550" y="1659345"/>
            <a:ext cx="1845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800" u="none" cap="none" strike="noStrike">
                <a:solidFill>
                  <a:srgbClr val="1A1A2E"/>
                </a:solidFill>
                <a:latin typeface="Arial"/>
                <a:ea typeface="Arial"/>
                <a:cs typeface="Arial"/>
                <a:sym typeface="Arial"/>
              </a:rPr>
              <a:t>128K (Llama-3)</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590550" y="2056495"/>
            <a:ext cx="18459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0" i="0" lang="zh-TW" sz="1800" u="none" cap="none" strike="noStrike">
                <a:solidFill>
                  <a:srgbClr val="1A1A2E"/>
                </a:solidFill>
                <a:latin typeface="Arial"/>
                <a:ea typeface="Arial"/>
                <a:cs typeface="Arial"/>
                <a:sym typeface="Arial"/>
              </a:rPr>
              <a:t>151K (Qwen2.5)</a:t>
            </a:r>
            <a:endParaRPr b="0" i="0" sz="1800" u="none" cap="none" strike="noStrike">
              <a:solidFill>
                <a:schemeClr val="dk1"/>
              </a:solidFill>
              <a:latin typeface="Calibri"/>
              <a:ea typeface="Calibri"/>
              <a:cs typeface="Calibri"/>
              <a:sym typeface="Calibri"/>
            </a:endParaRPr>
          </a:p>
        </p:txBody>
      </p:sp>
      <p:sp>
        <p:nvSpPr>
          <p:cNvPr id="231" name="Google Shape;231;p21"/>
          <p:cNvSpPr/>
          <p:nvPr/>
        </p:nvSpPr>
        <p:spPr>
          <a:xfrm>
            <a:off x="2552700" y="1592610"/>
            <a:ext cx="184594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Batch Sizes</a:t>
            </a:r>
            <a:endParaRPr b="0" i="0" sz="1050" u="none" cap="none" strike="noStrike">
              <a:solidFill>
                <a:schemeClr val="dk1"/>
              </a:solidFill>
              <a:latin typeface="Calibri"/>
              <a:ea typeface="Calibri"/>
              <a:cs typeface="Calibri"/>
              <a:sym typeface="Calibri"/>
            </a:endParaRPr>
          </a:p>
        </p:txBody>
      </p:sp>
      <p:sp>
        <p:nvSpPr>
          <p:cNvPr id="232" name="Google Shape;232;p21"/>
          <p:cNvSpPr/>
          <p:nvPr/>
        </p:nvSpPr>
        <p:spPr>
          <a:xfrm>
            <a:off x="2552700" y="1840260"/>
            <a:ext cx="184594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{1, 2, 4, 8}</a:t>
            </a:r>
            <a:endParaRPr b="0" i="0" sz="1125" u="none" cap="none" strike="noStrike">
              <a:solidFill>
                <a:schemeClr val="dk1"/>
              </a:solidFill>
              <a:latin typeface="Calibri"/>
              <a:ea typeface="Calibri"/>
              <a:cs typeface="Calibri"/>
              <a:sym typeface="Calibri"/>
            </a:endParaRPr>
          </a:p>
        </p:txBody>
      </p:sp>
      <p:sp>
        <p:nvSpPr>
          <p:cNvPr id="233" name="Google Shape;233;p21"/>
          <p:cNvSpPr/>
          <p:nvPr/>
        </p:nvSpPr>
        <p:spPr>
          <a:xfrm>
            <a:off x="2552700" y="2120205"/>
            <a:ext cx="184594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Spec Length: 8 tokens</a:t>
            </a:r>
            <a:endParaRPr b="0" i="0" sz="1050" u="none" cap="none" strike="noStrike">
              <a:solidFill>
                <a:schemeClr val="dk1"/>
              </a:solidFill>
              <a:latin typeface="Calibri"/>
              <a:ea typeface="Calibri"/>
              <a:cs typeface="Calibri"/>
              <a:sym typeface="Calibri"/>
            </a:endParaRPr>
          </a:p>
        </p:txBody>
      </p:sp>
      <p:sp>
        <p:nvSpPr>
          <p:cNvPr id="234" name="Google Shape;234;p21"/>
          <p:cNvSpPr/>
          <p:nvPr/>
        </p:nvSpPr>
        <p:spPr>
          <a:xfrm>
            <a:off x="476250" y="2732782"/>
            <a:ext cx="4000500" cy="940891"/>
          </a:xfrm>
          <a:prstGeom prst="roundRect">
            <a:avLst>
              <a:gd fmla="val 8099"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35" name="Google Shape;235;p21"/>
          <p:cNvSpPr/>
          <p:nvPr/>
        </p:nvSpPr>
        <p:spPr>
          <a:xfrm>
            <a:off x="590550" y="2885182"/>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825"/>
              <a:buFont typeface="Arial"/>
              <a:buNone/>
            </a:pPr>
            <a:r>
              <a:rPr b="1" i="0" lang="zh-TW" sz="1125" u="none" cap="none" strike="noStrike">
                <a:solidFill>
                  <a:srgbClr val="DC2626"/>
                </a:solidFill>
                <a:latin typeface="Arial"/>
                <a:ea typeface="Arial"/>
                <a:cs typeface="Arial"/>
                <a:sym typeface="Arial"/>
              </a:rPr>
              <a:t>ENVIRONMENT</a:t>
            </a:r>
            <a:endParaRPr b="0" i="0" sz="1125" u="none" cap="none" strike="noStrike">
              <a:solidFill>
                <a:schemeClr val="dk1"/>
              </a:solidFill>
              <a:latin typeface="Calibri"/>
              <a:ea typeface="Calibri"/>
              <a:cs typeface="Calibri"/>
              <a:sym typeface="Calibri"/>
            </a:endParaRPr>
          </a:p>
        </p:txBody>
      </p:sp>
      <p:sp>
        <p:nvSpPr>
          <p:cNvPr id="236" name="Google Shape;236;p21"/>
          <p:cNvSpPr/>
          <p:nvPr/>
        </p:nvSpPr>
        <p:spPr>
          <a:xfrm>
            <a:off x="590550" y="3146078"/>
            <a:ext cx="133451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Hardware</a:t>
            </a:r>
            <a:endParaRPr b="0" i="0" sz="1050" u="none" cap="none" strike="noStrike">
              <a:solidFill>
                <a:schemeClr val="dk1"/>
              </a:solidFill>
              <a:latin typeface="Calibri"/>
              <a:ea typeface="Calibri"/>
              <a:cs typeface="Calibri"/>
              <a:sym typeface="Calibri"/>
            </a:endParaRPr>
          </a:p>
        </p:txBody>
      </p:sp>
      <p:sp>
        <p:nvSpPr>
          <p:cNvPr id="237" name="Google Shape;237;p21"/>
          <p:cNvSpPr/>
          <p:nvPr/>
        </p:nvSpPr>
        <p:spPr>
          <a:xfrm>
            <a:off x="590550" y="3374674"/>
            <a:ext cx="1913400" cy="21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RTX 4090 (82 SMs, CC 8.9)</a:t>
            </a:r>
            <a:endParaRPr b="0" i="0" sz="1125" u="none" cap="none" strike="noStrike">
              <a:solidFill>
                <a:schemeClr val="dk1"/>
              </a:solidFill>
              <a:latin typeface="Calibri"/>
              <a:ea typeface="Calibri"/>
              <a:cs typeface="Calibri"/>
              <a:sym typeface="Calibri"/>
            </a:endParaRPr>
          </a:p>
        </p:txBody>
      </p:sp>
      <p:sp>
        <p:nvSpPr>
          <p:cNvPr id="238" name="Google Shape;238;p21"/>
          <p:cNvSpPr/>
          <p:nvPr/>
        </p:nvSpPr>
        <p:spPr>
          <a:xfrm>
            <a:off x="2448557" y="3146078"/>
            <a:ext cx="1152300" cy="133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Software</a:t>
            </a:r>
            <a:endParaRPr b="0" i="0" sz="1050" u="none" cap="none" strike="noStrike">
              <a:solidFill>
                <a:schemeClr val="dk1"/>
              </a:solidFill>
              <a:latin typeface="Calibri"/>
              <a:ea typeface="Calibri"/>
              <a:cs typeface="Calibri"/>
              <a:sym typeface="Calibri"/>
            </a:endParaRPr>
          </a:p>
        </p:txBody>
      </p:sp>
      <p:sp>
        <p:nvSpPr>
          <p:cNvPr id="239" name="Google Shape;239;p21"/>
          <p:cNvSpPr/>
          <p:nvPr/>
        </p:nvSpPr>
        <p:spPr>
          <a:xfrm>
            <a:off x="2448546" y="3374673"/>
            <a:ext cx="1845900" cy="234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CUDA 12.x, PyTorch 2.8</a:t>
            </a:r>
            <a:endParaRPr b="0" i="0" sz="1125" u="none" cap="none" strike="noStrike">
              <a:solidFill>
                <a:schemeClr val="dk1"/>
              </a:solidFill>
              <a:latin typeface="Calibri"/>
              <a:ea typeface="Calibri"/>
              <a:cs typeface="Calibri"/>
              <a:sym typeface="Calibri"/>
            </a:endParaRPr>
          </a:p>
        </p:txBody>
      </p:sp>
      <p:sp>
        <p:nvSpPr>
          <p:cNvPr id="240" name="Google Shape;240;p21"/>
          <p:cNvSpPr/>
          <p:nvPr/>
        </p:nvSpPr>
        <p:spPr>
          <a:xfrm>
            <a:off x="476250" y="3768923"/>
            <a:ext cx="4000500" cy="674191"/>
          </a:xfrm>
          <a:prstGeom prst="roundRect">
            <a:avLst>
              <a:gd fmla="val 11302"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41" name="Google Shape;241;p21"/>
          <p:cNvSpPr/>
          <p:nvPr/>
        </p:nvSpPr>
        <p:spPr>
          <a:xfrm>
            <a:off x="590550" y="3921323"/>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825"/>
              <a:buFont typeface="Arial"/>
              <a:buNone/>
            </a:pPr>
            <a:r>
              <a:rPr b="1" i="0" lang="zh-TW" sz="1125" u="none" cap="none" strike="noStrike">
                <a:solidFill>
                  <a:srgbClr val="16A34A"/>
                </a:solidFill>
                <a:latin typeface="Arial"/>
                <a:ea typeface="Arial"/>
                <a:cs typeface="Arial"/>
                <a:sym typeface="Arial"/>
              </a:rPr>
              <a:t>BENCHMARK PROTOCOL</a:t>
            </a:r>
            <a:endParaRPr b="0" i="0" sz="1125" u="none" cap="none" strike="noStrike">
              <a:solidFill>
                <a:schemeClr val="dk1"/>
              </a:solidFill>
              <a:latin typeface="Calibri"/>
              <a:ea typeface="Calibri"/>
              <a:cs typeface="Calibri"/>
              <a:sym typeface="Calibri"/>
            </a:endParaRPr>
          </a:p>
        </p:txBody>
      </p:sp>
      <p:sp>
        <p:nvSpPr>
          <p:cNvPr id="242" name="Google Shape;242;p21"/>
          <p:cNvSpPr/>
          <p:nvPr/>
        </p:nvSpPr>
        <p:spPr>
          <a:xfrm>
            <a:off x="590550" y="4144119"/>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10 warmup, 100 iterations, GPU sync</a:t>
            </a:r>
            <a:endParaRPr b="0" i="0" sz="1125" u="none" cap="none" strike="noStrike">
              <a:solidFill>
                <a:schemeClr val="dk1"/>
              </a:solidFill>
              <a:latin typeface="Calibri"/>
              <a:ea typeface="Calibri"/>
              <a:cs typeface="Calibri"/>
              <a:sym typeface="Calibri"/>
            </a:endParaRPr>
          </a:p>
        </p:txBody>
      </p:sp>
      <p:sp>
        <p:nvSpPr>
          <p:cNvPr id="243" name="Google Shape;243;p21"/>
          <p:cNvSpPr/>
          <p:nvPr/>
        </p:nvSpPr>
        <p:spPr>
          <a:xfrm>
            <a:off x="4667250" y="1188988"/>
            <a:ext cx="4000500" cy="1272183"/>
          </a:xfrm>
          <a:prstGeom prst="roundRect">
            <a:avLst>
              <a:gd fmla="val 5990"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44" name="Google Shape;244;p21"/>
          <p:cNvSpPr/>
          <p:nvPr/>
        </p:nvSpPr>
        <p:spPr>
          <a:xfrm>
            <a:off x="4781550" y="1341388"/>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825"/>
              <a:buFont typeface="Arial"/>
              <a:buNone/>
            </a:pPr>
            <a:r>
              <a:rPr b="1" i="0" lang="zh-TW" sz="1125" u="none" cap="none" strike="noStrike">
                <a:solidFill>
                  <a:srgbClr val="2563EB"/>
                </a:solidFill>
                <a:latin typeface="Arial"/>
                <a:ea typeface="Arial"/>
                <a:cs typeface="Arial"/>
                <a:sym typeface="Arial"/>
              </a:rPr>
              <a:t>ALGORITHM VARIANTS</a:t>
            </a:r>
            <a:endParaRPr b="0" i="0" sz="1125" u="none" cap="none" strike="noStrike">
              <a:solidFill>
                <a:schemeClr val="dk1"/>
              </a:solidFill>
              <a:latin typeface="Calibri"/>
              <a:ea typeface="Calibri"/>
              <a:cs typeface="Calibri"/>
              <a:sym typeface="Calibri"/>
            </a:endParaRPr>
          </a:p>
        </p:txBody>
      </p:sp>
      <p:sp>
        <p:nvSpPr>
          <p:cNvPr id="245" name="Google Shape;245;p21"/>
          <p:cNvSpPr/>
          <p:nvPr/>
        </p:nvSpPr>
        <p:spPr>
          <a:xfrm>
            <a:off x="4781550" y="1637407"/>
            <a:ext cx="76200" cy="76200"/>
          </a:xfrm>
          <a:prstGeom prst="roundRect">
            <a:avLst>
              <a:gd fmla="val 1200000" name="adj"/>
            </a:avLst>
          </a:prstGeom>
          <a:solidFill>
            <a:srgbClr val="64748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46" name="Google Shape;246;p21"/>
          <p:cNvSpPr/>
          <p:nvPr/>
        </p:nvSpPr>
        <p:spPr>
          <a:xfrm>
            <a:off x="4933950" y="1602268"/>
            <a:ext cx="24534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1" i="0" lang="zh-TW" sz="1125" u="none" cap="none" strike="noStrike">
                <a:solidFill>
                  <a:srgbClr val="1A1A2E"/>
                </a:solidFill>
                <a:latin typeface="Arial"/>
                <a:ea typeface="Arial"/>
                <a:cs typeface="Arial"/>
                <a:sym typeface="Arial"/>
              </a:rPr>
              <a:t>Baseline</a:t>
            </a:r>
            <a:r>
              <a:rPr b="0" i="0" lang="zh-TW" sz="1125" u="none" cap="none" strike="noStrike">
                <a:solidFill>
                  <a:srgbClr val="1A1A2E"/>
                </a:solidFill>
                <a:latin typeface="Arial"/>
                <a:ea typeface="Arial"/>
                <a:cs typeface="Arial"/>
                <a:sym typeface="Arial"/>
              </a:rPr>
              <a:t> </a:t>
            </a:r>
            <a:r>
              <a:rPr b="0" i="0" lang="zh-TW" sz="1125" u="none" cap="none" strike="noStrike">
                <a:solidFill>
                  <a:srgbClr val="64748B"/>
                </a:solidFill>
                <a:latin typeface="Arial"/>
                <a:ea typeface="Arial"/>
                <a:cs typeface="Arial"/>
                <a:sym typeface="Arial"/>
              </a:rPr>
              <a:t>- Python reference</a:t>
            </a:r>
            <a:endParaRPr b="0" i="0" sz="1125" u="none" cap="none" strike="noStrike">
              <a:solidFill>
                <a:schemeClr val="dk1"/>
              </a:solidFill>
              <a:latin typeface="Calibri"/>
              <a:ea typeface="Calibri"/>
              <a:cs typeface="Calibri"/>
              <a:sym typeface="Calibri"/>
            </a:endParaRPr>
          </a:p>
        </p:txBody>
      </p:sp>
      <p:sp>
        <p:nvSpPr>
          <p:cNvPr id="247" name="Google Shape;247;p21"/>
          <p:cNvSpPr/>
          <p:nvPr/>
        </p:nvSpPr>
        <p:spPr>
          <a:xfrm>
            <a:off x="4781550" y="1917353"/>
            <a:ext cx="76200" cy="76200"/>
          </a:xfrm>
          <a:prstGeom prst="roundRect">
            <a:avLst>
              <a:gd fmla="val 1200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48" name="Google Shape;248;p21"/>
          <p:cNvSpPr/>
          <p:nvPr/>
        </p:nvSpPr>
        <p:spPr>
          <a:xfrm>
            <a:off x="4933950" y="1882222"/>
            <a:ext cx="20322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1" i="0" lang="zh-TW" sz="1125" u="none" cap="none" strike="noStrike">
                <a:solidFill>
                  <a:srgbClr val="1A1A2E"/>
                </a:solidFill>
                <a:latin typeface="Arial"/>
                <a:ea typeface="Arial"/>
                <a:cs typeface="Arial"/>
                <a:sym typeface="Arial"/>
              </a:rPr>
              <a:t>V1</a:t>
            </a:r>
            <a:r>
              <a:rPr b="0" i="0" lang="zh-TW" sz="1125" u="none" cap="none" strike="noStrike">
                <a:solidFill>
                  <a:srgbClr val="1A1A2E"/>
                </a:solidFill>
                <a:latin typeface="Arial"/>
                <a:ea typeface="Arial"/>
                <a:cs typeface="Arial"/>
                <a:sym typeface="Arial"/>
              </a:rPr>
              <a:t> </a:t>
            </a:r>
            <a:r>
              <a:rPr b="0" i="0" lang="zh-TW" sz="1125" u="none" cap="none" strike="noStrike">
                <a:solidFill>
                  <a:srgbClr val="64748B"/>
                </a:solidFill>
                <a:latin typeface="Arial"/>
                <a:ea typeface="Arial"/>
                <a:cs typeface="Arial"/>
                <a:sym typeface="Arial"/>
              </a:rPr>
              <a:t>- Sequential argmax</a:t>
            </a:r>
            <a:endParaRPr b="0" i="0" sz="1125" u="none" cap="none" strike="noStrike">
              <a:solidFill>
                <a:schemeClr val="dk1"/>
              </a:solidFill>
              <a:latin typeface="Calibri"/>
              <a:ea typeface="Calibri"/>
              <a:cs typeface="Calibri"/>
              <a:sym typeface="Calibri"/>
            </a:endParaRPr>
          </a:p>
        </p:txBody>
      </p:sp>
      <p:sp>
        <p:nvSpPr>
          <p:cNvPr id="249" name="Google Shape;249;p21"/>
          <p:cNvSpPr/>
          <p:nvPr/>
        </p:nvSpPr>
        <p:spPr>
          <a:xfrm>
            <a:off x="4781550" y="2197298"/>
            <a:ext cx="76200" cy="76200"/>
          </a:xfrm>
          <a:prstGeom prst="roundRect">
            <a:avLst>
              <a:gd fmla="val 1200000" name="adj"/>
            </a:avLst>
          </a:prstGeom>
          <a:solidFill>
            <a:srgbClr val="16A34A"/>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50" name="Google Shape;250;p21"/>
          <p:cNvSpPr/>
          <p:nvPr/>
        </p:nvSpPr>
        <p:spPr>
          <a:xfrm>
            <a:off x="4933950" y="2162175"/>
            <a:ext cx="19134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1" i="0" lang="zh-TW" sz="1125" u="none" cap="none" strike="noStrike">
                <a:solidFill>
                  <a:srgbClr val="1A1A2E"/>
                </a:solidFill>
                <a:latin typeface="Arial"/>
                <a:ea typeface="Arial"/>
                <a:cs typeface="Arial"/>
                <a:sym typeface="Arial"/>
              </a:rPr>
              <a:t>V2</a:t>
            </a:r>
            <a:r>
              <a:rPr b="0" i="0" lang="zh-TW" sz="1125" u="none" cap="none" strike="noStrike">
                <a:solidFill>
                  <a:srgbClr val="1A1A2E"/>
                </a:solidFill>
                <a:latin typeface="Arial"/>
                <a:ea typeface="Arial"/>
                <a:cs typeface="Arial"/>
                <a:sym typeface="Arial"/>
              </a:rPr>
              <a:t> </a:t>
            </a:r>
            <a:r>
              <a:rPr b="0" i="0" lang="zh-TW" sz="1125" u="none" cap="none" strike="noStrike">
                <a:solidFill>
                  <a:srgbClr val="64748B"/>
                </a:solidFill>
                <a:latin typeface="Arial"/>
                <a:ea typeface="Arial"/>
                <a:cs typeface="Arial"/>
                <a:sym typeface="Arial"/>
              </a:rPr>
              <a:t>- Parallel reduction</a:t>
            </a:r>
            <a:endParaRPr b="0" i="0" sz="1125" u="none" cap="none" strike="noStrike">
              <a:solidFill>
                <a:schemeClr val="dk1"/>
              </a:solidFill>
              <a:latin typeface="Calibri"/>
              <a:ea typeface="Calibri"/>
              <a:cs typeface="Calibri"/>
              <a:sym typeface="Calibri"/>
            </a:endParaRPr>
          </a:p>
        </p:txBody>
      </p:sp>
      <p:sp>
        <p:nvSpPr>
          <p:cNvPr id="251" name="Google Shape;251;p21"/>
          <p:cNvSpPr/>
          <p:nvPr/>
        </p:nvSpPr>
        <p:spPr>
          <a:xfrm>
            <a:off x="4667250" y="2556421"/>
            <a:ext cx="4000500" cy="908596"/>
          </a:xfrm>
          <a:prstGeom prst="roundRect">
            <a:avLst>
              <a:gd fmla="val 8387"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52" name="Google Shape;252;p21"/>
          <p:cNvSpPr/>
          <p:nvPr/>
        </p:nvSpPr>
        <p:spPr>
          <a:xfrm>
            <a:off x="4781550" y="2708821"/>
            <a:ext cx="3847338"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825"/>
              <a:buFont typeface="Arial"/>
              <a:buNone/>
            </a:pPr>
            <a:r>
              <a:rPr b="1" i="0" lang="zh-TW" sz="1125" u="none" cap="none" strike="noStrike">
                <a:solidFill>
                  <a:srgbClr val="DC2626"/>
                </a:solidFill>
                <a:latin typeface="Arial"/>
                <a:ea typeface="Arial"/>
                <a:cs typeface="Arial"/>
                <a:sym typeface="Arial"/>
              </a:rPr>
              <a:t>EVALUATION METRICS</a:t>
            </a:r>
            <a:endParaRPr b="0" i="0" sz="1125" u="none" cap="none" strike="noStrike">
              <a:solidFill>
                <a:schemeClr val="dk1"/>
              </a:solidFill>
              <a:latin typeface="Calibri"/>
              <a:ea typeface="Calibri"/>
              <a:cs typeface="Calibri"/>
              <a:sym typeface="Calibri"/>
            </a:endParaRPr>
          </a:p>
        </p:txBody>
      </p:sp>
      <p:sp>
        <p:nvSpPr>
          <p:cNvPr id="253" name="Google Shape;253;p21"/>
          <p:cNvSpPr/>
          <p:nvPr/>
        </p:nvSpPr>
        <p:spPr>
          <a:xfrm>
            <a:off x="4667250" y="3560266"/>
            <a:ext cx="4000500" cy="641896"/>
          </a:xfrm>
          <a:prstGeom prst="roundRect">
            <a:avLst>
              <a:gd fmla="val 11871" name="adj"/>
            </a:avLst>
          </a:prstGeom>
          <a:solidFill>
            <a:srgbClr val="DCFCE7"/>
          </a:solidFill>
          <a:ln cap="flat" cmpd="sng" w="9525">
            <a:solidFill>
              <a:srgbClr val="16A3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54" name="Google Shape;254;p21"/>
          <p:cNvSpPr/>
          <p:nvPr/>
        </p:nvSpPr>
        <p:spPr>
          <a:xfrm>
            <a:off x="4791075" y="3722191"/>
            <a:ext cx="3827907"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825"/>
              <a:buFont typeface="Arial"/>
              <a:buNone/>
            </a:pPr>
            <a:r>
              <a:rPr b="1" i="0" lang="zh-TW" sz="1125" u="none" cap="none" strike="noStrike">
                <a:solidFill>
                  <a:srgbClr val="16A34A"/>
                </a:solidFill>
                <a:latin typeface="Arial"/>
                <a:ea typeface="Arial"/>
                <a:cs typeface="Arial"/>
                <a:sym typeface="Arial"/>
              </a:rPr>
              <a:t>✓ 1000+ test cases verified</a:t>
            </a:r>
            <a:endParaRPr b="0" i="0" sz="1125" u="none" cap="none" strike="noStrike">
              <a:solidFill>
                <a:schemeClr val="dk1"/>
              </a:solidFill>
              <a:latin typeface="Calibri"/>
              <a:ea typeface="Calibri"/>
              <a:cs typeface="Calibri"/>
              <a:sym typeface="Calibri"/>
            </a:endParaRPr>
          </a:p>
        </p:txBody>
      </p:sp>
      <p:sp>
        <p:nvSpPr>
          <p:cNvPr id="255" name="Google Shape;255;p21"/>
          <p:cNvSpPr/>
          <p:nvPr/>
        </p:nvSpPr>
        <p:spPr>
          <a:xfrm>
            <a:off x="4791075" y="3906887"/>
            <a:ext cx="3827907"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050" u="none" cap="none" strike="noStrike">
                <a:solidFill>
                  <a:srgbClr val="64748B"/>
                </a:solidFill>
                <a:latin typeface="Arial"/>
                <a:ea typeface="Arial"/>
                <a:cs typeface="Arial"/>
                <a:sym typeface="Arial"/>
              </a:rPr>
              <a:t>V1↔V2, V2↔Baseline output matching</a:t>
            </a:r>
            <a:endParaRPr b="0" i="0" sz="1050" u="none" cap="none" strike="noStrike">
              <a:solidFill>
                <a:schemeClr val="dk1"/>
              </a:solidFill>
              <a:latin typeface="Calibri"/>
              <a:ea typeface="Calibri"/>
              <a:cs typeface="Calibri"/>
              <a:sym typeface="Calibri"/>
            </a:endParaRPr>
          </a:p>
        </p:txBody>
      </p:sp>
      <p:sp>
        <p:nvSpPr>
          <p:cNvPr id="256" name="Google Shape;256;p21"/>
          <p:cNvSpPr txBox="1"/>
          <p:nvPr/>
        </p:nvSpPr>
        <p:spPr>
          <a:xfrm>
            <a:off x="4833300" y="2909675"/>
            <a:ext cx="2790000" cy="36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p>
        </p:txBody>
      </p:sp>
      <p:sp>
        <p:nvSpPr>
          <p:cNvPr id="257" name="Google Shape;257;p21"/>
          <p:cNvSpPr/>
          <p:nvPr/>
        </p:nvSpPr>
        <p:spPr>
          <a:xfrm>
            <a:off x="4781550" y="2972632"/>
            <a:ext cx="76200" cy="76200"/>
          </a:xfrm>
          <a:prstGeom prst="roundRect">
            <a:avLst>
              <a:gd fmla="val 50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58" name="Google Shape;258;p21"/>
          <p:cNvSpPr/>
          <p:nvPr/>
        </p:nvSpPr>
        <p:spPr>
          <a:xfrm>
            <a:off x="4781550" y="3205000"/>
            <a:ext cx="76200" cy="76200"/>
          </a:xfrm>
          <a:prstGeom prst="roundRect">
            <a:avLst>
              <a:gd fmla="val 50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259" name="Google Shape;259;p21"/>
          <p:cNvSpPr txBox="1"/>
          <p:nvPr/>
        </p:nvSpPr>
        <p:spPr>
          <a:xfrm>
            <a:off x="4876800" y="2858313"/>
            <a:ext cx="13839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100"/>
              <a:t>Time </a:t>
            </a:r>
            <a:r>
              <a:rPr lang="zh-TW" sz="1100"/>
              <a:t>- </a:t>
            </a:r>
            <a:r>
              <a:rPr lang="zh-TW" sz="1100">
                <a:solidFill>
                  <a:schemeClr val="accent3"/>
                </a:solidFill>
              </a:rPr>
              <a:t>s</a:t>
            </a:r>
            <a:endParaRPr sz="1100">
              <a:solidFill>
                <a:schemeClr val="accent3"/>
              </a:solidFill>
            </a:endParaRPr>
          </a:p>
        </p:txBody>
      </p:sp>
      <p:sp>
        <p:nvSpPr>
          <p:cNvPr id="260" name="Google Shape;260;p21"/>
          <p:cNvSpPr txBox="1"/>
          <p:nvPr/>
        </p:nvSpPr>
        <p:spPr>
          <a:xfrm>
            <a:off x="4876800" y="3079600"/>
            <a:ext cx="1970400" cy="47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zh-TW" sz="1100"/>
              <a:t>Throughput </a:t>
            </a:r>
            <a:r>
              <a:rPr lang="zh-TW" sz="1100"/>
              <a:t>- </a:t>
            </a:r>
            <a:r>
              <a:rPr lang="zh-TW" sz="1100">
                <a:solidFill>
                  <a:schemeClr val="accent3"/>
                </a:solidFill>
              </a:rPr>
              <a:t>token / s</a:t>
            </a:r>
            <a:endParaRPr sz="1100">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22"/>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7" name="Google Shape;267;p22"/>
          <p:cNvSpPr/>
          <p:nvPr/>
        </p:nvSpPr>
        <p:spPr>
          <a:xfrm>
            <a:off x="476250" y="228600"/>
            <a:ext cx="6188774"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Results: Rejection Sampling Performance</a:t>
            </a:r>
            <a:endParaRPr b="0" i="0" sz="2400" u="none" cap="none" strike="noStrike">
              <a:solidFill>
                <a:schemeClr val="dk1"/>
              </a:solidFill>
              <a:latin typeface="Calibri"/>
              <a:ea typeface="Calibri"/>
              <a:cs typeface="Calibri"/>
              <a:sym typeface="Calibri"/>
            </a:endParaRPr>
          </a:p>
        </p:txBody>
      </p:sp>
      <p:sp>
        <p:nvSpPr>
          <p:cNvPr id="268" name="Google Shape;268;p22"/>
          <p:cNvSpPr/>
          <p:nvPr/>
        </p:nvSpPr>
        <p:spPr>
          <a:xfrm>
            <a:off x="476250" y="1133475"/>
            <a:ext cx="8191500" cy="2777700"/>
          </a:xfrm>
          <a:prstGeom prst="roundRect">
            <a:avLst>
              <a:gd fmla="val 2743"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200" u="none" cap="none" strike="noStrike">
              <a:solidFill>
                <a:schemeClr val="dk1"/>
              </a:solidFill>
              <a:latin typeface="Calibri"/>
              <a:ea typeface="Calibri"/>
              <a:cs typeface="Calibri"/>
              <a:sym typeface="Calibri"/>
            </a:endParaRPr>
          </a:p>
        </p:txBody>
      </p:sp>
      <p:sp>
        <p:nvSpPr>
          <p:cNvPr id="269" name="Google Shape;269;p22"/>
          <p:cNvSpPr/>
          <p:nvPr/>
        </p:nvSpPr>
        <p:spPr>
          <a:xfrm>
            <a:off x="628650" y="1323975"/>
            <a:ext cx="8044434"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300" u="none" cap="none" strike="noStrike">
                <a:solidFill>
                  <a:srgbClr val="2563EB"/>
                </a:solidFill>
                <a:latin typeface="Arial"/>
                <a:ea typeface="Arial"/>
                <a:cs typeface="Arial"/>
                <a:sym typeface="Arial"/>
              </a:rPr>
              <a:t>PURE REJECTION SAMPLING LATENCY (ms)</a:t>
            </a:r>
            <a:endParaRPr b="0" i="0" sz="1300" u="none" cap="none" strike="noStrike">
              <a:solidFill>
                <a:schemeClr val="dk1"/>
              </a:solidFill>
              <a:latin typeface="Calibri"/>
              <a:ea typeface="Calibri"/>
              <a:cs typeface="Calibri"/>
              <a:sym typeface="Calibri"/>
            </a:endParaRPr>
          </a:p>
        </p:txBody>
      </p:sp>
      <p:cxnSp>
        <p:nvCxnSpPr>
          <p:cNvPr id="270" name="Google Shape;270;p22"/>
          <p:cNvCxnSpPr/>
          <p:nvPr/>
        </p:nvCxnSpPr>
        <p:spPr>
          <a:xfrm>
            <a:off x="628650" y="1906786"/>
            <a:ext cx="7886700" cy="0"/>
          </a:xfrm>
          <a:prstGeom prst="straightConnector1">
            <a:avLst/>
          </a:prstGeom>
          <a:noFill/>
          <a:ln cap="flat" cmpd="sng" w="19050">
            <a:solidFill>
              <a:srgbClr val="E2E8F0"/>
            </a:solidFill>
            <a:prstDash val="solid"/>
            <a:round/>
            <a:headEnd len="sm" w="sm" type="none"/>
            <a:tailEnd len="sm" w="sm" type="none"/>
          </a:ln>
        </p:spPr>
      </p:cxnSp>
      <p:sp>
        <p:nvSpPr>
          <p:cNvPr id="271" name="Google Shape;271;p22"/>
          <p:cNvSpPr/>
          <p:nvPr/>
        </p:nvSpPr>
        <p:spPr>
          <a:xfrm>
            <a:off x="628650" y="1636365"/>
            <a:ext cx="582930"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1225" u="none" cap="none" strike="noStrike">
                <a:solidFill>
                  <a:srgbClr val="64748B"/>
                </a:solidFill>
                <a:latin typeface="Arial"/>
                <a:ea typeface="Arial"/>
                <a:cs typeface="Arial"/>
                <a:sym typeface="Arial"/>
              </a:rPr>
              <a:t>Batch</a:t>
            </a:r>
            <a:endParaRPr b="0" i="0" sz="1225" u="none" cap="none" strike="noStrike">
              <a:solidFill>
                <a:schemeClr val="dk1"/>
              </a:solidFill>
              <a:latin typeface="Calibri"/>
              <a:ea typeface="Calibri"/>
              <a:cs typeface="Calibri"/>
              <a:sym typeface="Calibri"/>
            </a:endParaRPr>
          </a:p>
        </p:txBody>
      </p:sp>
      <p:sp>
        <p:nvSpPr>
          <p:cNvPr id="272" name="Google Shape;272;p22"/>
          <p:cNvSpPr/>
          <p:nvPr/>
        </p:nvSpPr>
        <p:spPr>
          <a:xfrm>
            <a:off x="1200150" y="1636365"/>
            <a:ext cx="87439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1225" u="none" cap="none" strike="noStrike">
                <a:solidFill>
                  <a:srgbClr val="64748B"/>
                </a:solidFill>
                <a:latin typeface="Arial"/>
                <a:ea typeface="Arial"/>
                <a:cs typeface="Arial"/>
                <a:sym typeface="Arial"/>
              </a:rPr>
              <a:t>Baseline</a:t>
            </a:r>
            <a:endParaRPr b="0" i="0" sz="1225" u="none" cap="none" strike="noStrike">
              <a:solidFill>
                <a:schemeClr val="dk1"/>
              </a:solidFill>
              <a:latin typeface="Calibri"/>
              <a:ea typeface="Calibri"/>
              <a:cs typeface="Calibri"/>
              <a:sym typeface="Calibri"/>
            </a:endParaRPr>
          </a:p>
        </p:txBody>
      </p:sp>
      <p:sp>
        <p:nvSpPr>
          <p:cNvPr id="273" name="Google Shape;273;p22"/>
          <p:cNvSpPr/>
          <p:nvPr/>
        </p:nvSpPr>
        <p:spPr>
          <a:xfrm>
            <a:off x="2057400" y="1636365"/>
            <a:ext cx="87439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1225" u="none" cap="none" strike="noStrike">
                <a:solidFill>
                  <a:srgbClr val="64748B"/>
                </a:solidFill>
                <a:latin typeface="Arial"/>
                <a:ea typeface="Arial"/>
                <a:cs typeface="Arial"/>
                <a:sym typeface="Arial"/>
              </a:rPr>
              <a:t>Fused</a:t>
            </a:r>
            <a:endParaRPr b="0" i="0" sz="1225" u="none" cap="none" strike="noStrike">
              <a:solidFill>
                <a:schemeClr val="dk1"/>
              </a:solidFill>
              <a:latin typeface="Calibri"/>
              <a:ea typeface="Calibri"/>
              <a:cs typeface="Calibri"/>
              <a:sym typeface="Calibri"/>
            </a:endParaRPr>
          </a:p>
        </p:txBody>
      </p:sp>
      <p:sp>
        <p:nvSpPr>
          <p:cNvPr id="274" name="Google Shape;274;p22"/>
          <p:cNvSpPr/>
          <p:nvPr/>
        </p:nvSpPr>
        <p:spPr>
          <a:xfrm>
            <a:off x="2914650" y="1636365"/>
            <a:ext cx="87439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825"/>
              <a:buFont typeface="Arial"/>
              <a:buNone/>
            </a:pPr>
            <a:r>
              <a:rPr b="1" i="0" lang="zh-TW" sz="1225" u="none" cap="none" strike="noStrike">
                <a:solidFill>
                  <a:srgbClr val="16A34A"/>
                </a:solidFill>
                <a:latin typeface="Arial"/>
                <a:ea typeface="Arial"/>
                <a:cs typeface="Arial"/>
                <a:sym typeface="Arial"/>
              </a:rPr>
              <a:t>CUDA V2</a:t>
            </a:r>
            <a:endParaRPr b="0" i="0" sz="1225" u="none" cap="none" strike="noStrike">
              <a:solidFill>
                <a:schemeClr val="dk1"/>
              </a:solidFill>
              <a:latin typeface="Calibri"/>
              <a:ea typeface="Calibri"/>
              <a:cs typeface="Calibri"/>
              <a:sym typeface="Calibri"/>
            </a:endParaRPr>
          </a:p>
        </p:txBody>
      </p:sp>
      <p:sp>
        <p:nvSpPr>
          <p:cNvPr id="275" name="Google Shape;275;p22"/>
          <p:cNvSpPr/>
          <p:nvPr/>
        </p:nvSpPr>
        <p:spPr>
          <a:xfrm>
            <a:off x="3936919" y="1636365"/>
            <a:ext cx="971700" cy="14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1225" u="none" cap="none" strike="noStrike">
                <a:solidFill>
                  <a:srgbClr val="64748B"/>
                </a:solidFill>
                <a:latin typeface="Arial"/>
                <a:ea typeface="Arial"/>
                <a:cs typeface="Arial"/>
                <a:sym typeface="Arial"/>
              </a:rPr>
              <a:t>Fused Speed</a:t>
            </a:r>
            <a:endParaRPr b="0" i="0" sz="1225" u="none" cap="none" strike="noStrike">
              <a:solidFill>
                <a:schemeClr val="dk1"/>
              </a:solidFill>
              <a:latin typeface="Calibri"/>
              <a:ea typeface="Calibri"/>
              <a:cs typeface="Calibri"/>
              <a:sym typeface="Calibri"/>
            </a:endParaRPr>
          </a:p>
        </p:txBody>
      </p:sp>
      <p:sp>
        <p:nvSpPr>
          <p:cNvPr id="276" name="Google Shape;276;p22"/>
          <p:cNvSpPr/>
          <p:nvPr/>
        </p:nvSpPr>
        <p:spPr>
          <a:xfrm>
            <a:off x="5229164" y="1636365"/>
            <a:ext cx="971700" cy="14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825"/>
              <a:buFont typeface="Arial"/>
              <a:buNone/>
            </a:pPr>
            <a:r>
              <a:rPr b="1" i="0" lang="zh-TW" sz="1225" u="none" cap="none" strike="noStrike">
                <a:solidFill>
                  <a:srgbClr val="2563EB"/>
                </a:solidFill>
                <a:latin typeface="Arial"/>
                <a:ea typeface="Arial"/>
                <a:cs typeface="Arial"/>
                <a:sym typeface="Arial"/>
              </a:rPr>
              <a:t>V2 Speed</a:t>
            </a:r>
            <a:endParaRPr b="0" i="0" sz="1225" u="none" cap="none" strike="noStrike">
              <a:solidFill>
                <a:schemeClr val="dk1"/>
              </a:solidFill>
              <a:latin typeface="Calibri"/>
              <a:ea typeface="Calibri"/>
              <a:cs typeface="Calibri"/>
              <a:sym typeface="Calibri"/>
            </a:endParaRPr>
          </a:p>
        </p:txBody>
      </p:sp>
      <p:sp>
        <p:nvSpPr>
          <p:cNvPr id="277" name="Google Shape;277;p22"/>
          <p:cNvSpPr/>
          <p:nvPr/>
        </p:nvSpPr>
        <p:spPr>
          <a:xfrm>
            <a:off x="628650" y="1992511"/>
            <a:ext cx="7886700" cy="350490"/>
          </a:xfrm>
          <a:prstGeom prst="roundRect">
            <a:avLst>
              <a:gd fmla="val 1087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78" name="Google Shape;278;p22"/>
          <p:cNvSpPr/>
          <p:nvPr/>
        </p:nvSpPr>
        <p:spPr>
          <a:xfrm>
            <a:off x="628650" y="2087761"/>
            <a:ext cx="582930"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1300" u="none" cap="none" strike="noStrike">
                <a:solidFill>
                  <a:srgbClr val="1A1A2E"/>
                </a:solidFill>
                <a:latin typeface="Arial"/>
                <a:ea typeface="Arial"/>
                <a:cs typeface="Arial"/>
                <a:sym typeface="Arial"/>
              </a:rPr>
              <a:t>1</a:t>
            </a:r>
            <a:endParaRPr b="0" i="0" sz="1300" u="none" cap="none" strike="noStrike">
              <a:solidFill>
                <a:schemeClr val="dk1"/>
              </a:solidFill>
              <a:latin typeface="Calibri"/>
              <a:ea typeface="Calibri"/>
              <a:cs typeface="Calibri"/>
              <a:sym typeface="Calibri"/>
            </a:endParaRPr>
          </a:p>
        </p:txBody>
      </p:sp>
      <p:sp>
        <p:nvSpPr>
          <p:cNvPr id="279" name="Google Shape;279;p22"/>
          <p:cNvSpPr/>
          <p:nvPr/>
        </p:nvSpPr>
        <p:spPr>
          <a:xfrm>
            <a:off x="1200150" y="208776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8.75</a:t>
            </a:r>
            <a:endParaRPr b="0" i="0" sz="1300" u="none" cap="none" strike="noStrike">
              <a:solidFill>
                <a:schemeClr val="dk1"/>
              </a:solidFill>
              <a:latin typeface="Calibri"/>
              <a:ea typeface="Calibri"/>
              <a:cs typeface="Calibri"/>
              <a:sym typeface="Calibri"/>
            </a:endParaRPr>
          </a:p>
        </p:txBody>
      </p:sp>
      <p:sp>
        <p:nvSpPr>
          <p:cNvPr id="280" name="Google Shape;280;p22"/>
          <p:cNvSpPr/>
          <p:nvPr/>
        </p:nvSpPr>
        <p:spPr>
          <a:xfrm>
            <a:off x="2057400" y="208776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0" i="0" lang="zh-TW" sz="1300" u="none" cap="none" strike="noStrike">
                <a:solidFill>
                  <a:srgbClr val="DC2626"/>
                </a:solidFill>
                <a:latin typeface="Arial"/>
                <a:ea typeface="Arial"/>
                <a:cs typeface="Arial"/>
                <a:sym typeface="Arial"/>
              </a:rPr>
              <a:t>23.36</a:t>
            </a:r>
            <a:endParaRPr b="0" i="0" sz="1300" u="none" cap="none" strike="noStrike">
              <a:solidFill>
                <a:schemeClr val="dk1"/>
              </a:solidFill>
              <a:latin typeface="Calibri"/>
              <a:ea typeface="Calibri"/>
              <a:cs typeface="Calibri"/>
              <a:sym typeface="Calibri"/>
            </a:endParaRPr>
          </a:p>
        </p:txBody>
      </p:sp>
      <p:sp>
        <p:nvSpPr>
          <p:cNvPr id="281" name="Google Shape;281;p22"/>
          <p:cNvSpPr/>
          <p:nvPr/>
        </p:nvSpPr>
        <p:spPr>
          <a:xfrm>
            <a:off x="2914650" y="208776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4.77</a:t>
            </a:r>
            <a:endParaRPr b="0" i="0" sz="1300" u="none" cap="none" strike="noStrike">
              <a:solidFill>
                <a:schemeClr val="dk1"/>
              </a:solidFill>
              <a:latin typeface="Calibri"/>
              <a:ea typeface="Calibri"/>
              <a:cs typeface="Calibri"/>
              <a:sym typeface="Calibri"/>
            </a:endParaRPr>
          </a:p>
        </p:txBody>
      </p:sp>
      <p:sp>
        <p:nvSpPr>
          <p:cNvPr id="282" name="Google Shape;282;p22"/>
          <p:cNvSpPr/>
          <p:nvPr/>
        </p:nvSpPr>
        <p:spPr>
          <a:xfrm>
            <a:off x="3936919" y="208776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0" i="0" lang="zh-TW" sz="1300" u="none" cap="none" strike="noStrike">
                <a:solidFill>
                  <a:srgbClr val="DC2626"/>
                </a:solidFill>
                <a:latin typeface="Arial"/>
                <a:ea typeface="Arial"/>
                <a:cs typeface="Arial"/>
                <a:sym typeface="Arial"/>
              </a:rPr>
              <a:t>0.37×</a:t>
            </a:r>
            <a:endParaRPr b="0" i="0" sz="1300" u="none" cap="none" strike="noStrike">
              <a:solidFill>
                <a:schemeClr val="dk1"/>
              </a:solidFill>
              <a:latin typeface="Calibri"/>
              <a:ea typeface="Calibri"/>
              <a:cs typeface="Calibri"/>
              <a:sym typeface="Calibri"/>
            </a:endParaRPr>
          </a:p>
        </p:txBody>
      </p:sp>
      <p:sp>
        <p:nvSpPr>
          <p:cNvPr id="283" name="Google Shape;283;p22"/>
          <p:cNvSpPr/>
          <p:nvPr/>
        </p:nvSpPr>
        <p:spPr>
          <a:xfrm>
            <a:off x="5229164" y="208776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1.83×</a:t>
            </a:r>
            <a:endParaRPr b="0" i="0" sz="1300" u="none" cap="none" strike="noStrike">
              <a:solidFill>
                <a:schemeClr val="dk1"/>
              </a:solidFill>
              <a:latin typeface="Calibri"/>
              <a:ea typeface="Calibri"/>
              <a:cs typeface="Calibri"/>
              <a:sym typeface="Calibri"/>
            </a:endParaRPr>
          </a:p>
        </p:txBody>
      </p:sp>
      <p:sp>
        <p:nvSpPr>
          <p:cNvPr id="284" name="Google Shape;284;p22"/>
          <p:cNvSpPr/>
          <p:nvPr/>
        </p:nvSpPr>
        <p:spPr>
          <a:xfrm>
            <a:off x="628650" y="2495401"/>
            <a:ext cx="582930"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1300" u="none" cap="none" strike="noStrike">
                <a:solidFill>
                  <a:srgbClr val="1A1A2E"/>
                </a:solidFill>
                <a:latin typeface="Arial"/>
                <a:ea typeface="Arial"/>
                <a:cs typeface="Arial"/>
                <a:sym typeface="Arial"/>
              </a:rPr>
              <a:t>2</a:t>
            </a:r>
            <a:endParaRPr b="0" i="0" sz="1300" u="none" cap="none" strike="noStrike">
              <a:solidFill>
                <a:schemeClr val="dk1"/>
              </a:solidFill>
              <a:latin typeface="Calibri"/>
              <a:ea typeface="Calibri"/>
              <a:cs typeface="Calibri"/>
              <a:sym typeface="Calibri"/>
            </a:endParaRPr>
          </a:p>
        </p:txBody>
      </p:sp>
      <p:sp>
        <p:nvSpPr>
          <p:cNvPr id="285" name="Google Shape;285;p22"/>
          <p:cNvSpPr/>
          <p:nvPr/>
        </p:nvSpPr>
        <p:spPr>
          <a:xfrm>
            <a:off x="1200150" y="249540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16.67</a:t>
            </a:r>
            <a:endParaRPr b="0" i="0" sz="1300" u="none" cap="none" strike="noStrike">
              <a:solidFill>
                <a:schemeClr val="dk1"/>
              </a:solidFill>
              <a:latin typeface="Calibri"/>
              <a:ea typeface="Calibri"/>
              <a:cs typeface="Calibri"/>
              <a:sym typeface="Calibri"/>
            </a:endParaRPr>
          </a:p>
        </p:txBody>
      </p:sp>
      <p:sp>
        <p:nvSpPr>
          <p:cNvPr id="286" name="Google Shape;286;p22"/>
          <p:cNvSpPr/>
          <p:nvPr/>
        </p:nvSpPr>
        <p:spPr>
          <a:xfrm>
            <a:off x="2057400" y="249540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10.21</a:t>
            </a:r>
            <a:endParaRPr b="0" i="0" sz="1300" u="none" cap="none" strike="noStrike">
              <a:solidFill>
                <a:schemeClr val="dk1"/>
              </a:solidFill>
              <a:latin typeface="Calibri"/>
              <a:ea typeface="Calibri"/>
              <a:cs typeface="Calibri"/>
              <a:sym typeface="Calibri"/>
            </a:endParaRPr>
          </a:p>
        </p:txBody>
      </p:sp>
      <p:sp>
        <p:nvSpPr>
          <p:cNvPr id="287" name="Google Shape;287;p22"/>
          <p:cNvSpPr/>
          <p:nvPr/>
        </p:nvSpPr>
        <p:spPr>
          <a:xfrm>
            <a:off x="2914650" y="249540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4.73</a:t>
            </a:r>
            <a:endParaRPr b="0" i="0" sz="1300" u="none" cap="none" strike="noStrike">
              <a:solidFill>
                <a:schemeClr val="dk1"/>
              </a:solidFill>
              <a:latin typeface="Calibri"/>
              <a:ea typeface="Calibri"/>
              <a:cs typeface="Calibri"/>
              <a:sym typeface="Calibri"/>
            </a:endParaRPr>
          </a:p>
        </p:txBody>
      </p:sp>
      <p:sp>
        <p:nvSpPr>
          <p:cNvPr id="288" name="Google Shape;288;p22"/>
          <p:cNvSpPr/>
          <p:nvPr/>
        </p:nvSpPr>
        <p:spPr>
          <a:xfrm>
            <a:off x="3936919" y="249540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0" i="0" lang="zh-TW" sz="1300" u="none" cap="none" strike="noStrike">
                <a:solidFill>
                  <a:srgbClr val="16A34A"/>
                </a:solidFill>
                <a:latin typeface="Arial"/>
                <a:ea typeface="Arial"/>
                <a:cs typeface="Arial"/>
                <a:sym typeface="Arial"/>
              </a:rPr>
              <a:t>1.63×</a:t>
            </a:r>
            <a:endParaRPr b="0" i="0" sz="1300" u="none" cap="none" strike="noStrike">
              <a:solidFill>
                <a:schemeClr val="dk1"/>
              </a:solidFill>
              <a:latin typeface="Calibri"/>
              <a:ea typeface="Calibri"/>
              <a:cs typeface="Calibri"/>
              <a:sym typeface="Calibri"/>
            </a:endParaRPr>
          </a:p>
        </p:txBody>
      </p:sp>
      <p:sp>
        <p:nvSpPr>
          <p:cNvPr id="289" name="Google Shape;289;p22"/>
          <p:cNvSpPr/>
          <p:nvPr/>
        </p:nvSpPr>
        <p:spPr>
          <a:xfrm>
            <a:off x="5229164" y="249540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3.53×</a:t>
            </a:r>
            <a:endParaRPr b="0" i="0" sz="1300" u="none" cap="none" strike="noStrike">
              <a:solidFill>
                <a:schemeClr val="dk1"/>
              </a:solidFill>
              <a:latin typeface="Calibri"/>
              <a:ea typeface="Calibri"/>
              <a:cs typeface="Calibri"/>
              <a:sym typeface="Calibri"/>
            </a:endParaRPr>
          </a:p>
        </p:txBody>
      </p:sp>
      <p:sp>
        <p:nvSpPr>
          <p:cNvPr id="290" name="Google Shape;290;p22"/>
          <p:cNvSpPr/>
          <p:nvPr/>
        </p:nvSpPr>
        <p:spPr>
          <a:xfrm>
            <a:off x="628650" y="2807791"/>
            <a:ext cx="7886700" cy="350490"/>
          </a:xfrm>
          <a:prstGeom prst="roundRect">
            <a:avLst>
              <a:gd fmla="val 10870"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91" name="Google Shape;291;p22"/>
          <p:cNvSpPr/>
          <p:nvPr/>
        </p:nvSpPr>
        <p:spPr>
          <a:xfrm>
            <a:off x="628650" y="2903041"/>
            <a:ext cx="582930"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1300" u="none" cap="none" strike="noStrike">
                <a:solidFill>
                  <a:srgbClr val="1A1A2E"/>
                </a:solidFill>
                <a:latin typeface="Arial"/>
                <a:ea typeface="Arial"/>
                <a:cs typeface="Arial"/>
                <a:sym typeface="Arial"/>
              </a:rPr>
              <a:t>4</a:t>
            </a:r>
            <a:endParaRPr b="0" i="0" sz="1300" u="none" cap="none" strike="noStrike">
              <a:solidFill>
                <a:schemeClr val="dk1"/>
              </a:solidFill>
              <a:latin typeface="Calibri"/>
              <a:ea typeface="Calibri"/>
              <a:cs typeface="Calibri"/>
              <a:sym typeface="Calibri"/>
            </a:endParaRPr>
          </a:p>
        </p:txBody>
      </p:sp>
      <p:sp>
        <p:nvSpPr>
          <p:cNvPr id="292" name="Google Shape;292;p22"/>
          <p:cNvSpPr/>
          <p:nvPr/>
        </p:nvSpPr>
        <p:spPr>
          <a:xfrm>
            <a:off x="1200150" y="290304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33.76</a:t>
            </a:r>
            <a:endParaRPr b="0" i="0" sz="1300" u="none" cap="none" strike="noStrike">
              <a:solidFill>
                <a:schemeClr val="dk1"/>
              </a:solidFill>
              <a:latin typeface="Calibri"/>
              <a:ea typeface="Calibri"/>
              <a:cs typeface="Calibri"/>
              <a:sym typeface="Calibri"/>
            </a:endParaRPr>
          </a:p>
        </p:txBody>
      </p:sp>
      <p:sp>
        <p:nvSpPr>
          <p:cNvPr id="293" name="Google Shape;293;p22"/>
          <p:cNvSpPr/>
          <p:nvPr/>
        </p:nvSpPr>
        <p:spPr>
          <a:xfrm>
            <a:off x="2057400" y="290304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11.20</a:t>
            </a:r>
            <a:endParaRPr b="0" i="0" sz="1300" u="none" cap="none" strike="noStrike">
              <a:solidFill>
                <a:schemeClr val="dk1"/>
              </a:solidFill>
              <a:latin typeface="Calibri"/>
              <a:ea typeface="Calibri"/>
              <a:cs typeface="Calibri"/>
              <a:sym typeface="Calibri"/>
            </a:endParaRPr>
          </a:p>
        </p:txBody>
      </p:sp>
      <p:sp>
        <p:nvSpPr>
          <p:cNvPr id="294" name="Google Shape;294;p22"/>
          <p:cNvSpPr/>
          <p:nvPr/>
        </p:nvSpPr>
        <p:spPr>
          <a:xfrm>
            <a:off x="2914650" y="2903041"/>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4.87</a:t>
            </a:r>
            <a:endParaRPr b="0" i="0" sz="1300" u="none" cap="none" strike="noStrike">
              <a:solidFill>
                <a:schemeClr val="dk1"/>
              </a:solidFill>
              <a:latin typeface="Calibri"/>
              <a:ea typeface="Calibri"/>
              <a:cs typeface="Calibri"/>
              <a:sym typeface="Calibri"/>
            </a:endParaRPr>
          </a:p>
        </p:txBody>
      </p:sp>
      <p:sp>
        <p:nvSpPr>
          <p:cNvPr id="295" name="Google Shape;295;p22"/>
          <p:cNvSpPr/>
          <p:nvPr/>
        </p:nvSpPr>
        <p:spPr>
          <a:xfrm>
            <a:off x="3936919" y="290304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0" i="0" lang="zh-TW" sz="1300" u="none" cap="none" strike="noStrike">
                <a:solidFill>
                  <a:srgbClr val="16A34A"/>
                </a:solidFill>
                <a:latin typeface="Arial"/>
                <a:ea typeface="Arial"/>
                <a:cs typeface="Arial"/>
                <a:sym typeface="Arial"/>
              </a:rPr>
              <a:t>3.02×</a:t>
            </a:r>
            <a:endParaRPr b="0" i="0" sz="1300" u="none" cap="none" strike="noStrike">
              <a:solidFill>
                <a:schemeClr val="dk1"/>
              </a:solidFill>
              <a:latin typeface="Calibri"/>
              <a:ea typeface="Calibri"/>
              <a:cs typeface="Calibri"/>
              <a:sym typeface="Calibri"/>
            </a:endParaRPr>
          </a:p>
        </p:txBody>
      </p:sp>
      <p:sp>
        <p:nvSpPr>
          <p:cNvPr id="296" name="Google Shape;296;p22"/>
          <p:cNvSpPr/>
          <p:nvPr/>
        </p:nvSpPr>
        <p:spPr>
          <a:xfrm>
            <a:off x="5229164" y="2903041"/>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6.94×</a:t>
            </a:r>
            <a:endParaRPr b="0" i="0" sz="1300" u="none" cap="none" strike="noStrike">
              <a:solidFill>
                <a:schemeClr val="dk1"/>
              </a:solidFill>
              <a:latin typeface="Calibri"/>
              <a:ea typeface="Calibri"/>
              <a:cs typeface="Calibri"/>
              <a:sym typeface="Calibri"/>
            </a:endParaRPr>
          </a:p>
        </p:txBody>
      </p:sp>
      <p:sp>
        <p:nvSpPr>
          <p:cNvPr id="297" name="Google Shape;297;p22"/>
          <p:cNvSpPr/>
          <p:nvPr/>
        </p:nvSpPr>
        <p:spPr>
          <a:xfrm>
            <a:off x="628650" y="3310682"/>
            <a:ext cx="582930"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1300" u="none" cap="none" strike="noStrike">
                <a:solidFill>
                  <a:srgbClr val="1A1A2E"/>
                </a:solidFill>
                <a:latin typeface="Arial"/>
                <a:ea typeface="Arial"/>
                <a:cs typeface="Arial"/>
                <a:sym typeface="Arial"/>
              </a:rPr>
              <a:t>8</a:t>
            </a:r>
            <a:endParaRPr b="0" i="0" sz="1300" u="none" cap="none" strike="noStrike">
              <a:solidFill>
                <a:schemeClr val="dk1"/>
              </a:solidFill>
              <a:latin typeface="Calibri"/>
              <a:ea typeface="Calibri"/>
              <a:cs typeface="Calibri"/>
              <a:sym typeface="Calibri"/>
            </a:endParaRPr>
          </a:p>
        </p:txBody>
      </p:sp>
      <p:sp>
        <p:nvSpPr>
          <p:cNvPr id="298" name="Google Shape;298;p22"/>
          <p:cNvSpPr/>
          <p:nvPr/>
        </p:nvSpPr>
        <p:spPr>
          <a:xfrm>
            <a:off x="1200150" y="3310682"/>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0" i="0" lang="zh-TW" sz="1300" u="none" cap="none" strike="noStrike">
                <a:solidFill>
                  <a:srgbClr val="DC2626"/>
                </a:solidFill>
                <a:latin typeface="Arial"/>
                <a:ea typeface="Arial"/>
                <a:cs typeface="Arial"/>
                <a:sym typeface="Arial"/>
              </a:rPr>
              <a:t>59.67</a:t>
            </a:r>
            <a:endParaRPr b="0" i="0" sz="1300" u="none" cap="none" strike="noStrike">
              <a:solidFill>
                <a:schemeClr val="dk1"/>
              </a:solidFill>
              <a:latin typeface="Calibri"/>
              <a:ea typeface="Calibri"/>
              <a:cs typeface="Calibri"/>
              <a:sym typeface="Calibri"/>
            </a:endParaRPr>
          </a:p>
        </p:txBody>
      </p:sp>
      <p:sp>
        <p:nvSpPr>
          <p:cNvPr id="299" name="Google Shape;299;p22"/>
          <p:cNvSpPr/>
          <p:nvPr/>
        </p:nvSpPr>
        <p:spPr>
          <a:xfrm>
            <a:off x="2057400" y="3310682"/>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900"/>
              <a:buFont typeface="Arial"/>
              <a:buNone/>
            </a:pPr>
            <a:r>
              <a:rPr b="0" i="0" lang="zh-TW" sz="1300" u="none" cap="none" strike="noStrike">
                <a:solidFill>
                  <a:srgbClr val="64748B"/>
                </a:solidFill>
                <a:latin typeface="Arial"/>
                <a:ea typeface="Arial"/>
                <a:cs typeface="Arial"/>
                <a:sym typeface="Arial"/>
              </a:rPr>
              <a:t>15.83</a:t>
            </a:r>
            <a:endParaRPr b="0" i="0" sz="1300" u="none" cap="none" strike="noStrike">
              <a:solidFill>
                <a:schemeClr val="dk1"/>
              </a:solidFill>
              <a:latin typeface="Calibri"/>
              <a:ea typeface="Calibri"/>
              <a:cs typeface="Calibri"/>
              <a:sym typeface="Calibri"/>
            </a:endParaRPr>
          </a:p>
        </p:txBody>
      </p:sp>
      <p:sp>
        <p:nvSpPr>
          <p:cNvPr id="300" name="Google Shape;300;p22"/>
          <p:cNvSpPr/>
          <p:nvPr/>
        </p:nvSpPr>
        <p:spPr>
          <a:xfrm>
            <a:off x="2914650" y="3310682"/>
            <a:ext cx="87439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300" u="none" cap="none" strike="noStrike">
                <a:solidFill>
                  <a:srgbClr val="16A34A"/>
                </a:solidFill>
                <a:latin typeface="Arial"/>
                <a:ea typeface="Arial"/>
                <a:cs typeface="Arial"/>
                <a:sym typeface="Arial"/>
              </a:rPr>
              <a:t>6.35</a:t>
            </a:r>
            <a:endParaRPr b="0" i="0" sz="1300" u="none" cap="none" strike="noStrike">
              <a:solidFill>
                <a:schemeClr val="dk1"/>
              </a:solidFill>
              <a:latin typeface="Calibri"/>
              <a:ea typeface="Calibri"/>
              <a:cs typeface="Calibri"/>
              <a:sym typeface="Calibri"/>
            </a:endParaRPr>
          </a:p>
        </p:txBody>
      </p:sp>
      <p:sp>
        <p:nvSpPr>
          <p:cNvPr id="301" name="Google Shape;301;p22"/>
          <p:cNvSpPr/>
          <p:nvPr/>
        </p:nvSpPr>
        <p:spPr>
          <a:xfrm>
            <a:off x="3936919" y="3310682"/>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0" i="0" lang="zh-TW" sz="1300" u="none" cap="none" strike="noStrike">
                <a:solidFill>
                  <a:srgbClr val="16A34A"/>
                </a:solidFill>
                <a:latin typeface="Arial"/>
                <a:ea typeface="Arial"/>
                <a:cs typeface="Arial"/>
                <a:sym typeface="Arial"/>
              </a:rPr>
              <a:t>3.77×</a:t>
            </a:r>
            <a:endParaRPr b="0" i="0" sz="1300" u="none" cap="none" strike="noStrike">
              <a:solidFill>
                <a:schemeClr val="dk1"/>
              </a:solidFill>
              <a:latin typeface="Calibri"/>
              <a:ea typeface="Calibri"/>
              <a:cs typeface="Calibri"/>
              <a:sym typeface="Calibri"/>
            </a:endParaRPr>
          </a:p>
        </p:txBody>
      </p:sp>
      <p:sp>
        <p:nvSpPr>
          <p:cNvPr id="302" name="Google Shape;302;p22"/>
          <p:cNvSpPr/>
          <p:nvPr/>
        </p:nvSpPr>
        <p:spPr>
          <a:xfrm>
            <a:off x="5229164" y="3310682"/>
            <a:ext cx="971700" cy="15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300" u="none" cap="none" strike="noStrike">
                <a:solidFill>
                  <a:srgbClr val="2563EB"/>
                </a:solidFill>
                <a:latin typeface="Arial"/>
                <a:ea typeface="Arial"/>
                <a:cs typeface="Arial"/>
                <a:sym typeface="Arial"/>
              </a:rPr>
              <a:t>9.39×</a:t>
            </a:r>
            <a:endParaRPr b="0" i="0" sz="1300" u="none" cap="none" strike="noStrike">
              <a:solidFill>
                <a:schemeClr val="dk1"/>
              </a:solidFill>
              <a:latin typeface="Calibri"/>
              <a:ea typeface="Calibri"/>
              <a:cs typeface="Calibri"/>
              <a:sym typeface="Calibri"/>
            </a:endParaRPr>
          </a:p>
        </p:txBody>
      </p:sp>
      <p:sp>
        <p:nvSpPr>
          <p:cNvPr id="303" name="Google Shape;303;p22"/>
          <p:cNvSpPr/>
          <p:nvPr/>
        </p:nvSpPr>
        <p:spPr>
          <a:xfrm>
            <a:off x="476250" y="4044404"/>
            <a:ext cx="2628900" cy="622846"/>
          </a:xfrm>
          <a:prstGeom prst="roundRect">
            <a:avLst>
              <a:gd fmla="val 9176" name="adj"/>
            </a:avLst>
          </a:prstGeom>
          <a:solidFill>
            <a:srgbClr val="DCFCE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04" name="Google Shape;304;p22"/>
          <p:cNvCxnSpPr/>
          <p:nvPr/>
        </p:nvCxnSpPr>
        <p:spPr>
          <a:xfrm>
            <a:off x="490538" y="4044404"/>
            <a:ext cx="0" cy="622846"/>
          </a:xfrm>
          <a:prstGeom prst="straightConnector1">
            <a:avLst/>
          </a:prstGeom>
          <a:noFill/>
          <a:ln cap="flat" cmpd="sng" w="28575">
            <a:solidFill>
              <a:srgbClr val="16A34A"/>
            </a:solidFill>
            <a:prstDash val="solid"/>
            <a:round/>
            <a:headEnd len="sm" w="sm" type="none"/>
            <a:tailEnd len="sm" w="sm" type="none"/>
          </a:ln>
        </p:spPr>
      </p:cxnSp>
      <p:sp>
        <p:nvSpPr>
          <p:cNvPr id="305" name="Google Shape;305;p22"/>
          <p:cNvSpPr/>
          <p:nvPr/>
        </p:nvSpPr>
        <p:spPr>
          <a:xfrm>
            <a:off x="619125" y="4196804"/>
            <a:ext cx="2419160"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825"/>
              <a:buFont typeface="Arial"/>
              <a:buNone/>
            </a:pPr>
            <a:r>
              <a:rPr b="1" i="0" lang="zh-TW" sz="1225" u="none" cap="none" strike="noStrike">
                <a:solidFill>
                  <a:srgbClr val="16A34A"/>
                </a:solidFill>
                <a:latin typeface="Arial"/>
                <a:ea typeface="Arial"/>
                <a:cs typeface="Arial"/>
                <a:sym typeface="Arial"/>
              </a:rPr>
              <a:t>✓ CUDA V2 Excellent</a:t>
            </a:r>
            <a:endParaRPr b="0" i="0" sz="1225" u="none" cap="none" strike="noStrike">
              <a:solidFill>
                <a:schemeClr val="dk1"/>
              </a:solidFill>
              <a:latin typeface="Calibri"/>
              <a:ea typeface="Calibri"/>
              <a:cs typeface="Calibri"/>
              <a:sym typeface="Calibri"/>
            </a:endParaRPr>
          </a:p>
        </p:txBody>
      </p:sp>
      <p:sp>
        <p:nvSpPr>
          <p:cNvPr id="306" name="Google Shape;306;p22"/>
          <p:cNvSpPr/>
          <p:nvPr/>
        </p:nvSpPr>
        <p:spPr>
          <a:xfrm>
            <a:off x="619125" y="4381500"/>
            <a:ext cx="241916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150" u="none" cap="none" strike="noStrike">
                <a:solidFill>
                  <a:srgbClr val="64748B"/>
                </a:solidFill>
                <a:latin typeface="Arial"/>
                <a:ea typeface="Arial"/>
                <a:cs typeface="Arial"/>
                <a:sym typeface="Arial"/>
              </a:rPr>
              <a:t>4.7-6.4ms across all batches</a:t>
            </a:r>
            <a:endParaRPr b="0" i="0" sz="1150" u="none" cap="none" strike="noStrike">
              <a:solidFill>
                <a:schemeClr val="dk1"/>
              </a:solidFill>
              <a:latin typeface="Calibri"/>
              <a:ea typeface="Calibri"/>
              <a:cs typeface="Calibri"/>
              <a:sym typeface="Calibri"/>
            </a:endParaRPr>
          </a:p>
        </p:txBody>
      </p:sp>
      <p:sp>
        <p:nvSpPr>
          <p:cNvPr id="307" name="Google Shape;307;p22"/>
          <p:cNvSpPr/>
          <p:nvPr/>
        </p:nvSpPr>
        <p:spPr>
          <a:xfrm>
            <a:off x="3257550" y="4044404"/>
            <a:ext cx="2628900" cy="622846"/>
          </a:xfrm>
          <a:prstGeom prst="roundRect">
            <a:avLst>
              <a:gd fmla="val 9176" name="adj"/>
            </a:avLst>
          </a:prstGeom>
          <a:solidFill>
            <a:srgbClr val="DBEAF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08" name="Google Shape;308;p22"/>
          <p:cNvCxnSpPr/>
          <p:nvPr/>
        </p:nvCxnSpPr>
        <p:spPr>
          <a:xfrm>
            <a:off x="3271838" y="4044404"/>
            <a:ext cx="0" cy="622846"/>
          </a:xfrm>
          <a:prstGeom prst="straightConnector1">
            <a:avLst/>
          </a:prstGeom>
          <a:noFill/>
          <a:ln cap="flat" cmpd="sng" w="28575">
            <a:solidFill>
              <a:srgbClr val="2563EB"/>
            </a:solidFill>
            <a:prstDash val="solid"/>
            <a:round/>
            <a:headEnd len="sm" w="sm" type="none"/>
            <a:tailEnd len="sm" w="sm" type="none"/>
          </a:ln>
        </p:spPr>
      </p:cxnSp>
      <p:sp>
        <p:nvSpPr>
          <p:cNvPr id="309" name="Google Shape;309;p22"/>
          <p:cNvSpPr/>
          <p:nvPr/>
        </p:nvSpPr>
        <p:spPr>
          <a:xfrm>
            <a:off x="3400425" y="4196804"/>
            <a:ext cx="2419160"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825"/>
              <a:buFont typeface="Arial"/>
              <a:buNone/>
            </a:pPr>
            <a:r>
              <a:rPr b="1" i="0" lang="zh-TW" sz="1225" u="none" cap="none" strike="noStrike">
                <a:solidFill>
                  <a:srgbClr val="2563EB"/>
                </a:solidFill>
                <a:latin typeface="Arial"/>
                <a:ea typeface="Arial"/>
                <a:cs typeface="Arial"/>
                <a:sym typeface="Arial"/>
              </a:rPr>
              <a:t>↑ Great Scalability</a:t>
            </a:r>
            <a:endParaRPr b="0" i="0" sz="1225" u="none" cap="none" strike="noStrike">
              <a:solidFill>
                <a:schemeClr val="dk1"/>
              </a:solidFill>
              <a:latin typeface="Calibri"/>
              <a:ea typeface="Calibri"/>
              <a:cs typeface="Calibri"/>
              <a:sym typeface="Calibri"/>
            </a:endParaRPr>
          </a:p>
        </p:txBody>
      </p:sp>
      <p:sp>
        <p:nvSpPr>
          <p:cNvPr id="310" name="Google Shape;310;p22"/>
          <p:cNvSpPr/>
          <p:nvPr/>
        </p:nvSpPr>
        <p:spPr>
          <a:xfrm>
            <a:off x="3400425" y="4381500"/>
            <a:ext cx="241916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150" u="none" cap="none" strike="noStrike">
                <a:solidFill>
                  <a:srgbClr val="64748B"/>
                </a:solidFill>
                <a:latin typeface="Arial"/>
                <a:ea typeface="Arial"/>
                <a:cs typeface="Arial"/>
                <a:sym typeface="Arial"/>
              </a:rPr>
              <a:t>8× batch → only 1.33× time</a:t>
            </a:r>
            <a:endParaRPr b="0" i="0" sz="1150" u="none" cap="none" strike="noStrike">
              <a:solidFill>
                <a:schemeClr val="dk1"/>
              </a:solidFill>
              <a:latin typeface="Calibri"/>
              <a:ea typeface="Calibri"/>
              <a:cs typeface="Calibri"/>
              <a:sym typeface="Calibri"/>
            </a:endParaRPr>
          </a:p>
        </p:txBody>
      </p:sp>
      <p:sp>
        <p:nvSpPr>
          <p:cNvPr id="311" name="Google Shape;311;p22"/>
          <p:cNvSpPr/>
          <p:nvPr/>
        </p:nvSpPr>
        <p:spPr>
          <a:xfrm>
            <a:off x="6038850" y="4044404"/>
            <a:ext cx="2628900" cy="622846"/>
          </a:xfrm>
          <a:prstGeom prst="roundRect">
            <a:avLst>
              <a:gd fmla="val 9176" name="adj"/>
            </a:avLst>
          </a:prstGeom>
          <a:solidFill>
            <a:srgbClr val="FEF2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12" name="Google Shape;312;p22"/>
          <p:cNvCxnSpPr/>
          <p:nvPr/>
        </p:nvCxnSpPr>
        <p:spPr>
          <a:xfrm>
            <a:off x="6053138" y="4044404"/>
            <a:ext cx="0" cy="622846"/>
          </a:xfrm>
          <a:prstGeom prst="straightConnector1">
            <a:avLst/>
          </a:prstGeom>
          <a:noFill/>
          <a:ln cap="flat" cmpd="sng" w="28575">
            <a:solidFill>
              <a:srgbClr val="DC2626"/>
            </a:solidFill>
            <a:prstDash val="solid"/>
            <a:round/>
            <a:headEnd len="sm" w="sm" type="none"/>
            <a:tailEnd len="sm" w="sm" type="none"/>
          </a:ln>
        </p:spPr>
      </p:cxnSp>
      <p:sp>
        <p:nvSpPr>
          <p:cNvPr id="313" name="Google Shape;313;p22"/>
          <p:cNvSpPr/>
          <p:nvPr/>
        </p:nvSpPr>
        <p:spPr>
          <a:xfrm>
            <a:off x="6181725" y="4196804"/>
            <a:ext cx="2419160"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825"/>
              <a:buFont typeface="Arial"/>
              <a:buNone/>
            </a:pPr>
            <a:r>
              <a:rPr b="1" i="0" lang="zh-TW" sz="1225" u="none" cap="none" strike="noStrike">
                <a:solidFill>
                  <a:srgbClr val="DC2626"/>
                </a:solidFill>
                <a:latin typeface="Arial"/>
                <a:ea typeface="Arial"/>
                <a:cs typeface="Arial"/>
                <a:sym typeface="Arial"/>
              </a:rPr>
              <a:t>✗ Baseline Linear</a:t>
            </a:r>
            <a:endParaRPr b="0" i="0" sz="1225" u="none" cap="none" strike="noStrike">
              <a:solidFill>
                <a:schemeClr val="dk1"/>
              </a:solidFill>
              <a:latin typeface="Calibri"/>
              <a:ea typeface="Calibri"/>
              <a:cs typeface="Calibri"/>
              <a:sym typeface="Calibri"/>
            </a:endParaRPr>
          </a:p>
        </p:txBody>
      </p:sp>
      <p:sp>
        <p:nvSpPr>
          <p:cNvPr id="314" name="Google Shape;314;p22"/>
          <p:cNvSpPr/>
          <p:nvPr/>
        </p:nvSpPr>
        <p:spPr>
          <a:xfrm>
            <a:off x="6181725" y="4381500"/>
            <a:ext cx="241916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1150" u="none" cap="none" strike="noStrike">
                <a:solidFill>
                  <a:srgbClr val="64748B"/>
                </a:solidFill>
                <a:latin typeface="Arial"/>
                <a:ea typeface="Arial"/>
                <a:cs typeface="Arial"/>
                <a:sym typeface="Arial"/>
              </a:rPr>
              <a:t>8.75ms → 59.67ms (6.8×)</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23"/>
          <p:cNvSpPr/>
          <p:nvPr/>
        </p:nvSpPr>
        <p:spPr>
          <a:xfrm>
            <a:off x="4857750" y="464195"/>
            <a:ext cx="3810000" cy="1030486"/>
          </a:xfrm>
          <a:prstGeom prst="roundRect">
            <a:avLst>
              <a:gd fmla="val 7395"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1" name="Google Shape;321;p23"/>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2" name="Google Shape;322;p23"/>
          <p:cNvSpPr/>
          <p:nvPr/>
        </p:nvSpPr>
        <p:spPr>
          <a:xfrm>
            <a:off x="476250" y="228600"/>
            <a:ext cx="4818888"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Results: End-to-End Throughput</a:t>
            </a:r>
            <a:endParaRPr b="0" i="0" sz="2400" u="none" cap="none" strike="noStrike">
              <a:solidFill>
                <a:schemeClr val="dk1"/>
              </a:solidFill>
              <a:latin typeface="Calibri"/>
              <a:ea typeface="Calibri"/>
              <a:cs typeface="Calibri"/>
              <a:sym typeface="Calibri"/>
            </a:endParaRPr>
          </a:p>
        </p:txBody>
      </p:sp>
      <p:sp>
        <p:nvSpPr>
          <p:cNvPr id="323" name="Google Shape;323;p23"/>
          <p:cNvSpPr/>
          <p:nvPr/>
        </p:nvSpPr>
        <p:spPr>
          <a:xfrm>
            <a:off x="476250" y="882104"/>
            <a:ext cx="4191000" cy="2680246"/>
          </a:xfrm>
          <a:prstGeom prst="roundRect">
            <a:avLst>
              <a:gd fmla="val 2843"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24" name="Google Shape;324;p23"/>
          <p:cNvSpPr/>
          <p:nvPr/>
        </p:nvSpPr>
        <p:spPr>
          <a:xfrm>
            <a:off x="609600" y="1053554"/>
            <a:ext cx="4002786"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825"/>
              <a:buFont typeface="Arial"/>
              <a:buNone/>
            </a:pPr>
            <a:r>
              <a:rPr b="1" i="0" lang="zh-TW" sz="1025" u="none" cap="none" strike="noStrike">
                <a:solidFill>
                  <a:srgbClr val="2563EB"/>
                </a:solidFill>
                <a:latin typeface="Arial"/>
                <a:ea typeface="Arial"/>
                <a:cs typeface="Arial"/>
                <a:sym typeface="Arial"/>
              </a:rPr>
              <a:t>THROUGHPUT (tokens/s)</a:t>
            </a:r>
            <a:endParaRPr b="0" i="0" sz="1025" u="none" cap="none" strike="noStrike">
              <a:solidFill>
                <a:schemeClr val="dk1"/>
              </a:solidFill>
              <a:latin typeface="Calibri"/>
              <a:ea typeface="Calibri"/>
              <a:cs typeface="Calibri"/>
              <a:sym typeface="Calibri"/>
            </a:endParaRPr>
          </a:p>
        </p:txBody>
      </p:sp>
      <p:cxnSp>
        <p:nvCxnSpPr>
          <p:cNvPr id="325" name="Google Shape;325;p23"/>
          <p:cNvCxnSpPr/>
          <p:nvPr/>
        </p:nvCxnSpPr>
        <p:spPr>
          <a:xfrm>
            <a:off x="609600" y="1571625"/>
            <a:ext cx="3924300" cy="0"/>
          </a:xfrm>
          <a:prstGeom prst="straightConnector1">
            <a:avLst/>
          </a:prstGeom>
          <a:noFill/>
          <a:ln cap="flat" cmpd="sng" w="19050">
            <a:solidFill>
              <a:srgbClr val="E2E8F0"/>
            </a:solidFill>
            <a:prstDash val="solid"/>
            <a:round/>
            <a:headEnd len="sm" w="sm" type="none"/>
            <a:tailEnd len="sm" w="sm" type="none"/>
          </a:ln>
        </p:spPr>
      </p:cxnSp>
      <p:sp>
        <p:nvSpPr>
          <p:cNvPr id="326" name="Google Shape;326;p23"/>
          <p:cNvSpPr/>
          <p:nvPr/>
        </p:nvSpPr>
        <p:spPr>
          <a:xfrm>
            <a:off x="609600" y="1333500"/>
            <a:ext cx="48577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1" i="0" lang="zh-TW" sz="950" u="none" cap="none" strike="noStrike">
                <a:solidFill>
                  <a:srgbClr val="64748B"/>
                </a:solidFill>
                <a:latin typeface="Arial"/>
                <a:ea typeface="Arial"/>
                <a:cs typeface="Arial"/>
                <a:sym typeface="Arial"/>
              </a:rPr>
              <a:t>Batch</a:t>
            </a:r>
            <a:endParaRPr b="0" i="0" sz="950" u="none" cap="none" strike="noStrike">
              <a:solidFill>
                <a:schemeClr val="dk1"/>
              </a:solidFill>
              <a:latin typeface="Calibri"/>
              <a:ea typeface="Calibri"/>
              <a:cs typeface="Calibri"/>
              <a:sym typeface="Calibri"/>
            </a:endParaRPr>
          </a:p>
        </p:txBody>
      </p:sp>
      <p:sp>
        <p:nvSpPr>
          <p:cNvPr id="327" name="Google Shape;327;p23"/>
          <p:cNvSpPr/>
          <p:nvPr/>
        </p:nvSpPr>
        <p:spPr>
          <a:xfrm>
            <a:off x="1085850" y="1333500"/>
            <a:ext cx="68008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1" i="0" lang="zh-TW" sz="950" u="none" cap="none" strike="noStrike">
                <a:solidFill>
                  <a:srgbClr val="64748B"/>
                </a:solidFill>
                <a:latin typeface="Arial"/>
                <a:ea typeface="Arial"/>
                <a:cs typeface="Arial"/>
                <a:sym typeface="Arial"/>
              </a:rPr>
              <a:t>Baseline</a:t>
            </a:r>
            <a:endParaRPr b="0" i="0" sz="950" u="none" cap="none" strike="noStrike">
              <a:solidFill>
                <a:schemeClr val="dk1"/>
              </a:solidFill>
              <a:latin typeface="Calibri"/>
              <a:ea typeface="Calibri"/>
              <a:cs typeface="Calibri"/>
              <a:sym typeface="Calibri"/>
            </a:endParaRPr>
          </a:p>
        </p:txBody>
      </p:sp>
      <p:sp>
        <p:nvSpPr>
          <p:cNvPr id="328" name="Google Shape;328;p23"/>
          <p:cNvSpPr/>
          <p:nvPr/>
        </p:nvSpPr>
        <p:spPr>
          <a:xfrm>
            <a:off x="1752600" y="1333500"/>
            <a:ext cx="68008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1" i="0" lang="zh-TW" sz="950" u="none" cap="none" strike="noStrike">
                <a:solidFill>
                  <a:srgbClr val="64748B"/>
                </a:solidFill>
                <a:latin typeface="Arial"/>
                <a:ea typeface="Arial"/>
                <a:cs typeface="Arial"/>
                <a:sym typeface="Arial"/>
              </a:rPr>
              <a:t>Fused</a:t>
            </a:r>
            <a:endParaRPr b="0" i="0" sz="950" u="none" cap="none" strike="noStrike">
              <a:solidFill>
                <a:schemeClr val="dk1"/>
              </a:solidFill>
              <a:latin typeface="Calibri"/>
              <a:ea typeface="Calibri"/>
              <a:cs typeface="Calibri"/>
              <a:sym typeface="Calibri"/>
            </a:endParaRPr>
          </a:p>
        </p:txBody>
      </p:sp>
      <p:sp>
        <p:nvSpPr>
          <p:cNvPr id="329" name="Google Shape;329;p23"/>
          <p:cNvSpPr/>
          <p:nvPr/>
        </p:nvSpPr>
        <p:spPr>
          <a:xfrm>
            <a:off x="2419350" y="1333500"/>
            <a:ext cx="680085"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750"/>
              <a:buFont typeface="Arial"/>
              <a:buNone/>
            </a:pPr>
            <a:r>
              <a:rPr b="1" i="0" lang="zh-TW" sz="950" u="none" cap="none" strike="noStrike">
                <a:solidFill>
                  <a:srgbClr val="16A34A"/>
                </a:solidFill>
                <a:latin typeface="Arial"/>
                <a:ea typeface="Arial"/>
                <a:cs typeface="Arial"/>
                <a:sym typeface="Arial"/>
              </a:rPr>
              <a:t>CUDA V2</a:t>
            </a:r>
            <a:endParaRPr b="0" i="0" sz="950" u="none" cap="none" strike="noStrike">
              <a:solidFill>
                <a:schemeClr val="dk1"/>
              </a:solidFill>
              <a:latin typeface="Calibri"/>
              <a:ea typeface="Calibri"/>
              <a:cs typeface="Calibri"/>
              <a:sym typeface="Calibri"/>
            </a:endParaRPr>
          </a:p>
        </p:txBody>
      </p:sp>
      <p:sp>
        <p:nvSpPr>
          <p:cNvPr id="330" name="Google Shape;330;p23"/>
          <p:cNvSpPr/>
          <p:nvPr/>
        </p:nvSpPr>
        <p:spPr>
          <a:xfrm>
            <a:off x="609600" y="1714500"/>
            <a:ext cx="48577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1" i="0" lang="zh-TW" sz="1500" u="none" cap="none" strike="noStrike">
                <a:solidFill>
                  <a:srgbClr val="1A1A2E"/>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sp>
        <p:nvSpPr>
          <p:cNvPr id="331" name="Google Shape;331;p23"/>
          <p:cNvSpPr/>
          <p:nvPr/>
        </p:nvSpPr>
        <p:spPr>
          <a:xfrm>
            <a:off x="1085850" y="17145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13.79</a:t>
            </a:r>
            <a:endParaRPr b="0" i="0" sz="1500" u="none" cap="none" strike="noStrike">
              <a:solidFill>
                <a:schemeClr val="dk1"/>
              </a:solidFill>
              <a:latin typeface="Calibri"/>
              <a:ea typeface="Calibri"/>
              <a:cs typeface="Calibri"/>
              <a:sym typeface="Calibri"/>
            </a:endParaRPr>
          </a:p>
        </p:txBody>
      </p:sp>
      <p:sp>
        <p:nvSpPr>
          <p:cNvPr id="332" name="Google Shape;332;p23"/>
          <p:cNvSpPr/>
          <p:nvPr/>
        </p:nvSpPr>
        <p:spPr>
          <a:xfrm>
            <a:off x="1752600" y="17145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13.94</a:t>
            </a:r>
            <a:endParaRPr b="0" i="0" sz="1500" u="none" cap="none" strike="noStrike">
              <a:solidFill>
                <a:schemeClr val="dk1"/>
              </a:solidFill>
              <a:latin typeface="Calibri"/>
              <a:ea typeface="Calibri"/>
              <a:cs typeface="Calibri"/>
              <a:sym typeface="Calibri"/>
            </a:endParaRPr>
          </a:p>
        </p:txBody>
      </p:sp>
      <p:sp>
        <p:nvSpPr>
          <p:cNvPr id="333" name="Google Shape;333;p23"/>
          <p:cNvSpPr/>
          <p:nvPr/>
        </p:nvSpPr>
        <p:spPr>
          <a:xfrm>
            <a:off x="2419350" y="17145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500"/>
              <a:buFont typeface="Arial"/>
              <a:buNone/>
            </a:pPr>
            <a:r>
              <a:rPr b="1" i="0" lang="zh-TW" sz="1500" u="none" cap="none" strike="noStrike">
                <a:solidFill>
                  <a:srgbClr val="16A34A"/>
                </a:solidFill>
                <a:latin typeface="Arial"/>
                <a:ea typeface="Arial"/>
                <a:cs typeface="Arial"/>
                <a:sym typeface="Arial"/>
              </a:rPr>
              <a:t>14.23</a:t>
            </a:r>
            <a:endParaRPr b="0" i="0" sz="1500" u="none" cap="none" strike="noStrike">
              <a:solidFill>
                <a:schemeClr val="dk1"/>
              </a:solidFill>
              <a:latin typeface="Calibri"/>
              <a:ea typeface="Calibri"/>
              <a:cs typeface="Calibri"/>
              <a:sym typeface="Calibri"/>
            </a:endParaRPr>
          </a:p>
        </p:txBody>
      </p:sp>
      <p:sp>
        <p:nvSpPr>
          <p:cNvPr id="334" name="Google Shape;334;p23"/>
          <p:cNvSpPr/>
          <p:nvPr/>
        </p:nvSpPr>
        <p:spPr>
          <a:xfrm>
            <a:off x="609600" y="2095500"/>
            <a:ext cx="3924300" cy="419100"/>
          </a:xfrm>
          <a:prstGeom prst="roundRect">
            <a:avLst>
              <a:gd fmla="val 6818"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35" name="Google Shape;335;p23"/>
          <p:cNvSpPr/>
          <p:nvPr/>
        </p:nvSpPr>
        <p:spPr>
          <a:xfrm>
            <a:off x="609600" y="2171700"/>
            <a:ext cx="48577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1" i="0" lang="zh-TW" sz="1500" u="none" cap="none" strike="noStrike">
                <a:solidFill>
                  <a:srgbClr val="1A1A2E"/>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sp>
        <p:nvSpPr>
          <p:cNvPr id="336" name="Google Shape;336;p23"/>
          <p:cNvSpPr/>
          <p:nvPr/>
        </p:nvSpPr>
        <p:spPr>
          <a:xfrm>
            <a:off x="1085850" y="21717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20.94</a:t>
            </a:r>
            <a:endParaRPr b="0" i="0" sz="1500" u="none" cap="none" strike="noStrike">
              <a:solidFill>
                <a:schemeClr val="dk1"/>
              </a:solidFill>
              <a:latin typeface="Calibri"/>
              <a:ea typeface="Calibri"/>
              <a:cs typeface="Calibri"/>
              <a:sym typeface="Calibri"/>
            </a:endParaRPr>
          </a:p>
        </p:txBody>
      </p:sp>
      <p:sp>
        <p:nvSpPr>
          <p:cNvPr id="337" name="Google Shape;337;p23"/>
          <p:cNvSpPr/>
          <p:nvPr/>
        </p:nvSpPr>
        <p:spPr>
          <a:xfrm>
            <a:off x="1752600" y="21717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21.08</a:t>
            </a:r>
            <a:endParaRPr b="0" i="0" sz="1500" u="none" cap="none" strike="noStrike">
              <a:solidFill>
                <a:schemeClr val="dk1"/>
              </a:solidFill>
              <a:latin typeface="Calibri"/>
              <a:ea typeface="Calibri"/>
              <a:cs typeface="Calibri"/>
              <a:sym typeface="Calibri"/>
            </a:endParaRPr>
          </a:p>
        </p:txBody>
      </p:sp>
      <p:sp>
        <p:nvSpPr>
          <p:cNvPr id="338" name="Google Shape;338;p23"/>
          <p:cNvSpPr/>
          <p:nvPr/>
        </p:nvSpPr>
        <p:spPr>
          <a:xfrm>
            <a:off x="2419350" y="21717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20.59</a:t>
            </a:r>
            <a:endParaRPr b="0" i="0" sz="1500" u="none" cap="none" strike="noStrike">
              <a:solidFill>
                <a:schemeClr val="dk1"/>
              </a:solidFill>
              <a:latin typeface="Calibri"/>
              <a:ea typeface="Calibri"/>
              <a:cs typeface="Calibri"/>
              <a:sym typeface="Calibri"/>
            </a:endParaRPr>
          </a:p>
        </p:txBody>
      </p:sp>
      <p:sp>
        <p:nvSpPr>
          <p:cNvPr id="339" name="Google Shape;339;p23"/>
          <p:cNvSpPr/>
          <p:nvPr/>
        </p:nvSpPr>
        <p:spPr>
          <a:xfrm>
            <a:off x="609600" y="2628900"/>
            <a:ext cx="48577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1" i="0" lang="zh-TW" sz="1500" u="none" cap="none" strike="noStrike">
                <a:solidFill>
                  <a:srgbClr val="1A1A2E"/>
                </a:solidFill>
                <a:latin typeface="Arial"/>
                <a:ea typeface="Arial"/>
                <a:cs typeface="Arial"/>
                <a:sym typeface="Arial"/>
              </a:rPr>
              <a:t>4</a:t>
            </a:r>
            <a:endParaRPr b="0" i="0" sz="1500" u="none" cap="none" strike="noStrike">
              <a:solidFill>
                <a:schemeClr val="dk1"/>
              </a:solidFill>
              <a:latin typeface="Calibri"/>
              <a:ea typeface="Calibri"/>
              <a:cs typeface="Calibri"/>
              <a:sym typeface="Calibri"/>
            </a:endParaRPr>
          </a:p>
        </p:txBody>
      </p:sp>
      <p:sp>
        <p:nvSpPr>
          <p:cNvPr id="340" name="Google Shape;340;p23"/>
          <p:cNvSpPr/>
          <p:nvPr/>
        </p:nvSpPr>
        <p:spPr>
          <a:xfrm>
            <a:off x="1085850" y="26289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41.29</a:t>
            </a:r>
            <a:endParaRPr b="0" i="0" sz="1500" u="none" cap="none" strike="noStrike">
              <a:solidFill>
                <a:schemeClr val="dk1"/>
              </a:solidFill>
              <a:latin typeface="Calibri"/>
              <a:ea typeface="Calibri"/>
              <a:cs typeface="Calibri"/>
              <a:sym typeface="Calibri"/>
            </a:endParaRPr>
          </a:p>
        </p:txBody>
      </p:sp>
      <p:sp>
        <p:nvSpPr>
          <p:cNvPr id="341" name="Google Shape;341;p23"/>
          <p:cNvSpPr/>
          <p:nvPr/>
        </p:nvSpPr>
        <p:spPr>
          <a:xfrm>
            <a:off x="1752600" y="26289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42.24</a:t>
            </a:r>
            <a:endParaRPr b="0" i="0" sz="1500" u="none" cap="none" strike="noStrike">
              <a:solidFill>
                <a:schemeClr val="dk1"/>
              </a:solidFill>
              <a:latin typeface="Calibri"/>
              <a:ea typeface="Calibri"/>
              <a:cs typeface="Calibri"/>
              <a:sym typeface="Calibri"/>
            </a:endParaRPr>
          </a:p>
        </p:txBody>
      </p:sp>
      <p:sp>
        <p:nvSpPr>
          <p:cNvPr id="342" name="Google Shape;342;p23"/>
          <p:cNvSpPr/>
          <p:nvPr/>
        </p:nvSpPr>
        <p:spPr>
          <a:xfrm>
            <a:off x="2419350" y="26289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500"/>
              <a:buFont typeface="Arial"/>
              <a:buNone/>
            </a:pPr>
            <a:r>
              <a:rPr b="1" i="0" lang="zh-TW" sz="1500" u="none" cap="none" strike="noStrike">
                <a:solidFill>
                  <a:srgbClr val="16A34A"/>
                </a:solidFill>
                <a:latin typeface="Arial"/>
                <a:ea typeface="Arial"/>
                <a:cs typeface="Arial"/>
                <a:sym typeface="Arial"/>
              </a:rPr>
              <a:t>42.56</a:t>
            </a:r>
            <a:endParaRPr b="0" i="0" sz="1500" u="none" cap="none" strike="noStrike">
              <a:solidFill>
                <a:schemeClr val="dk1"/>
              </a:solidFill>
              <a:latin typeface="Calibri"/>
              <a:ea typeface="Calibri"/>
              <a:cs typeface="Calibri"/>
              <a:sym typeface="Calibri"/>
            </a:endParaRPr>
          </a:p>
        </p:txBody>
      </p:sp>
      <p:sp>
        <p:nvSpPr>
          <p:cNvPr id="343" name="Google Shape;343;p23"/>
          <p:cNvSpPr/>
          <p:nvPr/>
        </p:nvSpPr>
        <p:spPr>
          <a:xfrm>
            <a:off x="609600" y="3009900"/>
            <a:ext cx="3924300" cy="419100"/>
          </a:xfrm>
          <a:prstGeom prst="roundRect">
            <a:avLst>
              <a:gd fmla="val 6818" name="adj"/>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4" name="Google Shape;344;p23"/>
          <p:cNvSpPr/>
          <p:nvPr/>
        </p:nvSpPr>
        <p:spPr>
          <a:xfrm>
            <a:off x="609600" y="3086100"/>
            <a:ext cx="48577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1" i="0" lang="zh-TW" sz="1500" u="none" cap="none" strike="noStrike">
                <a:solidFill>
                  <a:srgbClr val="1A1A2E"/>
                </a:solidFill>
                <a:latin typeface="Arial"/>
                <a:ea typeface="Arial"/>
                <a:cs typeface="Arial"/>
                <a:sym typeface="Arial"/>
              </a:rPr>
              <a:t>8</a:t>
            </a:r>
            <a:endParaRPr b="0" i="0" sz="1500" u="none" cap="none" strike="noStrike">
              <a:solidFill>
                <a:schemeClr val="dk1"/>
              </a:solidFill>
              <a:latin typeface="Calibri"/>
              <a:ea typeface="Calibri"/>
              <a:cs typeface="Calibri"/>
              <a:sym typeface="Calibri"/>
            </a:endParaRPr>
          </a:p>
        </p:txBody>
      </p:sp>
      <p:sp>
        <p:nvSpPr>
          <p:cNvPr id="345" name="Google Shape;345;p23"/>
          <p:cNvSpPr/>
          <p:nvPr/>
        </p:nvSpPr>
        <p:spPr>
          <a:xfrm>
            <a:off x="1085850" y="30861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77.31</a:t>
            </a:r>
            <a:endParaRPr b="0" i="0" sz="1500" u="none" cap="none" strike="noStrike">
              <a:solidFill>
                <a:schemeClr val="dk1"/>
              </a:solidFill>
              <a:latin typeface="Calibri"/>
              <a:ea typeface="Calibri"/>
              <a:cs typeface="Calibri"/>
              <a:sym typeface="Calibri"/>
            </a:endParaRPr>
          </a:p>
        </p:txBody>
      </p:sp>
      <p:sp>
        <p:nvSpPr>
          <p:cNvPr id="346" name="Google Shape;346;p23"/>
          <p:cNvSpPr/>
          <p:nvPr/>
        </p:nvSpPr>
        <p:spPr>
          <a:xfrm>
            <a:off x="1752600" y="30861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500"/>
              <a:buFont typeface="Arial"/>
              <a:buNone/>
            </a:pPr>
            <a:r>
              <a:rPr b="1" i="0" lang="zh-TW" sz="1500" u="none" cap="none" strike="noStrike">
                <a:solidFill>
                  <a:srgbClr val="2563EB"/>
                </a:solidFill>
                <a:latin typeface="Arial"/>
                <a:ea typeface="Arial"/>
                <a:cs typeface="Arial"/>
                <a:sym typeface="Arial"/>
              </a:rPr>
              <a:t>79.95</a:t>
            </a:r>
            <a:endParaRPr b="0" i="0" sz="1500" u="none" cap="none" strike="noStrike">
              <a:solidFill>
                <a:schemeClr val="dk1"/>
              </a:solidFill>
              <a:latin typeface="Calibri"/>
              <a:ea typeface="Calibri"/>
              <a:cs typeface="Calibri"/>
              <a:sym typeface="Calibri"/>
            </a:endParaRPr>
          </a:p>
        </p:txBody>
      </p:sp>
      <p:sp>
        <p:nvSpPr>
          <p:cNvPr id="347" name="Google Shape;347;p23"/>
          <p:cNvSpPr/>
          <p:nvPr/>
        </p:nvSpPr>
        <p:spPr>
          <a:xfrm>
            <a:off x="2419350" y="3086100"/>
            <a:ext cx="68008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500"/>
              <a:buFont typeface="Arial"/>
              <a:buNone/>
            </a:pPr>
            <a:r>
              <a:rPr b="1" i="0" lang="zh-TW" sz="1500" u="none" cap="none" strike="noStrike">
                <a:solidFill>
                  <a:srgbClr val="16A34A"/>
                </a:solidFill>
                <a:latin typeface="Arial"/>
                <a:ea typeface="Arial"/>
                <a:cs typeface="Arial"/>
                <a:sym typeface="Arial"/>
              </a:rPr>
              <a:t>79.45</a:t>
            </a:r>
            <a:endParaRPr b="0" i="0" sz="1500" u="none" cap="none" strike="noStrike">
              <a:solidFill>
                <a:schemeClr val="dk1"/>
              </a:solidFill>
              <a:latin typeface="Calibri"/>
              <a:ea typeface="Calibri"/>
              <a:cs typeface="Calibri"/>
              <a:sym typeface="Calibri"/>
            </a:endParaRPr>
          </a:p>
        </p:txBody>
      </p:sp>
      <p:sp>
        <p:nvSpPr>
          <p:cNvPr id="348" name="Google Shape;348;p23"/>
          <p:cNvSpPr/>
          <p:nvPr/>
        </p:nvSpPr>
        <p:spPr>
          <a:xfrm>
            <a:off x="476250" y="3676650"/>
            <a:ext cx="4191000" cy="832396"/>
          </a:xfrm>
          <a:prstGeom prst="roundRect">
            <a:avLst>
              <a:gd fmla="val 9154" name="adj"/>
            </a:avLst>
          </a:prstGeom>
          <a:solidFill>
            <a:srgbClr val="FEF2F2"/>
          </a:solidFill>
          <a:ln cap="flat" cmpd="sng" w="9525">
            <a:solidFill>
              <a:srgbClr val="FECAC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9" name="Google Shape;349;p23"/>
          <p:cNvSpPr/>
          <p:nvPr/>
        </p:nvSpPr>
        <p:spPr>
          <a:xfrm>
            <a:off x="619125" y="3857625"/>
            <a:ext cx="398335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825"/>
              <a:buFont typeface="Arial"/>
              <a:buNone/>
            </a:pPr>
            <a:r>
              <a:rPr b="1" i="0" lang="zh-TW" sz="1125" u="none" cap="none" strike="noStrike">
                <a:solidFill>
                  <a:srgbClr val="DC2626"/>
                </a:solidFill>
                <a:latin typeface="Arial"/>
                <a:ea typeface="Arial"/>
                <a:cs typeface="Arial"/>
                <a:sym typeface="Arial"/>
              </a:rPr>
              <a:t>⚠ TIME BREAKDOWN (batch=8)</a:t>
            </a:r>
            <a:endParaRPr b="0" i="0" sz="1125" u="none" cap="none" strike="noStrike">
              <a:solidFill>
                <a:schemeClr val="dk1"/>
              </a:solidFill>
              <a:latin typeface="Calibri"/>
              <a:ea typeface="Calibri"/>
              <a:cs typeface="Calibri"/>
              <a:sym typeface="Calibri"/>
            </a:endParaRPr>
          </a:p>
        </p:txBody>
      </p:sp>
      <p:sp>
        <p:nvSpPr>
          <p:cNvPr id="350" name="Google Shape;350;p23"/>
          <p:cNvSpPr/>
          <p:nvPr/>
        </p:nvSpPr>
        <p:spPr>
          <a:xfrm>
            <a:off x="4991100" y="635645"/>
            <a:ext cx="3614166"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900"/>
              <a:buFont typeface="Arial"/>
              <a:buNone/>
            </a:pPr>
            <a:r>
              <a:rPr b="1" i="0" lang="zh-TW" sz="1300" u="none" cap="none" strike="noStrike">
                <a:solidFill>
                  <a:srgbClr val="DC2626"/>
                </a:solidFill>
                <a:latin typeface="Arial"/>
                <a:ea typeface="Arial"/>
                <a:cs typeface="Arial"/>
                <a:sym typeface="Arial"/>
              </a:rPr>
              <a:t>💡 Critical Finding</a:t>
            </a:r>
            <a:endParaRPr b="0" i="0" sz="1300" u="none" cap="none" strike="noStrike">
              <a:solidFill>
                <a:schemeClr val="dk1"/>
              </a:solidFill>
              <a:latin typeface="Calibri"/>
              <a:ea typeface="Calibri"/>
              <a:cs typeface="Calibri"/>
              <a:sym typeface="Calibri"/>
            </a:endParaRPr>
          </a:p>
        </p:txBody>
      </p:sp>
      <p:sp>
        <p:nvSpPr>
          <p:cNvPr id="351" name="Google Shape;351;p23"/>
          <p:cNvSpPr/>
          <p:nvPr/>
        </p:nvSpPr>
        <p:spPr>
          <a:xfrm>
            <a:off x="4991100" y="871835"/>
            <a:ext cx="361416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1500"/>
              <a:buFont typeface="Arial"/>
              <a:buNone/>
            </a:pPr>
            <a:r>
              <a:rPr b="1" i="0" lang="zh-TW" sz="1800" u="none" cap="none" strike="noStrike">
                <a:solidFill>
                  <a:srgbClr val="1A1A2E"/>
                </a:solidFill>
                <a:latin typeface="Arial"/>
                <a:ea typeface="Arial"/>
                <a:cs typeface="Arial"/>
                <a:sym typeface="Arial"/>
              </a:rPr>
              <a:t>LLM Forward Pass = 97-99%</a:t>
            </a:r>
            <a:endParaRPr b="0" i="0" sz="1800" u="none" cap="none" strike="noStrike">
              <a:solidFill>
                <a:schemeClr val="dk1"/>
              </a:solidFill>
              <a:latin typeface="Calibri"/>
              <a:ea typeface="Calibri"/>
              <a:cs typeface="Calibri"/>
              <a:sym typeface="Calibri"/>
            </a:endParaRPr>
          </a:p>
        </p:txBody>
      </p:sp>
      <p:sp>
        <p:nvSpPr>
          <p:cNvPr id="352" name="Google Shape;352;p23"/>
          <p:cNvSpPr/>
          <p:nvPr/>
        </p:nvSpPr>
        <p:spPr>
          <a:xfrm>
            <a:off x="4991100" y="1176635"/>
            <a:ext cx="3614166"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125" u="none" cap="none" strike="noStrike">
                <a:solidFill>
                  <a:srgbClr val="64748B"/>
                </a:solidFill>
                <a:latin typeface="Arial"/>
                <a:ea typeface="Arial"/>
                <a:cs typeface="Arial"/>
                <a:sym typeface="Arial"/>
              </a:rPr>
              <a:t>Rejection sampling is NOT the bottleneck</a:t>
            </a:r>
            <a:endParaRPr b="0" i="0" sz="1125" u="none" cap="none" strike="noStrike">
              <a:solidFill>
                <a:schemeClr val="dk1"/>
              </a:solidFill>
              <a:latin typeface="Calibri"/>
              <a:ea typeface="Calibri"/>
              <a:cs typeface="Calibri"/>
              <a:sym typeface="Calibri"/>
            </a:endParaRPr>
          </a:p>
        </p:txBody>
      </p:sp>
      <p:sp>
        <p:nvSpPr>
          <p:cNvPr id="353" name="Google Shape;353;p23"/>
          <p:cNvSpPr/>
          <p:nvPr/>
        </p:nvSpPr>
        <p:spPr>
          <a:xfrm>
            <a:off x="4857750" y="1608981"/>
            <a:ext cx="3810000" cy="1043732"/>
          </a:xfrm>
          <a:prstGeom prst="roundRect">
            <a:avLst>
              <a:gd fmla="val 7301"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2100" u="none" cap="none" strike="noStrike">
              <a:solidFill>
                <a:schemeClr val="dk1"/>
              </a:solidFill>
              <a:latin typeface="Calibri"/>
              <a:ea typeface="Calibri"/>
              <a:cs typeface="Calibri"/>
              <a:sym typeface="Calibri"/>
            </a:endParaRPr>
          </a:p>
        </p:txBody>
      </p:sp>
      <p:sp>
        <p:nvSpPr>
          <p:cNvPr id="354" name="Google Shape;354;p23"/>
          <p:cNvSpPr/>
          <p:nvPr/>
        </p:nvSpPr>
        <p:spPr>
          <a:xfrm>
            <a:off x="4991100" y="1780431"/>
            <a:ext cx="3614166"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200" u="none" cap="none" strike="noStrike">
                <a:solidFill>
                  <a:srgbClr val="2563EB"/>
                </a:solidFill>
                <a:latin typeface="Arial"/>
                <a:ea typeface="Arial"/>
                <a:cs typeface="Arial"/>
                <a:sym typeface="Arial"/>
              </a:rPr>
              <a:t>📊 Throughput Impact</a:t>
            </a:r>
            <a:endParaRPr b="0" i="0" sz="1200" u="none" cap="none" strike="noStrike">
              <a:solidFill>
                <a:schemeClr val="dk1"/>
              </a:solidFill>
              <a:latin typeface="Calibri"/>
              <a:ea typeface="Calibri"/>
              <a:cs typeface="Calibri"/>
              <a:sym typeface="Calibri"/>
            </a:endParaRPr>
          </a:p>
        </p:txBody>
      </p:sp>
      <p:sp>
        <p:nvSpPr>
          <p:cNvPr id="355" name="Google Shape;355;p23"/>
          <p:cNvSpPr/>
          <p:nvPr/>
        </p:nvSpPr>
        <p:spPr>
          <a:xfrm>
            <a:off x="4991100" y="2054721"/>
            <a:ext cx="3614166"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Sampling 9.39× faster → Overall only </a:t>
            </a:r>
            <a:r>
              <a:rPr b="1" i="0" lang="zh-TW" sz="1125" u="none" cap="none" strike="noStrike">
                <a:solidFill>
                  <a:srgbClr val="1A1A2E"/>
                </a:solidFill>
                <a:latin typeface="Arial"/>
                <a:ea typeface="Arial"/>
                <a:cs typeface="Arial"/>
                <a:sym typeface="Arial"/>
              </a:rPr>
              <a:t>1.03×</a:t>
            </a:r>
            <a:endParaRPr b="0" i="0" sz="1125" u="none" cap="none" strike="noStrike">
              <a:solidFill>
                <a:schemeClr val="dk1"/>
              </a:solidFill>
              <a:latin typeface="Calibri"/>
              <a:ea typeface="Calibri"/>
              <a:cs typeface="Calibri"/>
              <a:sym typeface="Calibri"/>
            </a:endParaRPr>
          </a:p>
        </p:txBody>
      </p:sp>
      <p:sp>
        <p:nvSpPr>
          <p:cNvPr id="356" name="Google Shape;356;p23"/>
          <p:cNvSpPr/>
          <p:nvPr/>
        </p:nvSpPr>
        <p:spPr>
          <a:xfrm>
            <a:off x="4991100" y="2334667"/>
            <a:ext cx="3614166"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0" i="0" lang="zh-TW" sz="1125" u="none" cap="none" strike="noStrike">
                <a:solidFill>
                  <a:srgbClr val="64748B"/>
                </a:solidFill>
                <a:latin typeface="Arial"/>
                <a:ea typeface="Arial"/>
                <a:cs typeface="Arial"/>
                <a:sym typeface="Arial"/>
              </a:rPr>
              <a:t>All methods within 1-3% range</a:t>
            </a:r>
            <a:endParaRPr b="0" i="0" sz="1125" u="none" cap="none" strike="noStrike">
              <a:solidFill>
                <a:schemeClr val="dk1"/>
              </a:solidFill>
              <a:latin typeface="Calibri"/>
              <a:ea typeface="Calibri"/>
              <a:cs typeface="Calibri"/>
              <a:sym typeface="Calibri"/>
            </a:endParaRPr>
          </a:p>
        </p:txBody>
      </p:sp>
      <p:sp>
        <p:nvSpPr>
          <p:cNvPr id="357" name="Google Shape;357;p23"/>
          <p:cNvSpPr/>
          <p:nvPr/>
        </p:nvSpPr>
        <p:spPr>
          <a:xfrm>
            <a:off x="4857750" y="2767013"/>
            <a:ext cx="3810000" cy="1043732"/>
          </a:xfrm>
          <a:prstGeom prst="roundRect">
            <a:avLst>
              <a:gd fmla="val 7301" name="adj"/>
            </a:avLst>
          </a:prstGeom>
          <a:solidFill>
            <a:srgbClr val="DCFCE7"/>
          </a:solidFill>
          <a:ln cap="flat" cmpd="sng" w="9525">
            <a:solidFill>
              <a:srgbClr val="16A3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8" name="Google Shape;358;p23"/>
          <p:cNvSpPr/>
          <p:nvPr/>
        </p:nvSpPr>
        <p:spPr>
          <a:xfrm>
            <a:off x="5000625" y="2947988"/>
            <a:ext cx="3594735"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00"/>
              <a:buFont typeface="Arial"/>
              <a:buNone/>
            </a:pPr>
            <a:r>
              <a:rPr b="1" i="0" lang="zh-TW" sz="1200" u="none" cap="none" strike="noStrike">
                <a:solidFill>
                  <a:srgbClr val="16A34A"/>
                </a:solidFill>
                <a:latin typeface="Arial"/>
                <a:ea typeface="Arial"/>
                <a:cs typeface="Arial"/>
                <a:sym typeface="Arial"/>
              </a:rPr>
              <a:t>✓ Batching is Key</a:t>
            </a:r>
            <a:endParaRPr b="0" i="0" sz="1200" u="none" cap="none" strike="noStrike">
              <a:solidFill>
                <a:schemeClr val="dk1"/>
              </a:solidFill>
              <a:latin typeface="Calibri"/>
              <a:ea typeface="Calibri"/>
              <a:cs typeface="Calibri"/>
              <a:sym typeface="Calibri"/>
            </a:endParaRPr>
          </a:p>
        </p:txBody>
      </p:sp>
      <p:sp>
        <p:nvSpPr>
          <p:cNvPr id="359" name="Google Shape;359;p23"/>
          <p:cNvSpPr/>
          <p:nvPr/>
        </p:nvSpPr>
        <p:spPr>
          <a:xfrm>
            <a:off x="5000625" y="3222278"/>
            <a:ext cx="359473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batch=1 → batch=8: </a:t>
            </a:r>
            <a:r>
              <a:rPr b="1" i="0" lang="zh-TW" sz="1125" u="none" cap="none" strike="noStrike">
                <a:solidFill>
                  <a:srgbClr val="1A1A2E"/>
                </a:solidFill>
                <a:latin typeface="Arial"/>
                <a:ea typeface="Arial"/>
                <a:cs typeface="Arial"/>
                <a:sym typeface="Arial"/>
              </a:rPr>
              <a:t>5.7× throughput</a:t>
            </a:r>
            <a:endParaRPr b="0" i="0" sz="1125" u="none" cap="none" strike="noStrike">
              <a:solidFill>
                <a:schemeClr val="dk1"/>
              </a:solidFill>
              <a:latin typeface="Calibri"/>
              <a:ea typeface="Calibri"/>
              <a:cs typeface="Calibri"/>
              <a:sym typeface="Calibri"/>
            </a:endParaRPr>
          </a:p>
        </p:txBody>
      </p:sp>
      <p:sp>
        <p:nvSpPr>
          <p:cNvPr id="360" name="Google Shape;360;p23"/>
          <p:cNvSpPr/>
          <p:nvPr/>
        </p:nvSpPr>
        <p:spPr>
          <a:xfrm>
            <a:off x="5000625" y="3483173"/>
            <a:ext cx="3594735"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825"/>
              <a:buFont typeface="Arial"/>
              <a:buNone/>
            </a:pPr>
            <a:r>
              <a:rPr b="0" i="0" lang="zh-TW" sz="1125" u="none" cap="none" strike="noStrike">
                <a:solidFill>
                  <a:srgbClr val="1A1A2E"/>
                </a:solidFill>
                <a:latin typeface="Arial"/>
                <a:ea typeface="Arial"/>
                <a:cs typeface="Arial"/>
                <a:sym typeface="Arial"/>
              </a:rPr>
              <a:t>Avg latency: 2.39s → </a:t>
            </a:r>
            <a:r>
              <a:rPr b="1" i="0" lang="zh-TW" sz="1125" u="none" cap="none" strike="noStrike">
                <a:solidFill>
                  <a:srgbClr val="1A1A2E"/>
                </a:solidFill>
                <a:latin typeface="Arial"/>
                <a:ea typeface="Arial"/>
                <a:cs typeface="Arial"/>
                <a:sym typeface="Arial"/>
              </a:rPr>
              <a:t>0.31s/req</a:t>
            </a:r>
            <a:r>
              <a:rPr b="0" i="0" lang="zh-TW" sz="1125" u="none" cap="none" strike="noStrike">
                <a:solidFill>
                  <a:srgbClr val="1A1A2E"/>
                </a:solidFill>
                <a:latin typeface="Arial"/>
                <a:ea typeface="Arial"/>
                <a:cs typeface="Arial"/>
                <a:sym typeface="Arial"/>
              </a:rPr>
              <a:t> (-87%)</a:t>
            </a:r>
            <a:endParaRPr b="0" i="0" sz="1125" u="none" cap="none" strike="noStrike">
              <a:solidFill>
                <a:schemeClr val="dk1"/>
              </a:solidFill>
              <a:latin typeface="Calibri"/>
              <a:ea typeface="Calibri"/>
              <a:cs typeface="Calibri"/>
              <a:sym typeface="Calibri"/>
            </a:endParaRPr>
          </a:p>
        </p:txBody>
      </p:sp>
      <p:sp>
        <p:nvSpPr>
          <p:cNvPr id="361" name="Google Shape;361;p23"/>
          <p:cNvSpPr/>
          <p:nvPr/>
        </p:nvSpPr>
        <p:spPr>
          <a:xfrm>
            <a:off x="4857750" y="3925044"/>
            <a:ext cx="3810000" cy="1001911"/>
          </a:xfrm>
          <a:prstGeom prst="roundRect">
            <a:avLst>
              <a:gd fmla="val 7605"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2" name="Google Shape;362;p23"/>
          <p:cNvSpPr/>
          <p:nvPr/>
        </p:nvSpPr>
        <p:spPr>
          <a:xfrm>
            <a:off x="4972050" y="4058394"/>
            <a:ext cx="3653028"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1" i="0" lang="zh-TW" sz="1050" u="none" cap="none" strike="noStrike">
                <a:solidFill>
                  <a:srgbClr val="64748B"/>
                </a:solidFill>
                <a:latin typeface="Arial"/>
                <a:ea typeface="Arial"/>
                <a:cs typeface="Arial"/>
                <a:sym typeface="Arial"/>
              </a:rPr>
              <a:t>ACCEPTANCE RATE</a:t>
            </a:r>
            <a:endParaRPr b="0" i="0" sz="1050" u="none" cap="none" strike="noStrike">
              <a:solidFill>
                <a:schemeClr val="dk1"/>
              </a:solidFill>
              <a:latin typeface="Calibri"/>
              <a:ea typeface="Calibri"/>
              <a:cs typeface="Calibri"/>
              <a:sym typeface="Calibri"/>
            </a:endParaRPr>
          </a:p>
        </p:txBody>
      </p:sp>
      <p:sp>
        <p:nvSpPr>
          <p:cNvPr id="363" name="Google Shape;363;p23"/>
          <p:cNvSpPr/>
          <p:nvPr/>
        </p:nvSpPr>
        <p:spPr>
          <a:xfrm>
            <a:off x="4972050" y="4267944"/>
            <a:ext cx="69693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batch=1</a:t>
            </a:r>
            <a:endParaRPr b="0" i="0" sz="1500" u="none" cap="none" strike="noStrike">
              <a:solidFill>
                <a:schemeClr val="dk1"/>
              </a:solidFill>
              <a:latin typeface="Calibri"/>
              <a:ea typeface="Calibri"/>
              <a:cs typeface="Calibri"/>
              <a:sym typeface="Calibri"/>
            </a:endParaRPr>
          </a:p>
        </p:txBody>
      </p:sp>
      <p:sp>
        <p:nvSpPr>
          <p:cNvPr id="364" name="Google Shape;364;p23"/>
          <p:cNvSpPr/>
          <p:nvPr/>
        </p:nvSpPr>
        <p:spPr>
          <a:xfrm>
            <a:off x="5138005" y="4620379"/>
            <a:ext cx="630300" cy="30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975"/>
              <a:buFont typeface="Arial"/>
              <a:buNone/>
            </a:pPr>
            <a:r>
              <a:rPr b="1" i="0" lang="zh-TW" sz="1275" u="none" cap="none" strike="noStrike">
                <a:solidFill>
                  <a:srgbClr val="1A1A2E"/>
                </a:solidFill>
                <a:latin typeface="Arial"/>
                <a:ea typeface="Arial"/>
                <a:cs typeface="Arial"/>
                <a:sym typeface="Arial"/>
              </a:rPr>
              <a:t>46.4%</a:t>
            </a:r>
            <a:endParaRPr b="0" i="0" sz="1275" u="none" cap="none" strike="noStrike">
              <a:solidFill>
                <a:schemeClr val="dk1"/>
              </a:solidFill>
              <a:latin typeface="Calibri"/>
              <a:ea typeface="Calibri"/>
              <a:cs typeface="Calibri"/>
              <a:sym typeface="Calibri"/>
            </a:endParaRPr>
          </a:p>
        </p:txBody>
      </p:sp>
      <p:sp>
        <p:nvSpPr>
          <p:cNvPr id="365" name="Google Shape;365;p23"/>
          <p:cNvSpPr/>
          <p:nvPr/>
        </p:nvSpPr>
        <p:spPr>
          <a:xfrm>
            <a:off x="5769620" y="4397425"/>
            <a:ext cx="19431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500"/>
              <a:buFont typeface="Arial"/>
              <a:buNone/>
            </a:pPr>
            <a:r>
              <a:rPr b="0" i="0" lang="zh-TW" sz="1500" u="none" cap="none" strike="noStrike">
                <a:solidFill>
                  <a:srgbClr val="2563EB"/>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366" name="Google Shape;366;p23"/>
          <p:cNvSpPr/>
          <p:nvPr/>
        </p:nvSpPr>
        <p:spPr>
          <a:xfrm>
            <a:off x="6074420" y="4267944"/>
            <a:ext cx="696935"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1500"/>
              <a:buFont typeface="Arial"/>
              <a:buNone/>
            </a:pPr>
            <a:r>
              <a:rPr b="0" i="0" lang="zh-TW" sz="1500" u="none" cap="none" strike="noStrike">
                <a:solidFill>
                  <a:srgbClr val="64748B"/>
                </a:solidFill>
                <a:latin typeface="Arial"/>
                <a:ea typeface="Arial"/>
                <a:cs typeface="Arial"/>
                <a:sym typeface="Arial"/>
              </a:rPr>
              <a:t>batch=8</a:t>
            </a:r>
            <a:endParaRPr b="0" i="0" sz="1500" u="none" cap="none" strike="noStrike">
              <a:solidFill>
                <a:schemeClr val="dk1"/>
              </a:solidFill>
              <a:latin typeface="Calibri"/>
              <a:ea typeface="Calibri"/>
              <a:cs typeface="Calibri"/>
              <a:sym typeface="Calibri"/>
            </a:endParaRPr>
          </a:p>
        </p:txBody>
      </p:sp>
      <p:sp>
        <p:nvSpPr>
          <p:cNvPr id="367" name="Google Shape;367;p23"/>
          <p:cNvSpPr/>
          <p:nvPr/>
        </p:nvSpPr>
        <p:spPr>
          <a:xfrm>
            <a:off x="6240385" y="4620380"/>
            <a:ext cx="680100" cy="32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975"/>
              <a:buFont typeface="Arial"/>
              <a:buNone/>
            </a:pPr>
            <a:r>
              <a:rPr b="1" i="0" lang="zh-TW" sz="1275" u="none" cap="none" strike="noStrike">
                <a:solidFill>
                  <a:srgbClr val="16A34A"/>
                </a:solidFill>
                <a:latin typeface="Arial"/>
                <a:ea typeface="Arial"/>
                <a:cs typeface="Arial"/>
                <a:sym typeface="Arial"/>
              </a:rPr>
              <a:t>65.4%</a:t>
            </a:r>
            <a:endParaRPr b="0" i="0" sz="1275"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sp>
        <p:nvSpPr>
          <p:cNvPr id="373" name="Google Shape;373;p24"/>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74" name="Google Shape;374;p24"/>
          <p:cNvSpPr/>
          <p:nvPr/>
        </p:nvSpPr>
        <p:spPr>
          <a:xfrm>
            <a:off x="476250" y="228600"/>
            <a:ext cx="4333113"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i="0" lang="zh-TW" sz="2400" u="none" cap="none" strike="noStrike">
                <a:solidFill>
                  <a:srgbClr val="1A1A2E"/>
                </a:solidFill>
                <a:latin typeface="Arial"/>
                <a:ea typeface="Arial"/>
                <a:cs typeface="Arial"/>
                <a:sym typeface="Arial"/>
              </a:rPr>
              <a:t>Results: Scalability Analysis</a:t>
            </a:r>
            <a:endParaRPr b="0" i="0" sz="2400" u="none" cap="none" strike="noStrike">
              <a:solidFill>
                <a:schemeClr val="dk1"/>
              </a:solidFill>
              <a:latin typeface="Calibri"/>
              <a:ea typeface="Calibri"/>
              <a:cs typeface="Calibri"/>
              <a:sym typeface="Calibri"/>
            </a:endParaRPr>
          </a:p>
        </p:txBody>
      </p:sp>
      <p:sp>
        <p:nvSpPr>
          <p:cNvPr id="375" name="Google Shape;375;p24"/>
          <p:cNvSpPr/>
          <p:nvPr/>
        </p:nvSpPr>
        <p:spPr>
          <a:xfrm>
            <a:off x="476250" y="557361"/>
            <a:ext cx="4274820"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100" u="none" cap="none" strike="noStrike">
                <a:solidFill>
                  <a:srgbClr val="2563EB"/>
                </a:solidFill>
                <a:latin typeface="Arial"/>
                <a:ea typeface="Arial"/>
                <a:cs typeface="Arial"/>
                <a:sym typeface="Arial"/>
              </a:rPr>
              <a:t>BATCH SCALABILITY COMPARISON</a:t>
            </a:r>
            <a:endParaRPr b="0" i="0" sz="1100" u="none" cap="none" strike="noStrike">
              <a:solidFill>
                <a:schemeClr val="dk1"/>
              </a:solidFill>
              <a:latin typeface="Calibri"/>
              <a:ea typeface="Calibri"/>
              <a:cs typeface="Calibri"/>
              <a:sym typeface="Calibri"/>
            </a:endParaRPr>
          </a:p>
        </p:txBody>
      </p:sp>
      <p:sp>
        <p:nvSpPr>
          <p:cNvPr id="376" name="Google Shape;376;p24"/>
          <p:cNvSpPr/>
          <p:nvPr/>
        </p:nvSpPr>
        <p:spPr>
          <a:xfrm>
            <a:off x="476250" y="888802"/>
            <a:ext cx="4191000" cy="2150566"/>
          </a:xfrm>
          <a:prstGeom prst="roundRect">
            <a:avLst>
              <a:gd fmla="val 3543"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77" name="Google Shape;377;p24"/>
          <p:cNvCxnSpPr/>
          <p:nvPr/>
        </p:nvCxnSpPr>
        <p:spPr>
          <a:xfrm>
            <a:off x="628650" y="1349722"/>
            <a:ext cx="3886200" cy="0"/>
          </a:xfrm>
          <a:prstGeom prst="straightConnector1">
            <a:avLst/>
          </a:prstGeom>
          <a:noFill/>
          <a:ln cap="flat" cmpd="sng" w="19050">
            <a:solidFill>
              <a:srgbClr val="E2E8F0"/>
            </a:solidFill>
            <a:prstDash val="solid"/>
            <a:round/>
            <a:headEnd len="sm" w="sm" type="none"/>
            <a:tailEnd len="sm" w="sm" type="none"/>
          </a:ln>
        </p:spPr>
      </p:cxnSp>
      <p:sp>
        <p:nvSpPr>
          <p:cNvPr id="378" name="Google Shape;378;p24"/>
          <p:cNvSpPr/>
          <p:nvPr/>
        </p:nvSpPr>
        <p:spPr>
          <a:xfrm>
            <a:off x="628650" y="1079302"/>
            <a:ext cx="951360"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825" u="none" cap="none" strike="noStrike">
                <a:solidFill>
                  <a:srgbClr val="64748B"/>
                </a:solidFill>
                <a:latin typeface="Arial"/>
                <a:ea typeface="Arial"/>
                <a:cs typeface="Arial"/>
                <a:sym typeface="Arial"/>
              </a:rPr>
              <a:t>Method</a:t>
            </a:r>
            <a:endParaRPr b="0" i="0" sz="825" u="none" cap="none" strike="noStrike">
              <a:solidFill>
                <a:schemeClr val="dk1"/>
              </a:solidFill>
              <a:latin typeface="Calibri"/>
              <a:ea typeface="Calibri"/>
              <a:cs typeface="Calibri"/>
              <a:sym typeface="Calibri"/>
            </a:endParaRPr>
          </a:p>
        </p:txBody>
      </p:sp>
      <p:sp>
        <p:nvSpPr>
          <p:cNvPr id="379" name="Google Shape;379;p24"/>
          <p:cNvSpPr/>
          <p:nvPr/>
        </p:nvSpPr>
        <p:spPr>
          <a:xfrm>
            <a:off x="1553584" y="1079302"/>
            <a:ext cx="792724" cy="146596"/>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825"/>
              <a:buFont typeface="Arial"/>
              <a:buNone/>
            </a:pPr>
            <a:r>
              <a:rPr b="1" i="0" lang="zh-TW" sz="825" u="none" cap="none" strike="noStrike">
                <a:solidFill>
                  <a:srgbClr val="64748B"/>
                </a:solidFill>
                <a:latin typeface="Arial"/>
                <a:ea typeface="Arial"/>
                <a:cs typeface="Arial"/>
                <a:sym typeface="Arial"/>
              </a:rPr>
              <a:t>batch=1</a:t>
            </a:r>
            <a:endParaRPr b="0" i="0" sz="825" u="none" cap="none" strike="noStrike">
              <a:solidFill>
                <a:schemeClr val="dk1"/>
              </a:solidFill>
              <a:latin typeface="Calibri"/>
              <a:ea typeface="Calibri"/>
              <a:cs typeface="Calibri"/>
              <a:sym typeface="Calibri"/>
            </a:endParaRPr>
          </a:p>
        </p:txBody>
      </p:sp>
      <p:sp>
        <p:nvSpPr>
          <p:cNvPr id="380" name="Google Shape;380;p24"/>
          <p:cNvSpPr/>
          <p:nvPr/>
        </p:nvSpPr>
        <p:spPr>
          <a:xfrm>
            <a:off x="2330765" y="1079302"/>
            <a:ext cx="792724" cy="146596"/>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825"/>
              <a:buFont typeface="Arial"/>
              <a:buNone/>
            </a:pPr>
            <a:r>
              <a:rPr b="1" i="0" lang="zh-TW" sz="825" u="none" cap="none" strike="noStrike">
                <a:solidFill>
                  <a:srgbClr val="64748B"/>
                </a:solidFill>
                <a:latin typeface="Arial"/>
                <a:ea typeface="Arial"/>
                <a:cs typeface="Arial"/>
                <a:sym typeface="Arial"/>
              </a:rPr>
              <a:t>batch=8</a:t>
            </a:r>
            <a:endParaRPr b="0" i="0" sz="825" u="none" cap="none" strike="noStrike">
              <a:solidFill>
                <a:schemeClr val="dk1"/>
              </a:solidFill>
              <a:latin typeface="Calibri"/>
              <a:ea typeface="Calibri"/>
              <a:cs typeface="Calibri"/>
              <a:sym typeface="Calibri"/>
            </a:endParaRPr>
          </a:p>
        </p:txBody>
      </p:sp>
      <p:sp>
        <p:nvSpPr>
          <p:cNvPr id="381" name="Google Shape;381;p24"/>
          <p:cNvSpPr/>
          <p:nvPr/>
        </p:nvSpPr>
        <p:spPr>
          <a:xfrm>
            <a:off x="3107945" y="1079302"/>
            <a:ext cx="792724" cy="146596"/>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825"/>
              <a:buFont typeface="Arial"/>
              <a:buNone/>
            </a:pPr>
            <a:r>
              <a:rPr b="1" i="0" lang="zh-TW" sz="825" u="none" cap="none" strike="noStrike">
                <a:solidFill>
                  <a:srgbClr val="64748B"/>
                </a:solidFill>
                <a:latin typeface="Arial"/>
                <a:ea typeface="Arial"/>
                <a:cs typeface="Arial"/>
                <a:sym typeface="Arial"/>
              </a:rPr>
              <a:t>Growth</a:t>
            </a:r>
            <a:endParaRPr b="0" i="0" sz="825" u="none" cap="none" strike="noStrike">
              <a:solidFill>
                <a:schemeClr val="dk1"/>
              </a:solidFill>
              <a:latin typeface="Calibri"/>
              <a:ea typeface="Calibri"/>
              <a:cs typeface="Calibri"/>
              <a:sym typeface="Calibri"/>
            </a:endParaRPr>
          </a:p>
        </p:txBody>
      </p:sp>
      <p:sp>
        <p:nvSpPr>
          <p:cNvPr id="382" name="Google Shape;382;p24"/>
          <p:cNvSpPr/>
          <p:nvPr/>
        </p:nvSpPr>
        <p:spPr>
          <a:xfrm>
            <a:off x="3886679" y="1079302"/>
            <a:ext cx="634240" cy="146596"/>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825"/>
              <a:buFont typeface="Arial"/>
              <a:buNone/>
            </a:pPr>
            <a:r>
              <a:rPr b="1" i="0" lang="zh-TW" sz="825" u="none" cap="none" strike="noStrike">
                <a:solidFill>
                  <a:srgbClr val="64748B"/>
                </a:solidFill>
                <a:latin typeface="Arial"/>
                <a:ea typeface="Arial"/>
                <a:cs typeface="Arial"/>
                <a:sym typeface="Arial"/>
              </a:rPr>
              <a:t>Grade</a:t>
            </a:r>
            <a:endParaRPr b="0" i="0" sz="825" u="none" cap="none" strike="noStrike">
              <a:solidFill>
                <a:schemeClr val="dk1"/>
              </a:solidFill>
              <a:latin typeface="Calibri"/>
              <a:ea typeface="Calibri"/>
              <a:cs typeface="Calibri"/>
              <a:sym typeface="Calibri"/>
            </a:endParaRPr>
          </a:p>
        </p:txBody>
      </p:sp>
      <p:sp>
        <p:nvSpPr>
          <p:cNvPr id="383" name="Google Shape;383;p24"/>
          <p:cNvSpPr/>
          <p:nvPr/>
        </p:nvSpPr>
        <p:spPr>
          <a:xfrm>
            <a:off x="628650" y="1454497"/>
            <a:ext cx="3886200" cy="426690"/>
          </a:xfrm>
          <a:prstGeom prst="roundRect">
            <a:avLst>
              <a:gd fmla="val 13394" name="adj"/>
            </a:avLst>
          </a:prstGeom>
          <a:solidFill>
            <a:srgbClr val="FEF2F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84" name="Google Shape;384;p24"/>
          <p:cNvCxnSpPr/>
          <p:nvPr/>
        </p:nvCxnSpPr>
        <p:spPr>
          <a:xfrm>
            <a:off x="647700" y="1454497"/>
            <a:ext cx="0" cy="426690"/>
          </a:xfrm>
          <a:prstGeom prst="straightConnector1">
            <a:avLst/>
          </a:prstGeom>
          <a:noFill/>
          <a:ln cap="flat" cmpd="sng" w="38100">
            <a:solidFill>
              <a:srgbClr val="DC2626"/>
            </a:solidFill>
            <a:prstDash val="solid"/>
            <a:round/>
            <a:headEnd len="sm" w="sm" type="none"/>
            <a:tailEnd len="sm" w="sm" type="none"/>
          </a:ln>
        </p:spPr>
      </p:cxnSp>
      <p:sp>
        <p:nvSpPr>
          <p:cNvPr id="385" name="Google Shape;385;p24"/>
          <p:cNvSpPr/>
          <p:nvPr/>
        </p:nvSpPr>
        <p:spPr>
          <a:xfrm>
            <a:off x="666750" y="1587847"/>
            <a:ext cx="1001152" cy="159990"/>
          </a:xfrm>
          <a:prstGeom prst="rect">
            <a:avLst/>
          </a:prstGeom>
          <a:noFill/>
          <a:ln>
            <a:noFill/>
          </a:ln>
        </p:spPr>
        <p:txBody>
          <a:bodyPr anchorCtr="0" anchor="t" bIns="0" lIns="7620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900" u="none" cap="none" strike="noStrike">
                <a:solidFill>
                  <a:srgbClr val="1A1A2E"/>
                </a:solidFill>
                <a:latin typeface="Arial"/>
                <a:ea typeface="Arial"/>
                <a:cs typeface="Arial"/>
                <a:sym typeface="Arial"/>
              </a:rPr>
              <a:t>Baseline</a:t>
            </a:r>
            <a:endParaRPr b="0" i="0" sz="900" u="none" cap="none" strike="noStrike">
              <a:solidFill>
                <a:schemeClr val="dk1"/>
              </a:solidFill>
              <a:latin typeface="Calibri"/>
              <a:ea typeface="Calibri"/>
              <a:cs typeface="Calibri"/>
              <a:sym typeface="Calibri"/>
            </a:endParaRPr>
          </a:p>
        </p:txBody>
      </p:sp>
      <p:sp>
        <p:nvSpPr>
          <p:cNvPr id="386" name="Google Shape;386;p24"/>
          <p:cNvSpPr/>
          <p:nvPr/>
        </p:nvSpPr>
        <p:spPr>
          <a:xfrm>
            <a:off x="1640727" y="1587847"/>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900"/>
              <a:buFont typeface="Arial"/>
              <a:buNone/>
            </a:pPr>
            <a:r>
              <a:rPr b="0" i="0" lang="zh-TW" sz="900" u="none" cap="none" strike="noStrike">
                <a:solidFill>
                  <a:srgbClr val="64748B"/>
                </a:solidFill>
                <a:latin typeface="Arial"/>
                <a:ea typeface="Arial"/>
                <a:cs typeface="Arial"/>
                <a:sym typeface="Arial"/>
              </a:rPr>
              <a:t>8.75ms</a:t>
            </a:r>
            <a:endParaRPr b="0" i="0" sz="900" u="none" cap="none" strike="noStrike">
              <a:solidFill>
                <a:schemeClr val="dk1"/>
              </a:solidFill>
              <a:latin typeface="Calibri"/>
              <a:ea typeface="Calibri"/>
              <a:cs typeface="Calibri"/>
              <a:sym typeface="Calibri"/>
            </a:endParaRPr>
          </a:p>
        </p:txBody>
      </p:sp>
      <p:sp>
        <p:nvSpPr>
          <p:cNvPr id="387" name="Google Shape;387;p24"/>
          <p:cNvSpPr/>
          <p:nvPr/>
        </p:nvSpPr>
        <p:spPr>
          <a:xfrm>
            <a:off x="2395137" y="1587847"/>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C2626"/>
              </a:buClr>
              <a:buSzPts val="900"/>
              <a:buFont typeface="Arial"/>
              <a:buNone/>
            </a:pPr>
            <a:r>
              <a:rPr b="1" i="0" lang="zh-TW" sz="900" u="none" cap="none" strike="noStrike">
                <a:solidFill>
                  <a:srgbClr val="DC2626"/>
                </a:solidFill>
                <a:latin typeface="Arial"/>
                <a:ea typeface="Arial"/>
                <a:cs typeface="Arial"/>
                <a:sym typeface="Arial"/>
              </a:rPr>
              <a:t>59.67ms</a:t>
            </a:r>
            <a:endParaRPr b="0" i="0" sz="900" u="none" cap="none" strike="noStrike">
              <a:solidFill>
                <a:schemeClr val="dk1"/>
              </a:solidFill>
              <a:latin typeface="Calibri"/>
              <a:ea typeface="Calibri"/>
              <a:cs typeface="Calibri"/>
              <a:sym typeface="Calibri"/>
            </a:endParaRPr>
          </a:p>
        </p:txBody>
      </p:sp>
      <p:sp>
        <p:nvSpPr>
          <p:cNvPr id="388" name="Google Shape;388;p24"/>
          <p:cNvSpPr/>
          <p:nvPr/>
        </p:nvSpPr>
        <p:spPr>
          <a:xfrm>
            <a:off x="3149547" y="1587847"/>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C2626"/>
              </a:buClr>
              <a:buSzPts val="900"/>
              <a:buFont typeface="Arial"/>
              <a:buNone/>
            </a:pPr>
            <a:r>
              <a:rPr b="1" i="0" lang="zh-TW" sz="900" u="none" cap="none" strike="noStrike">
                <a:solidFill>
                  <a:srgbClr val="DC2626"/>
                </a:solidFill>
                <a:latin typeface="Arial"/>
                <a:ea typeface="Arial"/>
                <a:cs typeface="Arial"/>
                <a:sym typeface="Arial"/>
              </a:rPr>
              <a:t>6.8×</a:t>
            </a:r>
            <a:endParaRPr b="0" i="0" sz="900" u="none" cap="none" strike="noStrike">
              <a:solidFill>
                <a:schemeClr val="dk1"/>
              </a:solidFill>
              <a:latin typeface="Calibri"/>
              <a:ea typeface="Calibri"/>
              <a:cs typeface="Calibri"/>
              <a:sym typeface="Calibri"/>
            </a:endParaRPr>
          </a:p>
        </p:txBody>
      </p:sp>
      <p:sp>
        <p:nvSpPr>
          <p:cNvPr id="389" name="Google Shape;389;p24"/>
          <p:cNvSpPr/>
          <p:nvPr/>
        </p:nvSpPr>
        <p:spPr>
          <a:xfrm>
            <a:off x="3905466" y="1587847"/>
            <a:ext cx="61556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DC2626"/>
              </a:buClr>
              <a:buSzPts val="900"/>
              <a:buFont typeface="Arial"/>
              <a:buNone/>
            </a:pPr>
            <a:r>
              <a:rPr b="0" i="0" lang="zh-TW" sz="900" u="none" cap="none" strike="noStrike">
                <a:solidFill>
                  <a:srgbClr val="DC2626"/>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390" name="Google Shape;390;p24"/>
          <p:cNvSpPr/>
          <p:nvPr/>
        </p:nvSpPr>
        <p:spPr>
          <a:xfrm>
            <a:off x="628650" y="1957388"/>
            <a:ext cx="3886200" cy="426690"/>
          </a:xfrm>
          <a:prstGeom prst="roundRect">
            <a:avLst>
              <a:gd fmla="val 13394" name="adj"/>
            </a:avLst>
          </a:prstGeom>
          <a:solidFill>
            <a:srgbClr val="DBEAFE"/>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91" name="Google Shape;391;p24"/>
          <p:cNvCxnSpPr/>
          <p:nvPr/>
        </p:nvCxnSpPr>
        <p:spPr>
          <a:xfrm>
            <a:off x="647700" y="1957388"/>
            <a:ext cx="0" cy="426690"/>
          </a:xfrm>
          <a:prstGeom prst="straightConnector1">
            <a:avLst/>
          </a:prstGeom>
          <a:noFill/>
          <a:ln cap="flat" cmpd="sng" w="38100">
            <a:solidFill>
              <a:srgbClr val="2563EB"/>
            </a:solidFill>
            <a:prstDash val="solid"/>
            <a:round/>
            <a:headEnd len="sm" w="sm" type="none"/>
            <a:tailEnd len="sm" w="sm" type="none"/>
          </a:ln>
        </p:spPr>
      </p:cxnSp>
      <p:sp>
        <p:nvSpPr>
          <p:cNvPr id="392" name="Google Shape;392;p24"/>
          <p:cNvSpPr/>
          <p:nvPr/>
        </p:nvSpPr>
        <p:spPr>
          <a:xfrm>
            <a:off x="666750" y="2090738"/>
            <a:ext cx="1001152" cy="159990"/>
          </a:xfrm>
          <a:prstGeom prst="rect">
            <a:avLst/>
          </a:prstGeom>
          <a:noFill/>
          <a:ln>
            <a:noFill/>
          </a:ln>
        </p:spPr>
        <p:txBody>
          <a:bodyPr anchorCtr="0" anchor="t" bIns="0" lIns="7620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900" u="none" cap="none" strike="noStrike">
                <a:solidFill>
                  <a:srgbClr val="1A1A2E"/>
                </a:solidFill>
                <a:latin typeface="Arial"/>
                <a:ea typeface="Arial"/>
                <a:cs typeface="Arial"/>
                <a:sym typeface="Arial"/>
              </a:rPr>
              <a:t>Fused PyTorch</a:t>
            </a:r>
            <a:endParaRPr b="0" i="0" sz="900" u="none" cap="none" strike="noStrike">
              <a:solidFill>
                <a:schemeClr val="dk1"/>
              </a:solidFill>
              <a:latin typeface="Calibri"/>
              <a:ea typeface="Calibri"/>
              <a:cs typeface="Calibri"/>
              <a:sym typeface="Calibri"/>
            </a:endParaRPr>
          </a:p>
        </p:txBody>
      </p:sp>
      <p:sp>
        <p:nvSpPr>
          <p:cNvPr id="393" name="Google Shape;393;p24"/>
          <p:cNvSpPr/>
          <p:nvPr/>
        </p:nvSpPr>
        <p:spPr>
          <a:xfrm>
            <a:off x="1640727" y="209073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900"/>
              <a:buFont typeface="Arial"/>
              <a:buNone/>
            </a:pPr>
            <a:r>
              <a:rPr b="0" i="0" lang="zh-TW" sz="900" u="none" cap="none" strike="noStrike">
                <a:solidFill>
                  <a:srgbClr val="64748B"/>
                </a:solidFill>
                <a:latin typeface="Arial"/>
                <a:ea typeface="Arial"/>
                <a:cs typeface="Arial"/>
                <a:sym typeface="Arial"/>
              </a:rPr>
              <a:t>23.36ms</a:t>
            </a:r>
            <a:endParaRPr b="0" i="0" sz="900" u="none" cap="none" strike="noStrike">
              <a:solidFill>
                <a:schemeClr val="dk1"/>
              </a:solidFill>
              <a:latin typeface="Calibri"/>
              <a:ea typeface="Calibri"/>
              <a:cs typeface="Calibri"/>
              <a:sym typeface="Calibri"/>
            </a:endParaRPr>
          </a:p>
        </p:txBody>
      </p:sp>
      <p:sp>
        <p:nvSpPr>
          <p:cNvPr id="394" name="Google Shape;394;p24"/>
          <p:cNvSpPr/>
          <p:nvPr/>
        </p:nvSpPr>
        <p:spPr>
          <a:xfrm>
            <a:off x="2395137" y="209073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2563EB"/>
              </a:buClr>
              <a:buSzPts val="900"/>
              <a:buFont typeface="Arial"/>
              <a:buNone/>
            </a:pPr>
            <a:r>
              <a:rPr b="1" i="0" lang="zh-TW" sz="900" u="none" cap="none" strike="noStrike">
                <a:solidFill>
                  <a:srgbClr val="2563EB"/>
                </a:solidFill>
                <a:latin typeface="Arial"/>
                <a:ea typeface="Arial"/>
                <a:cs typeface="Arial"/>
                <a:sym typeface="Arial"/>
              </a:rPr>
              <a:t>15.83ms</a:t>
            </a:r>
            <a:endParaRPr b="0" i="0" sz="900" u="none" cap="none" strike="noStrike">
              <a:solidFill>
                <a:schemeClr val="dk1"/>
              </a:solidFill>
              <a:latin typeface="Calibri"/>
              <a:ea typeface="Calibri"/>
              <a:cs typeface="Calibri"/>
              <a:sym typeface="Calibri"/>
            </a:endParaRPr>
          </a:p>
        </p:txBody>
      </p:sp>
      <p:sp>
        <p:nvSpPr>
          <p:cNvPr id="395" name="Google Shape;395;p24"/>
          <p:cNvSpPr/>
          <p:nvPr/>
        </p:nvSpPr>
        <p:spPr>
          <a:xfrm>
            <a:off x="3149547" y="209073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1" i="0" lang="zh-TW" sz="900" u="none" cap="none" strike="noStrike">
                <a:solidFill>
                  <a:srgbClr val="16A34A"/>
                </a:solidFill>
                <a:latin typeface="Arial"/>
                <a:ea typeface="Arial"/>
                <a:cs typeface="Arial"/>
                <a:sym typeface="Arial"/>
              </a:rPr>
              <a:t>0.68×</a:t>
            </a:r>
            <a:endParaRPr b="0" i="0" sz="900" u="none" cap="none" strike="noStrike">
              <a:solidFill>
                <a:schemeClr val="dk1"/>
              </a:solidFill>
              <a:latin typeface="Calibri"/>
              <a:ea typeface="Calibri"/>
              <a:cs typeface="Calibri"/>
              <a:sym typeface="Calibri"/>
            </a:endParaRPr>
          </a:p>
        </p:txBody>
      </p:sp>
      <p:sp>
        <p:nvSpPr>
          <p:cNvPr id="396" name="Google Shape;396;p24"/>
          <p:cNvSpPr/>
          <p:nvPr/>
        </p:nvSpPr>
        <p:spPr>
          <a:xfrm>
            <a:off x="3905466" y="2090738"/>
            <a:ext cx="61556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0" i="0" lang="zh-TW" sz="900" u="none" cap="none" strike="noStrike">
                <a:solidFill>
                  <a:srgbClr val="16A34A"/>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397" name="Google Shape;397;p24"/>
          <p:cNvSpPr/>
          <p:nvPr/>
        </p:nvSpPr>
        <p:spPr>
          <a:xfrm>
            <a:off x="628650" y="2460278"/>
            <a:ext cx="3886200" cy="426690"/>
          </a:xfrm>
          <a:prstGeom prst="roundRect">
            <a:avLst>
              <a:gd fmla="val 13394" name="adj"/>
            </a:avLst>
          </a:prstGeom>
          <a:solidFill>
            <a:srgbClr val="DCFCE7"/>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cxnSp>
        <p:nvCxnSpPr>
          <p:cNvPr id="398" name="Google Shape;398;p24"/>
          <p:cNvCxnSpPr/>
          <p:nvPr/>
        </p:nvCxnSpPr>
        <p:spPr>
          <a:xfrm>
            <a:off x="647700" y="2460278"/>
            <a:ext cx="0" cy="426690"/>
          </a:xfrm>
          <a:prstGeom prst="straightConnector1">
            <a:avLst/>
          </a:prstGeom>
          <a:noFill/>
          <a:ln cap="flat" cmpd="sng" w="38100">
            <a:solidFill>
              <a:srgbClr val="16A34A"/>
            </a:solidFill>
            <a:prstDash val="solid"/>
            <a:round/>
            <a:headEnd len="sm" w="sm" type="none"/>
            <a:tailEnd len="sm" w="sm" type="none"/>
          </a:ln>
        </p:spPr>
      </p:cxnSp>
      <p:sp>
        <p:nvSpPr>
          <p:cNvPr id="399" name="Google Shape;399;p24"/>
          <p:cNvSpPr/>
          <p:nvPr/>
        </p:nvSpPr>
        <p:spPr>
          <a:xfrm>
            <a:off x="666750" y="2593628"/>
            <a:ext cx="1001152" cy="159990"/>
          </a:xfrm>
          <a:prstGeom prst="rect">
            <a:avLst/>
          </a:prstGeom>
          <a:noFill/>
          <a:ln>
            <a:noFill/>
          </a:ln>
        </p:spPr>
        <p:txBody>
          <a:bodyPr anchorCtr="0" anchor="t" bIns="0" lIns="76200" spcFirstLastPara="1" rIns="0" wrap="square" tIns="0">
            <a:noAutofit/>
          </a:bodyPr>
          <a:lstStyle/>
          <a:p>
            <a:pPr indent="0" lvl="0" marL="0" marR="0" rtl="0" algn="l">
              <a:lnSpc>
                <a:spcPct val="140000"/>
              </a:lnSpc>
              <a:spcBef>
                <a:spcPts val="0"/>
              </a:spcBef>
              <a:spcAft>
                <a:spcPts val="0"/>
              </a:spcAft>
              <a:buClr>
                <a:srgbClr val="1A1A2E"/>
              </a:buClr>
              <a:buSzPts val="900"/>
              <a:buFont typeface="Arial"/>
              <a:buNone/>
            </a:pPr>
            <a:r>
              <a:rPr b="1" i="0" lang="zh-TW" sz="900" u="none" cap="none" strike="noStrike">
                <a:solidFill>
                  <a:srgbClr val="1A1A2E"/>
                </a:solidFill>
                <a:latin typeface="Arial"/>
                <a:ea typeface="Arial"/>
                <a:cs typeface="Arial"/>
                <a:sym typeface="Arial"/>
              </a:rPr>
              <a:t>CUDA V2</a:t>
            </a:r>
            <a:endParaRPr b="0" i="0" sz="900" u="none" cap="none" strike="noStrike">
              <a:solidFill>
                <a:schemeClr val="dk1"/>
              </a:solidFill>
              <a:latin typeface="Calibri"/>
              <a:ea typeface="Calibri"/>
              <a:cs typeface="Calibri"/>
              <a:sym typeface="Calibri"/>
            </a:endParaRPr>
          </a:p>
        </p:txBody>
      </p:sp>
      <p:sp>
        <p:nvSpPr>
          <p:cNvPr id="400" name="Google Shape;400;p24"/>
          <p:cNvSpPr/>
          <p:nvPr/>
        </p:nvSpPr>
        <p:spPr>
          <a:xfrm>
            <a:off x="1640727" y="259362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1" i="0" lang="zh-TW" sz="900" u="none" cap="none" strike="noStrike">
                <a:solidFill>
                  <a:srgbClr val="16A34A"/>
                </a:solidFill>
                <a:latin typeface="Arial"/>
                <a:ea typeface="Arial"/>
                <a:cs typeface="Arial"/>
                <a:sym typeface="Arial"/>
              </a:rPr>
              <a:t>4.77ms</a:t>
            </a:r>
            <a:endParaRPr b="0" i="0" sz="900" u="none" cap="none" strike="noStrike">
              <a:solidFill>
                <a:schemeClr val="dk1"/>
              </a:solidFill>
              <a:latin typeface="Calibri"/>
              <a:ea typeface="Calibri"/>
              <a:cs typeface="Calibri"/>
              <a:sym typeface="Calibri"/>
            </a:endParaRPr>
          </a:p>
        </p:txBody>
      </p:sp>
      <p:sp>
        <p:nvSpPr>
          <p:cNvPr id="401" name="Google Shape;401;p24"/>
          <p:cNvSpPr/>
          <p:nvPr/>
        </p:nvSpPr>
        <p:spPr>
          <a:xfrm>
            <a:off x="2395137" y="259362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1" i="0" lang="zh-TW" sz="900" u="none" cap="none" strike="noStrike">
                <a:solidFill>
                  <a:srgbClr val="16A34A"/>
                </a:solidFill>
                <a:latin typeface="Arial"/>
                <a:ea typeface="Arial"/>
                <a:cs typeface="Arial"/>
                <a:sym typeface="Arial"/>
              </a:rPr>
              <a:t>6.35ms</a:t>
            </a:r>
            <a:endParaRPr b="0" i="0" sz="900" u="none" cap="none" strike="noStrike">
              <a:solidFill>
                <a:schemeClr val="dk1"/>
              </a:solidFill>
              <a:latin typeface="Calibri"/>
              <a:ea typeface="Calibri"/>
              <a:cs typeface="Calibri"/>
              <a:sym typeface="Calibri"/>
            </a:endParaRPr>
          </a:p>
        </p:txBody>
      </p:sp>
      <p:sp>
        <p:nvSpPr>
          <p:cNvPr id="402" name="Google Shape;402;p24"/>
          <p:cNvSpPr/>
          <p:nvPr/>
        </p:nvSpPr>
        <p:spPr>
          <a:xfrm>
            <a:off x="3149547" y="2593628"/>
            <a:ext cx="76949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1" i="0" lang="zh-TW" sz="900" u="none" cap="none" strike="noStrike">
                <a:solidFill>
                  <a:srgbClr val="16A34A"/>
                </a:solidFill>
                <a:latin typeface="Arial"/>
                <a:ea typeface="Arial"/>
                <a:cs typeface="Arial"/>
                <a:sym typeface="Arial"/>
              </a:rPr>
              <a:t>1.33×</a:t>
            </a:r>
            <a:endParaRPr b="0" i="0" sz="900" u="none" cap="none" strike="noStrike">
              <a:solidFill>
                <a:schemeClr val="dk1"/>
              </a:solidFill>
              <a:latin typeface="Calibri"/>
              <a:ea typeface="Calibri"/>
              <a:cs typeface="Calibri"/>
              <a:sym typeface="Calibri"/>
            </a:endParaRPr>
          </a:p>
        </p:txBody>
      </p:sp>
      <p:sp>
        <p:nvSpPr>
          <p:cNvPr id="403" name="Google Shape;403;p24"/>
          <p:cNvSpPr/>
          <p:nvPr/>
        </p:nvSpPr>
        <p:spPr>
          <a:xfrm>
            <a:off x="3905466" y="2593628"/>
            <a:ext cx="615568"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0" i="0" lang="zh-TW" sz="900" u="none" cap="none" strike="noStrike">
                <a:solidFill>
                  <a:srgbClr val="16A34A"/>
                </a:solidFill>
                <a:latin typeface="Arial"/>
                <a:ea typeface="Arial"/>
                <a:cs typeface="Arial"/>
                <a:sym typeface="Arial"/>
              </a:rPr>
              <a:t>✓✓</a:t>
            </a:r>
            <a:endParaRPr b="0" i="0" sz="900" u="none" cap="none" strike="noStrike">
              <a:solidFill>
                <a:schemeClr val="dk1"/>
              </a:solidFill>
              <a:latin typeface="Calibri"/>
              <a:ea typeface="Calibri"/>
              <a:cs typeface="Calibri"/>
              <a:sym typeface="Calibri"/>
            </a:endParaRPr>
          </a:p>
        </p:txBody>
      </p:sp>
      <p:sp>
        <p:nvSpPr>
          <p:cNvPr id="404" name="Google Shape;404;p24"/>
          <p:cNvSpPr/>
          <p:nvPr/>
        </p:nvSpPr>
        <p:spPr>
          <a:xfrm>
            <a:off x="476250" y="3172718"/>
            <a:ext cx="4191000" cy="1670596"/>
          </a:xfrm>
          <a:prstGeom prst="roundRect">
            <a:avLst>
              <a:gd fmla="val 4561" name="adj"/>
            </a:avLst>
          </a:prstGeom>
          <a:solidFill>
            <a:srgbClr val="F1F5F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05" name="Google Shape;405;p24"/>
          <p:cNvSpPr/>
          <p:nvPr/>
        </p:nvSpPr>
        <p:spPr>
          <a:xfrm>
            <a:off x="609600" y="3344168"/>
            <a:ext cx="4002786" cy="1465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825"/>
              <a:buFont typeface="Arial"/>
              <a:buNone/>
            </a:pPr>
            <a:r>
              <a:rPr b="1" i="0" lang="zh-TW" sz="1025" u="none" cap="none" strike="noStrike">
                <a:solidFill>
                  <a:srgbClr val="64748B"/>
                </a:solidFill>
                <a:latin typeface="Arial"/>
                <a:ea typeface="Arial"/>
                <a:cs typeface="Arial"/>
                <a:sym typeface="Arial"/>
              </a:rPr>
              <a:t>ANALYSIS</a:t>
            </a:r>
            <a:endParaRPr b="0" i="0" sz="1025" u="none" cap="none" strike="noStrike">
              <a:solidFill>
                <a:schemeClr val="dk1"/>
              </a:solidFill>
              <a:latin typeface="Calibri"/>
              <a:ea typeface="Calibri"/>
              <a:cs typeface="Calibri"/>
              <a:sym typeface="Calibri"/>
            </a:endParaRPr>
          </a:p>
        </p:txBody>
      </p:sp>
      <p:sp>
        <p:nvSpPr>
          <p:cNvPr id="406" name="Google Shape;406;p24"/>
          <p:cNvSpPr/>
          <p:nvPr/>
        </p:nvSpPr>
        <p:spPr>
          <a:xfrm>
            <a:off x="609600" y="3605064"/>
            <a:ext cx="400278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C2626"/>
              </a:buClr>
              <a:buSzPts val="1500"/>
              <a:buFont typeface="Arial"/>
              <a:buNone/>
            </a:pPr>
            <a:r>
              <a:rPr b="1" i="0" lang="zh-TW" sz="1500" u="none" cap="none" strike="noStrike">
                <a:solidFill>
                  <a:srgbClr val="DC2626"/>
                </a:solidFill>
                <a:latin typeface="Arial"/>
                <a:ea typeface="Arial"/>
                <a:cs typeface="Arial"/>
                <a:sym typeface="Arial"/>
              </a:rPr>
              <a:t>Baseline:</a:t>
            </a:r>
            <a:r>
              <a:rPr b="0" i="0" lang="zh-TW" sz="1500" u="none" cap="none" strike="noStrike">
                <a:solidFill>
                  <a:srgbClr val="1A1A2E"/>
                </a:solidFill>
                <a:latin typeface="Arial"/>
                <a:ea typeface="Arial"/>
                <a:cs typeface="Arial"/>
                <a:sym typeface="Arial"/>
              </a:rPr>
              <a:t> Linear growth, no parallelism</a:t>
            </a:r>
            <a:endParaRPr b="0" i="0" sz="1500" u="none" cap="none" strike="noStrike">
              <a:solidFill>
                <a:schemeClr val="dk1"/>
              </a:solidFill>
              <a:latin typeface="Calibri"/>
              <a:ea typeface="Calibri"/>
              <a:cs typeface="Calibri"/>
              <a:sym typeface="Calibri"/>
            </a:endParaRPr>
          </a:p>
        </p:txBody>
      </p:sp>
      <p:sp>
        <p:nvSpPr>
          <p:cNvPr id="407" name="Google Shape;407;p24"/>
          <p:cNvSpPr/>
          <p:nvPr/>
        </p:nvSpPr>
        <p:spPr>
          <a:xfrm>
            <a:off x="609600" y="4005114"/>
            <a:ext cx="400278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1500"/>
              <a:buFont typeface="Arial"/>
              <a:buNone/>
            </a:pPr>
            <a:r>
              <a:rPr b="1" i="0" lang="zh-TW" sz="1500" u="none" cap="none" strike="noStrike">
                <a:solidFill>
                  <a:srgbClr val="2563EB"/>
                </a:solidFill>
                <a:latin typeface="Arial"/>
                <a:ea typeface="Arial"/>
                <a:cs typeface="Arial"/>
                <a:sym typeface="Arial"/>
              </a:rPr>
              <a:t>Fused:</a:t>
            </a:r>
            <a:r>
              <a:rPr b="0" i="0" lang="zh-TW" sz="1500" u="none" cap="none" strike="noStrike">
                <a:solidFill>
                  <a:srgbClr val="1A1A2E"/>
                </a:solidFill>
                <a:latin typeface="Arial"/>
                <a:ea typeface="Arial"/>
                <a:cs typeface="Arial"/>
                <a:sym typeface="Arial"/>
              </a:rPr>
              <a:t> Negative growth! Batch amortization</a:t>
            </a:r>
            <a:endParaRPr b="0" i="0" sz="1500" u="none" cap="none" strike="noStrike">
              <a:solidFill>
                <a:schemeClr val="dk1"/>
              </a:solidFill>
              <a:latin typeface="Calibri"/>
              <a:ea typeface="Calibri"/>
              <a:cs typeface="Calibri"/>
              <a:sym typeface="Calibri"/>
            </a:endParaRPr>
          </a:p>
        </p:txBody>
      </p:sp>
      <p:sp>
        <p:nvSpPr>
          <p:cNvPr id="408" name="Google Shape;408;p24"/>
          <p:cNvSpPr/>
          <p:nvPr/>
        </p:nvSpPr>
        <p:spPr>
          <a:xfrm>
            <a:off x="609600" y="4405164"/>
            <a:ext cx="4002786"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A34A"/>
              </a:buClr>
              <a:buSzPts val="1500"/>
              <a:buFont typeface="Arial"/>
              <a:buNone/>
            </a:pPr>
            <a:r>
              <a:rPr b="1" i="0" lang="zh-TW" sz="1500" u="none" cap="none" strike="noStrike">
                <a:solidFill>
                  <a:srgbClr val="16A34A"/>
                </a:solidFill>
                <a:latin typeface="Arial"/>
                <a:ea typeface="Arial"/>
                <a:cs typeface="Arial"/>
                <a:sym typeface="Arial"/>
              </a:rPr>
              <a:t>CUDA V2:</a:t>
            </a:r>
            <a:r>
              <a:rPr b="0" i="0" lang="zh-TW" sz="1500" u="none" cap="none" strike="noStrike">
                <a:solidFill>
                  <a:srgbClr val="1A1A2E"/>
                </a:solidFill>
                <a:latin typeface="Arial"/>
                <a:ea typeface="Arial"/>
                <a:cs typeface="Arial"/>
                <a:sym typeface="Arial"/>
              </a:rPr>
              <a:t> Near-constant, parallel reduction</a:t>
            </a:r>
            <a:endParaRPr b="0" i="0" sz="1500" u="none" cap="none" strike="noStrike">
              <a:solidFill>
                <a:schemeClr val="dk1"/>
              </a:solidFill>
              <a:latin typeface="Calibri"/>
              <a:ea typeface="Calibri"/>
              <a:cs typeface="Calibri"/>
              <a:sym typeface="Calibri"/>
            </a:endParaRPr>
          </a:p>
        </p:txBody>
      </p:sp>
      <p:sp>
        <p:nvSpPr>
          <p:cNvPr id="409" name="Google Shape;409;p24"/>
          <p:cNvSpPr/>
          <p:nvPr/>
        </p:nvSpPr>
        <p:spPr>
          <a:xfrm>
            <a:off x="4895850" y="1162050"/>
            <a:ext cx="3847338" cy="159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563EB"/>
              </a:buClr>
              <a:buSzPts val="900"/>
              <a:buFont typeface="Arial"/>
              <a:buNone/>
            </a:pPr>
            <a:r>
              <a:rPr b="1" i="0" lang="zh-TW" sz="1100" u="none" cap="none" strike="noStrike">
                <a:solidFill>
                  <a:srgbClr val="2563EB"/>
                </a:solidFill>
                <a:latin typeface="Arial"/>
                <a:ea typeface="Arial"/>
                <a:cs typeface="Arial"/>
                <a:sym typeface="Arial"/>
              </a:rPr>
              <a:t>LATENCY COMPARISON</a:t>
            </a:r>
            <a:endParaRPr b="0" i="0" sz="1100" u="none" cap="none" strike="noStrike">
              <a:solidFill>
                <a:schemeClr val="dk1"/>
              </a:solidFill>
              <a:latin typeface="Calibri"/>
              <a:ea typeface="Calibri"/>
              <a:cs typeface="Calibri"/>
              <a:sym typeface="Calibri"/>
            </a:endParaRPr>
          </a:p>
        </p:txBody>
      </p:sp>
      <p:sp>
        <p:nvSpPr>
          <p:cNvPr id="410" name="Google Shape;410;p24"/>
          <p:cNvSpPr/>
          <p:nvPr/>
        </p:nvSpPr>
        <p:spPr>
          <a:xfrm>
            <a:off x="4895850" y="1493490"/>
            <a:ext cx="3771900" cy="1733550"/>
          </a:xfrm>
          <a:prstGeom prst="roundRect">
            <a:avLst>
              <a:gd fmla="val 4396" name="adj"/>
            </a:avLst>
          </a:prstGeom>
          <a:solidFill>
            <a:srgbClr val="F8FAF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1" name="Google Shape;411;p24"/>
          <p:cNvSpPr/>
          <p:nvPr/>
        </p:nvSpPr>
        <p:spPr>
          <a:xfrm>
            <a:off x="5048250" y="1683990"/>
            <a:ext cx="3536442"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batch=8 latency (ms)</a:t>
            </a:r>
            <a:endParaRPr b="0" i="0" sz="950" u="none" cap="none" strike="noStrike">
              <a:solidFill>
                <a:schemeClr val="dk1"/>
              </a:solidFill>
              <a:latin typeface="Calibri"/>
              <a:ea typeface="Calibri"/>
              <a:cs typeface="Calibri"/>
              <a:sym typeface="Calibri"/>
            </a:endParaRPr>
          </a:p>
        </p:txBody>
      </p:sp>
      <p:sp>
        <p:nvSpPr>
          <p:cNvPr id="412" name="Google Shape;412;p24"/>
          <p:cNvSpPr/>
          <p:nvPr/>
        </p:nvSpPr>
        <p:spPr>
          <a:xfrm>
            <a:off x="5048250" y="1969740"/>
            <a:ext cx="58293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Baseline</a:t>
            </a:r>
            <a:endParaRPr b="0" i="0" sz="950" u="none" cap="none" strike="noStrike">
              <a:solidFill>
                <a:schemeClr val="dk1"/>
              </a:solidFill>
              <a:latin typeface="Calibri"/>
              <a:ea typeface="Calibri"/>
              <a:cs typeface="Calibri"/>
              <a:sym typeface="Calibri"/>
            </a:endParaRPr>
          </a:p>
        </p:txBody>
      </p:sp>
      <p:sp>
        <p:nvSpPr>
          <p:cNvPr id="413" name="Google Shape;413;p24"/>
          <p:cNvSpPr/>
          <p:nvPr/>
        </p:nvSpPr>
        <p:spPr>
          <a:xfrm>
            <a:off x="5695950" y="1941165"/>
            <a:ext cx="2819400" cy="190500"/>
          </a:xfrm>
          <a:prstGeom prst="roundRect">
            <a:avLst>
              <a:gd fmla="val 20000" name="adj"/>
            </a:avLst>
          </a:prstGeom>
          <a:solidFill>
            <a:srgbClr val="FEE2E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4" name="Google Shape;414;p24"/>
          <p:cNvSpPr/>
          <p:nvPr/>
        </p:nvSpPr>
        <p:spPr>
          <a:xfrm>
            <a:off x="5695950" y="1941165"/>
            <a:ext cx="2819400" cy="190500"/>
          </a:xfrm>
          <a:prstGeom prst="roundRect">
            <a:avLst>
              <a:gd fmla="val 20000" name="adj"/>
            </a:avLst>
          </a:prstGeom>
          <a:solidFill>
            <a:srgbClr val="DC2626"/>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5" name="Google Shape;415;p24"/>
          <p:cNvSpPr/>
          <p:nvPr/>
        </p:nvSpPr>
        <p:spPr>
          <a:xfrm>
            <a:off x="8063061" y="1998315"/>
            <a:ext cx="38361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750"/>
              <a:buFont typeface="Arial"/>
              <a:buNone/>
            </a:pPr>
            <a:r>
              <a:rPr b="1" i="0" lang="zh-TW" sz="750" u="none" cap="none" strike="noStrike">
                <a:solidFill>
                  <a:srgbClr val="FFFFFF"/>
                </a:solidFill>
                <a:latin typeface="Arial"/>
                <a:ea typeface="Arial"/>
                <a:cs typeface="Arial"/>
                <a:sym typeface="Arial"/>
              </a:rPr>
              <a:t>59.67ms</a:t>
            </a:r>
            <a:endParaRPr b="0" i="0" sz="750" u="none" cap="none" strike="noStrike">
              <a:solidFill>
                <a:schemeClr val="dk1"/>
              </a:solidFill>
              <a:latin typeface="Calibri"/>
              <a:ea typeface="Calibri"/>
              <a:cs typeface="Calibri"/>
              <a:sym typeface="Calibri"/>
            </a:endParaRPr>
          </a:p>
        </p:txBody>
      </p:sp>
      <p:sp>
        <p:nvSpPr>
          <p:cNvPr id="416" name="Google Shape;416;p24"/>
          <p:cNvSpPr/>
          <p:nvPr/>
        </p:nvSpPr>
        <p:spPr>
          <a:xfrm>
            <a:off x="5048250" y="2293590"/>
            <a:ext cx="58293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Fused</a:t>
            </a:r>
            <a:endParaRPr b="0" i="0" sz="950" u="none" cap="none" strike="noStrike">
              <a:solidFill>
                <a:schemeClr val="dk1"/>
              </a:solidFill>
              <a:latin typeface="Calibri"/>
              <a:ea typeface="Calibri"/>
              <a:cs typeface="Calibri"/>
              <a:sym typeface="Calibri"/>
            </a:endParaRPr>
          </a:p>
        </p:txBody>
      </p:sp>
      <p:sp>
        <p:nvSpPr>
          <p:cNvPr id="417" name="Google Shape;417;p24"/>
          <p:cNvSpPr/>
          <p:nvPr/>
        </p:nvSpPr>
        <p:spPr>
          <a:xfrm>
            <a:off x="5695950" y="2265015"/>
            <a:ext cx="2819400" cy="190500"/>
          </a:xfrm>
          <a:prstGeom prst="roundRect">
            <a:avLst>
              <a:gd fmla="val 20000" name="adj"/>
            </a:avLst>
          </a:prstGeom>
          <a:solidFill>
            <a:srgbClr val="E2E8F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8" name="Google Shape;418;p24"/>
          <p:cNvSpPr/>
          <p:nvPr/>
        </p:nvSpPr>
        <p:spPr>
          <a:xfrm>
            <a:off x="5695950" y="2265015"/>
            <a:ext cx="747117" cy="190500"/>
          </a:xfrm>
          <a:prstGeom prst="roundRect">
            <a:avLst>
              <a:gd fmla="val 20000" name="adj"/>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9" name="Google Shape;419;p24"/>
          <p:cNvSpPr/>
          <p:nvPr/>
        </p:nvSpPr>
        <p:spPr>
          <a:xfrm>
            <a:off x="6485334" y="2322165"/>
            <a:ext cx="38361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750"/>
              <a:buFont typeface="Arial"/>
              <a:buNone/>
            </a:pPr>
            <a:r>
              <a:rPr b="1" i="0" lang="zh-TW" sz="750" u="none" cap="none" strike="noStrike">
                <a:solidFill>
                  <a:srgbClr val="1A1A2E"/>
                </a:solidFill>
                <a:latin typeface="Arial"/>
                <a:ea typeface="Arial"/>
                <a:cs typeface="Arial"/>
                <a:sym typeface="Arial"/>
              </a:rPr>
              <a:t>15.83ms</a:t>
            </a:r>
            <a:endParaRPr b="0" i="0" sz="750" u="none" cap="none" strike="noStrike">
              <a:solidFill>
                <a:schemeClr val="dk1"/>
              </a:solidFill>
              <a:latin typeface="Calibri"/>
              <a:ea typeface="Calibri"/>
              <a:cs typeface="Calibri"/>
              <a:sym typeface="Calibri"/>
            </a:endParaRPr>
          </a:p>
        </p:txBody>
      </p:sp>
      <p:sp>
        <p:nvSpPr>
          <p:cNvPr id="420" name="Google Shape;420;p24"/>
          <p:cNvSpPr/>
          <p:nvPr/>
        </p:nvSpPr>
        <p:spPr>
          <a:xfrm>
            <a:off x="5048250" y="2617440"/>
            <a:ext cx="582930"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CUDA V2</a:t>
            </a:r>
            <a:endParaRPr b="0" i="0" sz="950" u="none" cap="none" strike="noStrike">
              <a:solidFill>
                <a:schemeClr val="dk1"/>
              </a:solidFill>
              <a:latin typeface="Calibri"/>
              <a:ea typeface="Calibri"/>
              <a:cs typeface="Calibri"/>
              <a:sym typeface="Calibri"/>
            </a:endParaRPr>
          </a:p>
        </p:txBody>
      </p:sp>
      <p:sp>
        <p:nvSpPr>
          <p:cNvPr id="421" name="Google Shape;421;p24"/>
          <p:cNvSpPr/>
          <p:nvPr/>
        </p:nvSpPr>
        <p:spPr>
          <a:xfrm>
            <a:off x="5695950" y="2588865"/>
            <a:ext cx="2819400" cy="190500"/>
          </a:xfrm>
          <a:prstGeom prst="roundRect">
            <a:avLst>
              <a:gd fmla="val 20000" name="adj"/>
            </a:avLst>
          </a:prstGeom>
          <a:solidFill>
            <a:srgbClr val="E2E8F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2" name="Google Shape;422;p24"/>
          <p:cNvSpPr/>
          <p:nvPr/>
        </p:nvSpPr>
        <p:spPr>
          <a:xfrm>
            <a:off x="5695950" y="2588865"/>
            <a:ext cx="298847" cy="190500"/>
          </a:xfrm>
          <a:prstGeom prst="roundRect">
            <a:avLst>
              <a:gd fmla="val 20000" name="adj"/>
            </a:avLst>
          </a:prstGeom>
          <a:solidFill>
            <a:srgbClr val="16A34A"/>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3" name="Google Shape;423;p24"/>
          <p:cNvSpPr/>
          <p:nvPr/>
        </p:nvSpPr>
        <p:spPr>
          <a:xfrm>
            <a:off x="6034236" y="2646015"/>
            <a:ext cx="329568" cy="1333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A1A2E"/>
              </a:buClr>
              <a:buSzPts val="750"/>
              <a:buFont typeface="Arial"/>
              <a:buNone/>
            </a:pPr>
            <a:r>
              <a:rPr b="1" i="0" lang="zh-TW" sz="750" u="none" cap="none" strike="noStrike">
                <a:solidFill>
                  <a:srgbClr val="1A1A2E"/>
                </a:solidFill>
                <a:latin typeface="Arial"/>
                <a:ea typeface="Arial"/>
                <a:cs typeface="Arial"/>
                <a:sym typeface="Arial"/>
              </a:rPr>
              <a:t>6.35ms</a:t>
            </a:r>
            <a:endParaRPr b="0" i="0" sz="750" u="none" cap="none" strike="noStrike">
              <a:solidFill>
                <a:schemeClr val="dk1"/>
              </a:solidFill>
              <a:latin typeface="Calibri"/>
              <a:ea typeface="Calibri"/>
              <a:cs typeface="Calibri"/>
              <a:sym typeface="Calibri"/>
            </a:endParaRPr>
          </a:p>
        </p:txBody>
      </p:sp>
      <p:sp>
        <p:nvSpPr>
          <p:cNvPr id="424" name="Google Shape;424;p24"/>
          <p:cNvSpPr/>
          <p:nvPr/>
        </p:nvSpPr>
        <p:spPr>
          <a:xfrm>
            <a:off x="5013579" y="2903190"/>
            <a:ext cx="3536442" cy="13335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750"/>
              <a:buFont typeface="Arial"/>
              <a:buNone/>
            </a:pPr>
            <a:r>
              <a:rPr b="0" i="0" lang="zh-TW" sz="750" u="none" cap="none" strike="noStrike">
                <a:solidFill>
                  <a:srgbClr val="64748B"/>
                </a:solidFill>
                <a:latin typeface="Arial"/>
                <a:ea typeface="Arial"/>
                <a:cs typeface="Arial"/>
                <a:sym typeface="Arial"/>
              </a:rPr>
              <a:t>CUDA V2 is </a:t>
            </a:r>
            <a:r>
              <a:rPr b="1" i="0" lang="zh-TW" sz="750" u="none" cap="none" strike="noStrike">
                <a:solidFill>
                  <a:srgbClr val="16A34A"/>
                </a:solidFill>
                <a:latin typeface="Arial"/>
                <a:ea typeface="Arial"/>
                <a:cs typeface="Arial"/>
                <a:sym typeface="Arial"/>
              </a:rPr>
              <a:t>9.4× faster</a:t>
            </a:r>
            <a:r>
              <a:rPr b="0" i="0" lang="zh-TW" sz="750" u="none" cap="none" strike="noStrike">
                <a:solidFill>
                  <a:srgbClr val="64748B"/>
                </a:solidFill>
                <a:latin typeface="Arial"/>
                <a:ea typeface="Arial"/>
                <a:cs typeface="Arial"/>
                <a:sym typeface="Arial"/>
              </a:rPr>
              <a:t> than Baseline</a:t>
            </a:r>
            <a:endParaRPr b="0" i="0" sz="750" u="none" cap="none" strike="noStrike">
              <a:solidFill>
                <a:schemeClr val="dk1"/>
              </a:solidFill>
              <a:latin typeface="Calibri"/>
              <a:ea typeface="Calibri"/>
              <a:cs typeface="Calibri"/>
              <a:sym typeface="Calibri"/>
            </a:endParaRPr>
          </a:p>
        </p:txBody>
      </p:sp>
      <p:sp>
        <p:nvSpPr>
          <p:cNvPr id="425" name="Google Shape;425;p24"/>
          <p:cNvSpPr/>
          <p:nvPr/>
        </p:nvSpPr>
        <p:spPr>
          <a:xfrm>
            <a:off x="4895850" y="3360390"/>
            <a:ext cx="3771900" cy="878086"/>
          </a:xfrm>
          <a:prstGeom prst="roundRect">
            <a:avLst>
              <a:gd fmla="val 8678" name="adj"/>
            </a:avLst>
          </a:prstGeom>
          <a:solidFill>
            <a:srgbClr val="DCFCE7"/>
          </a:solidFill>
          <a:ln cap="flat" cmpd="sng" w="9525">
            <a:solidFill>
              <a:srgbClr val="16A3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6" name="Google Shape;426;p24"/>
          <p:cNvSpPr/>
          <p:nvPr/>
        </p:nvSpPr>
        <p:spPr>
          <a:xfrm>
            <a:off x="5003864" y="3541365"/>
            <a:ext cx="3555873" cy="1599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A34A"/>
              </a:buClr>
              <a:buSzPts val="900"/>
              <a:buFont typeface="Arial"/>
              <a:buNone/>
            </a:pPr>
            <a:r>
              <a:rPr b="1" i="0" lang="zh-TW" sz="1100" u="none" cap="none" strike="noStrike">
                <a:solidFill>
                  <a:srgbClr val="16A34A"/>
                </a:solidFill>
                <a:latin typeface="Arial"/>
                <a:ea typeface="Arial"/>
                <a:cs typeface="Arial"/>
                <a:sym typeface="Arial"/>
              </a:rPr>
              <a:t>🏆 CUDA V2 Winner</a:t>
            </a:r>
            <a:endParaRPr b="0" i="0" sz="1100" u="none" cap="none" strike="noStrike">
              <a:solidFill>
                <a:schemeClr val="dk1"/>
              </a:solidFill>
              <a:latin typeface="Calibri"/>
              <a:ea typeface="Calibri"/>
              <a:cs typeface="Calibri"/>
              <a:sym typeface="Calibri"/>
            </a:endParaRPr>
          </a:p>
        </p:txBody>
      </p:sp>
      <p:sp>
        <p:nvSpPr>
          <p:cNvPr id="427" name="Google Shape;427;p24"/>
          <p:cNvSpPr/>
          <p:nvPr/>
        </p:nvSpPr>
        <p:spPr>
          <a:xfrm>
            <a:off x="5003864" y="3739455"/>
            <a:ext cx="3555873" cy="146596"/>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A1A2E"/>
              </a:buClr>
              <a:buSzPts val="825"/>
              <a:buFont typeface="Arial"/>
              <a:buNone/>
            </a:pPr>
            <a:r>
              <a:rPr b="0" i="0" lang="zh-TW" sz="1025" u="none" cap="none" strike="noStrike">
                <a:solidFill>
                  <a:srgbClr val="1A1A2E"/>
                </a:solidFill>
                <a:latin typeface="Arial"/>
                <a:ea typeface="Arial"/>
                <a:cs typeface="Arial"/>
                <a:sym typeface="Arial"/>
              </a:rPr>
              <a:t>Best latency + Best scalability</a:t>
            </a:r>
            <a:endParaRPr b="0" i="0" sz="1025" u="none" cap="none" strike="noStrike">
              <a:solidFill>
                <a:schemeClr val="dk1"/>
              </a:solidFill>
              <a:latin typeface="Calibri"/>
              <a:ea typeface="Calibri"/>
              <a:cs typeface="Calibri"/>
              <a:sym typeface="Calibri"/>
            </a:endParaRPr>
          </a:p>
        </p:txBody>
      </p:sp>
      <p:sp>
        <p:nvSpPr>
          <p:cNvPr id="428" name="Google Shape;428;p24"/>
          <p:cNvSpPr/>
          <p:nvPr/>
        </p:nvSpPr>
        <p:spPr>
          <a:xfrm>
            <a:off x="5003864" y="3924151"/>
            <a:ext cx="3555873" cy="13335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4748B"/>
              </a:buClr>
              <a:buSzPts val="750"/>
              <a:buFont typeface="Arial"/>
              <a:buNone/>
            </a:pPr>
            <a:r>
              <a:rPr b="0" i="0" lang="zh-TW" sz="950" u="none" cap="none" strike="noStrike">
                <a:solidFill>
                  <a:srgbClr val="64748B"/>
                </a:solidFill>
                <a:latin typeface="Arial"/>
                <a:ea typeface="Arial"/>
                <a:cs typeface="Arial"/>
                <a:sym typeface="Arial"/>
              </a:rPr>
              <a:t>Consistent 4.7-6.4ms across all batches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25"/>
          <p:cNvSpPr/>
          <p:nvPr/>
        </p:nvSpPr>
        <p:spPr>
          <a:xfrm>
            <a:off x="0" y="0"/>
            <a:ext cx="76200" cy="5143500"/>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5" name="Google Shape;435;p25"/>
          <p:cNvSpPr/>
          <p:nvPr/>
        </p:nvSpPr>
        <p:spPr>
          <a:xfrm>
            <a:off x="476250" y="228600"/>
            <a:ext cx="43332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lang="zh-TW" sz="2400">
                <a:solidFill>
                  <a:srgbClr val="1A1A2E"/>
                </a:solidFill>
              </a:rPr>
              <a:t>Conclusion</a:t>
            </a:r>
            <a:endParaRPr b="0" i="0" sz="2400" u="none" cap="none" strike="noStrike">
              <a:solidFill>
                <a:schemeClr val="dk1"/>
              </a:solidFill>
              <a:latin typeface="Calibri"/>
              <a:ea typeface="Calibri"/>
              <a:cs typeface="Calibri"/>
              <a:sym typeface="Calibri"/>
            </a:endParaRPr>
          </a:p>
        </p:txBody>
      </p:sp>
      <p:sp>
        <p:nvSpPr>
          <p:cNvPr id="436" name="Google Shape;436;p25"/>
          <p:cNvSpPr txBox="1"/>
          <p:nvPr/>
        </p:nvSpPr>
        <p:spPr>
          <a:xfrm>
            <a:off x="325858" y="737650"/>
            <a:ext cx="7582500" cy="3346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zh-TW">
                <a:solidFill>
                  <a:schemeClr val="dk1"/>
                </a:solidFill>
              </a:rPr>
              <a:t>We reduce the rejection sampling time from </a:t>
            </a:r>
            <a:r>
              <a:rPr b="1" lang="zh-TW">
                <a:solidFill>
                  <a:schemeClr val="dk1"/>
                </a:solidFill>
              </a:rPr>
              <a:t>O(vocab size)</a:t>
            </a:r>
            <a:r>
              <a:rPr lang="zh-TW">
                <a:solidFill>
                  <a:schemeClr val="dk1"/>
                </a:solidFill>
              </a:rPr>
              <a:t> to </a:t>
            </a:r>
            <a:r>
              <a:rPr b="1" lang="zh-TW">
                <a:solidFill>
                  <a:schemeClr val="dk1"/>
                </a:solidFill>
              </a:rPr>
              <a:t>O(1)</a:t>
            </a:r>
            <a:r>
              <a:rPr lang="zh-TW">
                <a:solidFill>
                  <a:schemeClr val="dk1"/>
                </a:solidFill>
              </a:rPr>
              <a:t>.</a:t>
            </a:r>
            <a:endParaRPr/>
          </a:p>
          <a:p>
            <a:pPr indent="-317500" lvl="0" marL="457200" rtl="0" algn="l">
              <a:spcBef>
                <a:spcPts val="0"/>
              </a:spcBef>
              <a:spcAft>
                <a:spcPts val="0"/>
              </a:spcAft>
              <a:buSzPts val="1400"/>
              <a:buChar char="●"/>
            </a:pPr>
            <a:r>
              <a:rPr lang="zh-TW">
                <a:solidFill>
                  <a:schemeClr val="dk1"/>
                </a:solidFill>
              </a:rPr>
              <a:t>Our implementation </a:t>
            </a:r>
            <a:r>
              <a:rPr b="1" lang="zh-TW">
                <a:solidFill>
                  <a:schemeClr val="dk1"/>
                </a:solidFill>
              </a:rPr>
              <a:t>achieves a 10× speedup </a:t>
            </a:r>
            <a:r>
              <a:rPr lang="zh-TW">
                <a:solidFill>
                  <a:schemeClr val="dk1"/>
                </a:solidFill>
              </a:rPr>
              <a:t>in reject sampling part.</a:t>
            </a:r>
            <a:endParaRPr sz="1700"/>
          </a:p>
          <a:p>
            <a:pPr indent="-317500" lvl="0" marL="457200" rtl="0" algn="l">
              <a:spcBef>
                <a:spcPts val="0"/>
              </a:spcBef>
              <a:spcAft>
                <a:spcPts val="0"/>
              </a:spcAft>
              <a:buSzPts val="1400"/>
              <a:buChar char="●"/>
            </a:pPr>
            <a:r>
              <a:rPr lang="zh-TW">
                <a:solidFill>
                  <a:schemeClr val="dk1"/>
                </a:solidFill>
              </a:rPr>
              <a:t>The total inference time is </a:t>
            </a:r>
            <a:r>
              <a:rPr b="1" lang="zh-TW">
                <a:solidFill>
                  <a:schemeClr val="dk1"/>
                </a:solidFill>
              </a:rPr>
              <a:t>reduced by 3–5%</a:t>
            </a:r>
            <a:r>
              <a:rPr lang="zh-TW">
                <a:solidFill>
                  <a:schemeClr val="dk1"/>
                </a:solidFill>
              </a:rPr>
              <a:t>.</a:t>
            </a:r>
            <a:endParaRPr/>
          </a:p>
        </p:txBody>
      </p:sp>
      <p:sp>
        <p:nvSpPr>
          <p:cNvPr id="437" name="Google Shape;437;p25"/>
          <p:cNvSpPr/>
          <p:nvPr/>
        </p:nvSpPr>
        <p:spPr>
          <a:xfrm>
            <a:off x="488791" y="2419350"/>
            <a:ext cx="43332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1A2E"/>
              </a:buClr>
              <a:buSzPts val="2400"/>
              <a:buFont typeface="Arial"/>
              <a:buNone/>
            </a:pPr>
            <a:r>
              <a:rPr b="1" lang="zh-TW" sz="2400">
                <a:solidFill>
                  <a:srgbClr val="1A1A2E"/>
                </a:solidFill>
              </a:rPr>
              <a:t>Future Work</a:t>
            </a:r>
            <a:endParaRPr b="0" i="0" sz="2400" u="none" cap="none" strike="noStrike">
              <a:solidFill>
                <a:schemeClr val="dk1"/>
              </a:solidFill>
              <a:latin typeface="Calibri"/>
              <a:ea typeface="Calibri"/>
              <a:cs typeface="Calibri"/>
              <a:sym typeface="Calibri"/>
            </a:endParaRPr>
          </a:p>
        </p:txBody>
      </p:sp>
      <p:sp>
        <p:nvSpPr>
          <p:cNvPr id="438" name="Google Shape;438;p25"/>
          <p:cNvSpPr txBox="1"/>
          <p:nvPr/>
        </p:nvSpPr>
        <p:spPr>
          <a:xfrm>
            <a:off x="325842" y="2930900"/>
            <a:ext cx="6830400" cy="1416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zh-TW">
                <a:solidFill>
                  <a:schemeClr val="dk1"/>
                </a:solidFill>
              </a:rPr>
              <a:t>Survey other </a:t>
            </a:r>
            <a:r>
              <a:rPr b="1" lang="zh-TW">
                <a:solidFill>
                  <a:schemeClr val="dk1"/>
                </a:solidFill>
              </a:rPr>
              <a:t>speculative decoding algorithms</a:t>
            </a:r>
            <a:r>
              <a:rPr lang="zh-TW">
                <a:solidFill>
                  <a:schemeClr val="dk1"/>
                </a:solidFill>
              </a:rPr>
              <a:t>.</a:t>
            </a:r>
            <a:endParaRPr/>
          </a:p>
          <a:p>
            <a:pPr indent="-317500" lvl="0" marL="457200" rtl="0" algn="l">
              <a:spcBef>
                <a:spcPts val="0"/>
              </a:spcBef>
              <a:spcAft>
                <a:spcPts val="0"/>
              </a:spcAft>
              <a:buSzPts val="1400"/>
              <a:buChar char="●"/>
            </a:pPr>
            <a:r>
              <a:rPr lang="zh-TW">
                <a:solidFill>
                  <a:schemeClr val="dk1"/>
                </a:solidFill>
              </a:rPr>
              <a:t>Optimize </a:t>
            </a:r>
            <a:r>
              <a:rPr b="1" lang="zh-TW">
                <a:solidFill>
                  <a:schemeClr val="dk1"/>
                </a:solidFill>
              </a:rPr>
              <a:t>memory access patterns</a:t>
            </a:r>
            <a:r>
              <a:rPr lang="zh-TW">
                <a:solidFill>
                  <a:schemeClr val="dk1"/>
                </a:solidFill>
              </a:rPr>
              <a:t>.</a:t>
            </a:r>
            <a:endParaRPr/>
          </a:p>
          <a:p>
            <a:pPr indent="-317500" lvl="0" marL="457200" rtl="0" algn="l">
              <a:spcBef>
                <a:spcPts val="0"/>
              </a:spcBef>
              <a:spcAft>
                <a:spcPts val="0"/>
              </a:spcAft>
              <a:buSzPts val="1400"/>
              <a:buChar char="●"/>
            </a:pPr>
            <a:r>
              <a:rPr lang="zh-TW">
                <a:solidFill>
                  <a:schemeClr val="dk1"/>
                </a:solidFill>
              </a:rPr>
              <a:t>Investigate the </a:t>
            </a:r>
            <a:r>
              <a:rPr b="1" lang="zh-TW">
                <a:solidFill>
                  <a:schemeClr val="dk1"/>
                </a:solidFill>
              </a:rPr>
              <a:t>vLLM implementation</a:t>
            </a:r>
            <a:r>
              <a:rPr lang="zh-TW">
                <a:solidFill>
                  <a:schemeClr val="dk1"/>
                </a:solidFill>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